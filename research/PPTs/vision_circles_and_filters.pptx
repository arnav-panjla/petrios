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6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10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VISION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Two jobs on one plate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62356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3202" y="1261872"/>
            <a:ext cx="3940115" cy="397763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11480" y="5285232"/>
            <a:ext cx="562356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Calibri"/>
              </a:rPr>
              <a:t>INNER DISK  +  OUTER ZONE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11480" y="5559552"/>
            <a:ext cx="562356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6E7A"/>
                </a:solidFill>
                <a:latin typeface="Calibri"/>
              </a:rPr>
              <a:t>Red = disk. Purple = inhibition zone. Blue = dish rim.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17920" y="1143000"/>
            <a:ext cx="5577840" cy="470916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binary_dis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2164950"/>
            <a:ext cx="5303520" cy="2070898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17920" y="5285232"/>
            <a:ext cx="5577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Calibri"/>
              </a:rPr>
              <a:t>THE ANTIBIOTIC DISKS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5559552"/>
            <a:ext cx="5577840" cy="219456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0">
                <a:solidFill>
                  <a:srgbClr val="646E7A"/>
                </a:solidFill>
                <a:latin typeface="Calibri"/>
              </a:rPr>
              <a:t>Each stamp is a second read. Circles do not give the code.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1  ·  CIRCLES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Before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7452360" cy="50749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0004" y="1280160"/>
            <a:ext cx="4755311" cy="48006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8046720" y="1143000"/>
            <a:ext cx="3749039" cy="507492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75320" y="1371600"/>
            <a:ext cx="32918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Calibri"/>
              </a:rPr>
              <a:t>INPUT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75320" y="1783080"/>
            <a:ext cx="3291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Raw plate. No circle is drawn yet.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75320" y="2651760"/>
            <a:ext cx="3291840" cy="6400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CE7FF"/>
                </a:solidFill>
                <a:latin typeface="Consolas"/>
              </a:rPr>
              <a:t>cv2.cvtColor</a:t>
            </a:r>
          </a:p>
          <a:p>
            <a:pPr algn="l"/>
            <a:r>
              <a:rPr sz="1400" b="0">
                <a:solidFill>
                  <a:srgbClr val="DCE7FF"/>
                </a:solidFill>
                <a:latin typeface="Consolas"/>
              </a:rPr>
              <a:t>BGR to gray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75320" y="3383280"/>
            <a:ext cx="3291840" cy="6858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DCE7FF"/>
                </a:solidFill>
                <a:latin typeface="Consolas"/>
              </a:rPr>
              <a:t>cv2.GaussianBlur</a:t>
            </a:r>
          </a:p>
          <a:p>
            <a:pPr algn="l"/>
            <a:r>
              <a:rPr sz="1400" b="0">
                <a:solidFill>
                  <a:srgbClr val="DCE7FF"/>
                </a:solidFill>
                <a:latin typeface="Consolas"/>
              </a:rPr>
              <a:t>gray, (9, 9),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75320" y="4297680"/>
            <a:ext cx="329184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  <a:latin typeface="Calibri"/>
              </a:rPr>
              <a:t>Blur is only here so speckle does not become a circle.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1  ·  CIRCLES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After detection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097280"/>
            <a:ext cx="6675120" cy="51206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1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3597" y="1325880"/>
            <a:ext cx="4619445" cy="466344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7223760" y="1097280"/>
            <a:ext cx="45720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06640" y="1207007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80E66"/>
                </a:solidFill>
                <a:latin typeface="Calibri"/>
              </a:rPr>
              <a:t>01   DISH RIM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06640" y="1536192"/>
            <a:ext cx="4206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cv2.HoughCircles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HOUGH_GRADIENT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Largest circle. Blue.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0" y="2834639"/>
            <a:ext cx="45720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406640" y="2944368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80E66"/>
                </a:solidFill>
                <a:latin typeface="Calibri"/>
              </a:rPr>
              <a:t>02   INNER DISK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06640" y="3273551"/>
            <a:ext cx="4206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HoughCircles again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radius 1.6–4.5 mm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Brightness gate. Red.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0" y="4572000"/>
            <a:ext cx="4572000" cy="1600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406640" y="4681728"/>
            <a:ext cx="420624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400" b="1">
                <a:solidFill>
                  <a:srgbClr val="180E66"/>
                </a:solidFill>
                <a:latin typeface="Calibri"/>
              </a:rPr>
              <a:t>03   OUTER ZONE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5010912"/>
            <a:ext cx="420624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Radial profile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Not Hough</a:t>
            </a:r>
          </a:p>
          <a:p>
            <a:pPr algn="l"/>
            <a:r>
              <a:rPr sz="1300" b="0">
                <a:solidFill>
                  <a:srgbClr val="646E7A"/>
                </a:solidFill>
                <a:latin typeface="Consolas"/>
              </a:rPr>
              <a:t>Gray step around the disk. Purple.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Low-pass  ·  Gaussian blur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Consolas"/>
              </a:rPr>
              <a:t>cv2.GaussianBlur(gray, (15, 15), 4)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499616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1_gaussia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499616"/>
            <a:ext cx="36118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AFTER  ·  GAUSSIAN BLUR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1338560" cy="822960"/>
          </a:xfrm>
          <a:prstGeom prst="roundRect">
            <a:avLst/>
          </a:prstGeom>
          <a:solidFill>
            <a:srgbClr val="E7F6F4"/>
          </a:solidFill>
          <a:ln w="15875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2"/>
            <a:ext cx="10972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19202A"/>
                </a:solidFill>
                <a:latin typeface="Calibri"/>
              </a:rPr>
              <a:t>Low-pass. Agar grain and sensor noise become false edges if they reach Canny or Hough. The plate detector uses the same call at (9, 9), σ = 2.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Edges  ·  Canny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Consolas"/>
              </a:rPr>
              <a:t>cv2.Canny(gray, 20, 60)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499616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2_cann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499616"/>
            <a:ext cx="36118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AFTER  ·  CANNY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1338560" cy="822960"/>
          </a:xfrm>
          <a:prstGeom prst="roundRect">
            <a:avLst/>
          </a:prstGeom>
          <a:solidFill>
            <a:srgbClr val="E7F6F4"/>
          </a:solidFill>
          <a:ln w="15875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2"/>
            <a:ext cx="10972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19202A"/>
                </a:solidFill>
                <a:latin typeface="Calibri"/>
              </a:rPr>
              <a:t>Canny edge detector: Sobel gradient, non-maximum suppression, hysteresis. It returns an edge map, not a character. Thresholds 60 / 160 drop these soft strokes.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Local contrast  ·  CLAHE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Consolas"/>
              </a:rPr>
              <a:t>cv2.createCLAHE(clipLimit=2.0, tileGridSize=(8, 8)).apply(gray)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499616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3_clah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499616"/>
            <a:ext cx="36118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AFTER  ·  CLAHE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1338560" cy="822960"/>
          </a:xfrm>
          <a:prstGeom prst="roundRect">
            <a:avLst/>
          </a:prstGeom>
          <a:solidFill>
            <a:srgbClr val="E7F6F4"/>
          </a:solidFill>
          <a:ln w="15875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2"/>
            <a:ext cx="10972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19202A"/>
                </a:solidFill>
                <a:latin typeface="Calibri"/>
              </a:rPr>
              <a:t>Contrast-limited adaptive histogram equalization. Lifts stamp-versus-paper contrast inside small tiles without blowing the whole crop.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Morphology  ·  opening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Consolas"/>
              </a:rPr>
              <a:t>ker = cv2.getStructuringElement(cv2.MORPH_ELLIPSE, (7, 7));  cv2.morphologyEx(ink, cv2.MORPH_OPEN, ker, iterations=1)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5_otsu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499616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BEFORE  ·  OTSU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5_morph_ope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499616"/>
            <a:ext cx="36118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AFTER  ·  MORPH OPEN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1338560" cy="822960"/>
          </a:xfrm>
          <a:prstGeom prst="roundRect">
            <a:avLst/>
          </a:prstGeom>
          <a:solidFill>
            <a:srgbClr val="E7F6F4"/>
          </a:solidFill>
          <a:ln w="15875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2"/>
            <a:ext cx="10972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19202A"/>
                </a:solidFill>
                <a:latin typeface="Calibri"/>
              </a:rPr>
              <a:t>Opening is erosion, then dilation. Thin arcs break. Thick strokes stay. The binary input is Otsu: cv2.threshold(..., THRESH_OTSU). Still not a string.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Brightness and contrast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08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1024128"/>
            <a:ext cx="1133856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300" b="1">
                <a:solidFill>
                  <a:srgbClr val="2BA7A0"/>
                </a:solidFill>
                <a:latin typeface="Consolas"/>
              </a:rPr>
              <a:t>cv2.convertScaleAbs(gray, alpha=1.7, beta=12)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1148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00_bef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48740" y="1499616"/>
            <a:ext cx="3611880" cy="361188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41148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BEFORE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640" y="1389888"/>
            <a:ext cx="5486400" cy="41605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1" name="Picture 10" descr="04_contras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00900" y="1499616"/>
            <a:ext cx="3611880" cy="361188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6263640" y="5074920"/>
            <a:ext cx="54864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100" b="1">
                <a:solidFill>
                  <a:srgbClr val="646E7A"/>
                </a:solidFill>
                <a:latin typeface="Calibri"/>
              </a:rPr>
              <a:t>AFTER  ·  convertScaleAbs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1480" y="5623560"/>
            <a:ext cx="11338560" cy="822960"/>
          </a:xfrm>
          <a:prstGeom prst="roundRect">
            <a:avLst/>
          </a:prstGeom>
          <a:solidFill>
            <a:srgbClr val="E7F6F4"/>
          </a:solidFill>
          <a:ln w="15875">
            <a:solidFill>
              <a:srgbClr val="2BA7A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94360" y="5742432"/>
            <a:ext cx="10972800" cy="585216"/>
          </a:xfrm>
          <a:prstGeom prst="rect">
            <a:avLst/>
          </a:prstGeom>
          <a:noFill/>
        </p:spPr>
        <p:txBody>
          <a:bodyPr wrap="square" lIns="36576" rIns="36576" tIns="36576" bIns="36576" anchor="ctr">
            <a:spAutoFit/>
          </a:bodyPr>
          <a:lstStyle/>
          <a:p>
            <a:pPr algn="l"/>
            <a:r>
              <a:rPr sz="1400" b="0">
                <a:solidFill>
                  <a:srgbClr val="19202A"/>
                </a:solidFill>
                <a:latin typeface="Calibri"/>
              </a:rPr>
              <a:t>out = saturate(alpha × pixel + beta). Alpha is contrast. Beta is brightness. Ink separates from the paper. The output is still an image.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Filters were not the reader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09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321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TRADITIONAL PATH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83080"/>
            <a:ext cx="502920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Another image.</a:t>
            </a:r>
          </a:p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Never the code.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154680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Calibri"/>
              </a:rPr>
              <a:t>Gaussian blur  —  smoother pixels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93592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Calibri"/>
              </a:rPr>
              <a:t>Canny  —  an edge map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4032504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Calibri"/>
              </a:rPr>
              <a:t>CLAHE  —  local contrast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471416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Calibri"/>
              </a:rPr>
              <a:t>Morphology  —  thinner strokes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4910328"/>
            <a:ext cx="5029200" cy="38404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0">
                <a:solidFill>
                  <a:srgbClr val="19202A"/>
                </a:solidFill>
                <a:latin typeface="Calibri"/>
              </a:rPr>
              <a:t>convertScaleAbs  —  brighter paper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26480" y="1143000"/>
            <a:ext cx="5623560" cy="502920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355080" y="1371600"/>
            <a:ext cx="5212080" cy="2743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Calibri"/>
              </a:rPr>
              <a:t>GEMMA 3 4B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55080" y="1783080"/>
            <a:ext cx="5212080" cy="118872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Reads the disk</a:t>
            </a:r>
          </a:p>
          <a:p>
            <a:pPr algn="l"/>
            <a:r>
              <a:rPr sz="2600" b="1">
                <a:solidFill>
                  <a:srgbClr val="FFFFFF"/>
                </a:solidFill>
                <a:latin typeface="Calibri"/>
              </a:rPr>
              <a:t>in one call.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200400"/>
            <a:ext cx="521208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CE7FF"/>
                </a:solidFill>
                <a:latin typeface="Calibri"/>
              </a:rPr>
              <a:t>Local model, gemma3:4b.</a:t>
            </a:r>
          </a:p>
          <a:p>
            <a:pPr algn="l"/>
            <a:r>
              <a:rPr sz="1600" b="0">
                <a:solidFill>
                  <a:srgbClr val="DCE7FF"/>
                </a:solidFill>
                <a:latin typeface="Calibri"/>
              </a:rPr>
              <a:t>No hand-built filter chain on the stamp.</a:t>
            </a:r>
          </a:p>
          <a:p>
            <a:pPr algn="l"/>
            <a:r>
              <a:rPr sz="1600" b="0">
                <a:solidFill>
                  <a:srgbClr val="DCE7FF"/>
                </a:solidFill>
                <a:latin typeface="Calibri"/>
              </a:rPr>
              <a:t>The model does the filtering and the read.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846320"/>
            <a:ext cx="5212080" cy="9144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Hough still finds the circles first.</a:t>
            </a:r>
          </a:p>
          <a:p>
            <a:pPr algn="l"/>
            <a:r>
              <a:rPr sz="1500" b="1">
                <a:solidFill>
                  <a:srgbClr val="FFFFFF"/>
                </a:solidFill>
                <a:latin typeface="Calibri"/>
              </a:rPr>
              <a:t>Gemma does not replace that step.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DECISION LEFT OPEN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Two readers, one circle step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11480" y="1143000"/>
            <a:ext cx="5532120" cy="502920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371600"/>
            <a:ext cx="502920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LOWER COMPUTE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502920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180E66"/>
                </a:solidFill>
                <a:latin typeface="Calibri"/>
              </a:rPr>
              <a:t>Traditional filters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2377440"/>
            <a:ext cx="5029200" cy="10058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19202A"/>
                </a:solidFill>
                <a:latin typeface="Calibri"/>
              </a:rPr>
              <a:t>Gaussian, CLAHE, Canny, morphology, brightness / contrast, then an OCR engine.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66160"/>
            <a:ext cx="502920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646E7A"/>
                </a:solidFill>
                <a:latin typeface="Calibri"/>
              </a:rPr>
              <a:t>Fits the Raspberry Pi.</a:t>
            </a:r>
          </a:p>
          <a:p>
            <a:pPr algn="l"/>
            <a:r>
              <a:rPr sz="1600" b="0">
                <a:solidFill>
                  <a:srgbClr val="646E7A"/>
                </a:solidFill>
                <a:latin typeface="Calibri"/>
              </a:rPr>
              <a:t>No large model.</a:t>
            </a:r>
          </a:p>
          <a:p>
            <a:pPr algn="l"/>
            <a:r>
              <a:rPr sz="1600" b="0">
                <a:solidFill>
                  <a:srgbClr val="646E7A"/>
                </a:solidFill>
                <a:latin typeface="Calibri"/>
              </a:rPr>
              <a:t>Did not read these rotated stamps.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143000"/>
            <a:ext cx="5623560" cy="5029200"/>
          </a:xfrm>
          <a:prstGeom prst="roundRect">
            <a:avLst/>
          </a:prstGeom>
          <a:solidFill>
            <a:srgbClr val="180E66"/>
          </a:solidFill>
          <a:ln w="15875">
            <a:solidFill>
              <a:srgbClr val="180E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55080" y="1371600"/>
            <a:ext cx="5212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9FFFC0"/>
                </a:solidFill>
                <a:latin typeface="Calibri"/>
              </a:rPr>
              <a:t>HIGHER COMPUTE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1737360"/>
            <a:ext cx="5212080" cy="45720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Calibri"/>
              </a:rPr>
              <a:t>Gemma 3 4B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377440"/>
            <a:ext cx="5212080" cy="109728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0">
                <a:solidFill>
                  <a:srgbClr val="DCE7FF"/>
                </a:solidFill>
                <a:latin typeface="Calibri"/>
              </a:rPr>
              <a:t>One local vision-language call on the disk crop. Filtering and reading happen inside the model.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55080" y="3703320"/>
            <a:ext cx="5212080" cy="1463040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Heavier than the Pi filter path.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12 / 12 on the upright test1.png crops.</a:t>
            </a:r>
          </a:p>
          <a:p>
            <a:pPr algn="l"/>
            <a:r>
              <a:rPr sz="1600" b="1">
                <a:solidFill>
                  <a:srgbClr val="FFFFFF"/>
                </a:solidFill>
                <a:latin typeface="Calibri"/>
              </a:rPr>
              <a:t>Kept, not locked in.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1  ·  CIRCLES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Same detector, other plates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11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65760" y="1143000"/>
            <a:ext cx="370332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s2_detec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" y="1617211"/>
            <a:ext cx="3474720" cy="3449841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65760" y="5486400"/>
            <a:ext cx="3703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Calibri"/>
              </a:rPr>
              <a:t>s2  ·  AMP, E, NA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51960" y="1143000"/>
            <a:ext cx="370332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3_detect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1688" y="1633727"/>
            <a:ext cx="3474720" cy="341680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251960" y="5486400"/>
            <a:ext cx="3703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Calibri"/>
              </a:rPr>
              <a:t>s3  ·  CIP, AMX, AK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138160" y="1143000"/>
            <a:ext cx="3703320" cy="489204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s5_detect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7888" y="1789326"/>
            <a:ext cx="3474720" cy="310561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138160" y="5486400"/>
            <a:ext cx="3703320" cy="29260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300" b="1">
                <a:solidFill>
                  <a:srgbClr val="180E66"/>
                </a:solidFill>
                <a:latin typeface="Calibri"/>
              </a:rPr>
              <a:t>s5  ·  denser 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0F7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201168"/>
            <a:ext cx="8229600" cy="237744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200" b="1">
                <a:solidFill>
                  <a:srgbClr val="2BA7A0"/>
                </a:solidFill>
                <a:latin typeface="Calibri"/>
              </a:rPr>
              <a:t>STEP 2  ·  STAMP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420624"/>
            <a:ext cx="10241280" cy="43891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2600" b="1">
                <a:solidFill>
                  <a:srgbClr val="180E66"/>
                </a:solidFill>
                <a:latin typeface="Calibri"/>
              </a:rPr>
              <a:t>Images in front of the reader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32688"/>
            <a:ext cx="11338560" cy="10972"/>
          </a:xfrm>
          <a:prstGeom prst="rect">
            <a:avLst/>
          </a:prstGeom>
          <a:solidFill>
            <a:srgbClr val="D5DB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219456"/>
            <a:ext cx="64008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r"/>
            <a:r>
              <a:rPr sz="1200" b="1">
                <a:solidFill>
                  <a:srgbClr val="646E7A"/>
                </a:solidFill>
                <a:latin typeface="Calibri"/>
              </a:rPr>
              <a:t>12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" y="1051560"/>
            <a:ext cx="3931920" cy="52120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7" name="Picture 6" descr="01_hough_annotat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530862"/>
            <a:ext cx="3657600" cy="3713979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320040" y="5687568"/>
            <a:ext cx="393192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Calibri"/>
              </a:rPr>
              <a:t>test1  ·  Hough disks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051560"/>
            <a:ext cx="7406640" cy="233172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05_letters_abo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0763" y="1115568"/>
            <a:ext cx="2023353" cy="178308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389120" y="2944368"/>
            <a:ext cx="7406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Calibri"/>
              </a:rPr>
              <a:t>Upright stamps  ·  letters above, digits below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3520440"/>
            <a:ext cx="7406640" cy="2468880"/>
          </a:xfrm>
          <a:prstGeom prst="roundRect">
            <a:avLst/>
          </a:prstGeom>
          <a:solidFill>
            <a:srgbClr val="FFFFFF"/>
          </a:solidFill>
          <a:ln w="15875">
            <a:solidFill>
              <a:srgbClr val="D5D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rim_strip_compa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7691" y="3584448"/>
            <a:ext cx="1089497" cy="19202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389120" y="5559552"/>
            <a:ext cx="7406640" cy="256032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ctr"/>
            <a:r>
              <a:rPr sz="1200" b="1">
                <a:solidFill>
                  <a:srgbClr val="180E66"/>
                </a:solidFill>
                <a:latin typeface="Calibri"/>
              </a:rPr>
              <a:t>Rim ink stripped  ·  before / after, all 12 disks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11480" y="6565392"/>
            <a:ext cx="7315200" cy="201168"/>
          </a:xfrm>
          <a:prstGeom prst="rect">
            <a:avLst/>
          </a:prstGeom>
          <a:noFill/>
        </p:spPr>
        <p:txBody>
          <a:bodyPr wrap="square" lIns="36576" rIns="36576" tIns="36576" bIns="36576" anchor="t">
            <a:spAutoFit/>
          </a:bodyPr>
          <a:lstStyle/>
          <a:p>
            <a:pPr algn="l"/>
            <a:r>
              <a:rPr sz="1000" b="0">
                <a:solidFill>
                  <a:srgbClr val="646E7A"/>
                </a:solidFill>
                <a:latin typeface="Calibri"/>
              </a:rPr>
              <a:t>IIT Delhi  ·  ELD411  ·  Mid-Term Review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
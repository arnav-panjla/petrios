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9.svg" ContentType="image/svg+xml"/>
  <Override PartName="/ppt/media/image4.svg" ContentType="image/svg+xml"/>
  <Override PartName="/ppt/media/image41.svg" ContentType="image/svg+xml"/>
  <Override PartName="/ppt/media/image44.svg" ContentType="image/svg+xml"/>
  <Override PartName="/ppt/media/image6.svg" ContentType="image/svg+xml"/>
  <Override PartName="/ppt/media/image6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5"/>
  </p:notesMasterIdLst>
  <p:sldIdLst>
    <p:sldId id="256" r:id="rId6"/>
    <p:sldId id="282" r:id="rId4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18288000" cy="10287000"/>
  <p:notesSz cx="6858000" cy="9144000"/>
  <p:embeddedFontLst>
    <p:embeddedFont>
      <p:font typeface="Poppins Bold" charset="1" panose="00000800000000000000"/>
      <p:regular r:id="rId32"/>
    </p:embeddedFont>
    <p:embeddedFont>
      <p:font typeface="Inter 1" charset="1" panose="02000503000000020004"/>
      <p:regular r:id="rId33"/>
    </p:embeddedFont>
    <p:embeddedFont>
      <p:font typeface="Poppins" charset="1" panose="00000500000000000000"/>
      <p:regular r:id="rId34"/>
    </p:embeddedFont>
    <p:embeddedFont>
      <p:font typeface="Calibri (MS) Bold" charset="1" panose="020F0702030404030204"/>
      <p:regular r:id="rId38"/>
    </p:embeddedFont>
    <p:embeddedFont>
      <p:font typeface="Calibri (MS)" charset="1" panose="020F0502020204030204"/>
      <p:regular r:id="rId39"/>
    </p:embeddedFont>
    <p:embeddedFont>
      <p:font typeface="Consolas" charset="1" panose="020B0609020204030204"/>
      <p:regular r:id="rId41"/>
    </p:embeddedFont>
    <p:embeddedFont>
      <p:font typeface="Consolas Bold" charset="1" panose="020B0709020204030204"/>
      <p:regular r:id="rId42"/>
    </p:embeddedFont>
    <p:embeddedFont>
      <p:font typeface="Aptos Bold" charset="1" panose="020B0004020202020204"/>
      <p:regular r:id="rId44"/>
    </p:embeddedFont>
    <p:embeddedFont>
      <p:font typeface="Aptos" charset="1" panose="020B0004020202020204"/>
      <p:regular r:id="rId4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font" Target="fonts/font32.fntdata"/><Relationship Id="rId33" Type="http://schemas.openxmlformats.org/officeDocument/2006/relationships/font" Target="fonts/font33.fntdata"/><Relationship Id="rId34" Type="http://schemas.openxmlformats.org/officeDocument/2006/relationships/font" Target="fonts/font34.fntdata"/><Relationship Id="rId35" Type="http://schemas.openxmlformats.org/officeDocument/2006/relationships/notesMaster" Target="notesMasters/notesMaster1.xml"/><Relationship Id="rId36" Type="http://schemas.openxmlformats.org/officeDocument/2006/relationships/theme" Target="theme/theme2.xml"/><Relationship Id="rId37" Type="http://schemas.openxmlformats.org/officeDocument/2006/relationships/notesSlide" Target="notesSlides/notesSlide1.xml"/><Relationship Id="rId38" Type="http://schemas.openxmlformats.org/officeDocument/2006/relationships/font" Target="fonts/font38.fntdata"/><Relationship Id="rId39" Type="http://schemas.openxmlformats.org/officeDocument/2006/relationships/font" Target="fonts/font39.fntdata"/><Relationship Id="rId40" Type="http://schemas.openxmlformats.org/officeDocument/2006/relationships/notesSlide" Target="notesSlides/notesSlide2.xml"/><Relationship Id="rId41" Type="http://schemas.openxmlformats.org/officeDocument/2006/relationships/font" Target="fonts/font41.fntdata"/><Relationship Id="rId42" Type="http://schemas.openxmlformats.org/officeDocument/2006/relationships/font" Target="fonts/font42.fntdata"/><Relationship Id="rId43" Type="http://schemas.openxmlformats.org/officeDocument/2006/relationships/notesSlide" Target="notesSlides/notesSlide3.xml"/><Relationship Id="rId44" Type="http://schemas.openxmlformats.org/officeDocument/2006/relationships/font" Target="fonts/font44.fntdata"/><Relationship Id="rId45" Type="http://schemas.openxmlformats.org/officeDocument/2006/relationships/font" Target="fonts/font45.fntdata"/><Relationship Id="rId46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cicle detection 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low pass =  gaussian blur</a:t>
            </a:r>
          </a:p>
          <a:p>
            <a:r>
              <a:rPr lang="en-US"/>
              <a:t/>
            </a:r>
          </a:p>
          <a:p>
            <a:r>
              <a:rPr lang="en-US"/>
              <a:t>edge shrapening = canny filter</a:t>
            </a:r>
          </a:p>
          <a:p>
            <a:r>
              <a:rPr lang="en-US"/>
              <a:t/>
            </a:r>
          </a:p>
          <a:p>
            <a:r>
              <a:rPr lang="en-US"/>
              <a:t>clahe = </a:t>
            </a:r>
          </a:p>
          <a:p>
            <a:r>
              <a:rPr lang="en-US"/>
              <a:t/>
            </a:r>
          </a:p>
          <a:p>
            <a:r>
              <a:rPr lang="en-US"/>
              <a:t>morphology</a:t>
            </a:r>
          </a:p>
          <a:p>
            <a:r>
              <a:rPr lang="en-US"/>
              <a:t/>
            </a:r>
          </a:p>
          <a:p>
            <a:r>
              <a:rPr lang="en-US"/>
              <a:t>brightness contrast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+ market analyis</a:t>
            </a:r>
          </a:p>
          <a:p>
            <a:r>
              <a:rPr lang="en-US"/>
              <a:t>+ Hardware testing</a:t>
            </a:r>
          </a:p>
          <a:p>
            <a:r>
              <a:rPr lang="en-US"/>
              <a:t>+ failed iterations</a:t>
            </a:r>
          </a:p>
          <a:p>
            <a:r>
              <a:rPr lang="en-US"/>
              <a:t>+ </a:t>
            </a:r>
          </a:p>
          <a:p>
            <a:r>
              <a:rPr lang="en-US"/>
              <a:t>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7.png"/><Relationship Id="rId9" Type="http://schemas.openxmlformats.org/officeDocument/2006/relationships/image" Target="../media/image8.svg"/><Relationship Id="rId10" Type="http://schemas.openxmlformats.org/officeDocument/2006/relationships/image" Target="../media/image9.png"/><Relationship Id="rId11" Type="http://schemas.openxmlformats.org/officeDocument/2006/relationships/image" Target="../media/image10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svg"/><Relationship Id="rId4" Type="http://schemas.openxmlformats.org/officeDocument/2006/relationships/image" Target="../media/image13.png"/><Relationship Id="rId5" Type="http://schemas.openxmlformats.org/officeDocument/2006/relationships/image" Target="../media/image14.svg"/><Relationship Id="rId6" Type="http://schemas.openxmlformats.org/officeDocument/2006/relationships/image" Target="../media/image15.png"/><Relationship Id="rId7" Type="http://schemas.openxmlformats.org/officeDocument/2006/relationships/image" Target="../media/image16.svg"/><Relationship Id="rId8" Type="http://schemas.openxmlformats.org/officeDocument/2006/relationships/image" Target="../media/image17.png"/><Relationship Id="rId9" Type="http://schemas.openxmlformats.org/officeDocument/2006/relationships/image" Target="../media/image18.svg"/><Relationship Id="rId10" Type="http://schemas.openxmlformats.org/officeDocument/2006/relationships/image" Target="../media/image19.png"/><Relationship Id="rId11" Type="http://schemas.openxmlformats.org/officeDocument/2006/relationships/image" Target="../media/image20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svg"/><Relationship Id="rId4" Type="http://schemas.openxmlformats.org/officeDocument/2006/relationships/image" Target="../media/image11.png"/><Relationship Id="rId5" Type="http://schemas.openxmlformats.org/officeDocument/2006/relationships/image" Target="../media/image12.svg"/><Relationship Id="rId6" Type="http://schemas.openxmlformats.org/officeDocument/2006/relationships/image" Target="../media/image23.png"/><Relationship Id="rId7" Type="http://schemas.openxmlformats.org/officeDocument/2006/relationships/image" Target="../media/image24.svg"/><Relationship Id="rId8" Type="http://schemas.openxmlformats.org/officeDocument/2006/relationships/image" Target="../media/image25.png"/><Relationship Id="rId9" Type="http://schemas.openxmlformats.org/officeDocument/2006/relationships/image" Target="../media/image26.svg"/><Relationship Id="rId10" Type="http://schemas.openxmlformats.org/officeDocument/2006/relationships/image" Target="../media/image27.jpeg"/><Relationship Id="rId11" Type="http://schemas.openxmlformats.org/officeDocument/2006/relationships/image" Target="../media/image28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svg"/><Relationship Id="rId4" Type="http://schemas.openxmlformats.org/officeDocument/2006/relationships/image" Target="../media/image31.png"/><Relationship Id="rId5" Type="http://schemas.openxmlformats.org/officeDocument/2006/relationships/image" Target="../media/image32.svg"/><Relationship Id="rId6" Type="http://schemas.openxmlformats.org/officeDocument/2006/relationships/image" Target="../media/image33.png"/><Relationship Id="rId7" Type="http://schemas.openxmlformats.org/officeDocument/2006/relationships/image" Target="../media/image34.svg"/><Relationship Id="rId8" Type="http://schemas.openxmlformats.org/officeDocument/2006/relationships/image" Target="../media/image35.png"/><Relationship Id="rId9" Type="http://schemas.openxmlformats.org/officeDocument/2006/relationships/image" Target="../media/image36.svg"/><Relationship Id="rId10" Type="http://schemas.openxmlformats.org/officeDocument/2006/relationships/image" Target="../media/image3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9.svg"/><Relationship Id="rId4" Type="http://schemas.openxmlformats.org/officeDocument/2006/relationships/image" Target="../media/image40.png"/><Relationship Id="rId5" Type="http://schemas.openxmlformats.org/officeDocument/2006/relationships/image" Target="../media/image41.svg"/><Relationship Id="rId6" Type="http://schemas.openxmlformats.org/officeDocument/2006/relationships/image" Target="../media/image4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svg"/><Relationship Id="rId4" Type="http://schemas.openxmlformats.org/officeDocument/2006/relationships/image" Target="../media/image45.png"/><Relationship Id="rId5" Type="http://schemas.openxmlformats.org/officeDocument/2006/relationships/image" Target="../media/image28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eg"/><Relationship Id="rId3" Type="http://schemas.openxmlformats.org/officeDocument/2006/relationships/video" Target="../media/VAHV67n7P2I.mp4"/><Relationship Id="rId4" Type="http://schemas.microsoft.com/office/2007/relationships/media" Target="../media/VAHV67n7P2I.mp4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0.png"/><Relationship Id="rId4" Type="http://schemas.openxmlformats.org/officeDocument/2006/relationships/image" Target="../media/image5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image" Target="../media/image28.jpe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openxmlformats.org/officeDocument/2006/relationships/image" Target="../media/image55.png"/><Relationship Id="rId4" Type="http://schemas.openxmlformats.org/officeDocument/2006/relationships/image" Target="../media/image28.jpe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openxmlformats.org/officeDocument/2006/relationships/image" Target="../media/image56.png"/><Relationship Id="rId4" Type="http://schemas.openxmlformats.org/officeDocument/2006/relationships/image" Target="../media/image28.jpe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Relationship Id="rId3" Type="http://schemas.openxmlformats.org/officeDocument/2006/relationships/image" Target="../media/image58.png"/><Relationship Id="rId4" Type="http://schemas.openxmlformats.org/officeDocument/2006/relationships/image" Target="../media/image28.jpe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Relationship Id="rId3" Type="http://schemas.openxmlformats.org/officeDocument/2006/relationships/image" Target="../media/image60.png"/><Relationship Id="rId4" Type="http://schemas.openxmlformats.org/officeDocument/2006/relationships/image" Target="../media/image6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Relationship Id="rId3" Type="http://schemas.openxmlformats.org/officeDocument/2006/relationships/image" Target="../media/image63.png"/><Relationship Id="rId4" Type="http://schemas.openxmlformats.org/officeDocument/2006/relationships/image" Target="../media/image6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hat.whatsapp.com/I9lyLp4iAsn1qEpl1PTXJ2" TargetMode="External"/><Relationship Id="rId3" Type="http://schemas.openxmlformats.org/officeDocument/2006/relationships/image" Target="../media/image65.png"/><Relationship Id="rId4" Type="http://schemas.openxmlformats.org/officeDocument/2006/relationships/image" Target="../media/image66.sv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openxmlformats.org/officeDocument/2006/relationships/image" Target="../media/image68.png"/><Relationship Id="rId4" Type="http://schemas.openxmlformats.org/officeDocument/2006/relationships/image" Target="../media/image69.png"/><Relationship Id="rId5" Type="http://schemas.openxmlformats.org/officeDocument/2006/relationships/image" Target="../media/image7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D5DBFF">
                <a:alpha val="100000"/>
              </a:srgbClr>
            </a:gs>
            <a:gs pos="50000">
              <a:srgbClr val="9FFFC0">
                <a:alpha val="100000"/>
              </a:srgbClr>
            </a:gs>
            <a:gs pos="100000">
              <a:srgbClr val="D5DB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7451446"/>
            <a:ext cx="18288000" cy="2893933"/>
          </a:xfrm>
          <a:custGeom>
            <a:avLst/>
            <a:gdLst/>
            <a:ahLst/>
            <a:cxnLst/>
            <a:rect r="r" b="b" t="t" l="l"/>
            <a:pathLst>
              <a:path h="2893933" w="18288000">
                <a:moveTo>
                  <a:pt x="0" y="0"/>
                </a:moveTo>
                <a:lnTo>
                  <a:pt x="18288000" y="0"/>
                </a:lnTo>
                <a:lnTo>
                  <a:pt x="18288000" y="2893933"/>
                </a:lnTo>
                <a:lnTo>
                  <a:pt x="0" y="28939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256206" y="1579169"/>
            <a:ext cx="14194688" cy="7330764"/>
          </a:xfrm>
          <a:custGeom>
            <a:avLst/>
            <a:gdLst/>
            <a:ahLst/>
            <a:cxnLst/>
            <a:rect r="r" b="b" t="t" l="l"/>
            <a:pathLst>
              <a:path h="7330764" w="14194688">
                <a:moveTo>
                  <a:pt x="0" y="0"/>
                </a:moveTo>
                <a:lnTo>
                  <a:pt x="14194688" y="0"/>
                </a:lnTo>
                <a:lnTo>
                  <a:pt x="14194688" y="7330764"/>
                </a:lnTo>
                <a:lnTo>
                  <a:pt x="0" y="73307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46656" y="1369619"/>
            <a:ext cx="14194688" cy="7330764"/>
          </a:xfrm>
          <a:custGeom>
            <a:avLst/>
            <a:gdLst/>
            <a:ahLst/>
            <a:cxnLst/>
            <a:rect r="r" b="b" t="t" l="l"/>
            <a:pathLst>
              <a:path h="7330764" w="14194688">
                <a:moveTo>
                  <a:pt x="0" y="0"/>
                </a:moveTo>
                <a:lnTo>
                  <a:pt x="14194688" y="0"/>
                </a:lnTo>
                <a:lnTo>
                  <a:pt x="14194688" y="7330764"/>
                </a:lnTo>
                <a:lnTo>
                  <a:pt x="0" y="73307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262592" y="-1205198"/>
            <a:ext cx="5762815" cy="3513715"/>
          </a:xfrm>
          <a:custGeom>
            <a:avLst/>
            <a:gdLst/>
            <a:ahLst/>
            <a:cxnLst/>
            <a:rect r="r" b="b" t="t" l="l"/>
            <a:pathLst>
              <a:path h="3513715" w="5762815">
                <a:moveTo>
                  <a:pt x="0" y="0"/>
                </a:moveTo>
                <a:lnTo>
                  <a:pt x="5762816" y="0"/>
                </a:lnTo>
                <a:lnTo>
                  <a:pt x="5762816" y="3513715"/>
                </a:lnTo>
                <a:lnTo>
                  <a:pt x="0" y="351371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89943" y="660149"/>
            <a:ext cx="2713425" cy="2730494"/>
          </a:xfrm>
          <a:custGeom>
            <a:avLst/>
            <a:gdLst/>
            <a:ahLst/>
            <a:cxnLst/>
            <a:rect r="r" b="b" t="t" l="l"/>
            <a:pathLst>
              <a:path h="2730494" w="2713425">
                <a:moveTo>
                  <a:pt x="0" y="0"/>
                </a:moveTo>
                <a:lnTo>
                  <a:pt x="2713425" y="0"/>
                </a:lnTo>
                <a:lnTo>
                  <a:pt x="2713425" y="2730494"/>
                </a:lnTo>
                <a:lnTo>
                  <a:pt x="0" y="273049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36" r="0" b="-35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884632" y="7146246"/>
            <a:ext cx="2713425" cy="2730494"/>
          </a:xfrm>
          <a:custGeom>
            <a:avLst/>
            <a:gdLst/>
            <a:ahLst/>
            <a:cxnLst/>
            <a:rect r="r" b="b" t="t" l="l"/>
            <a:pathLst>
              <a:path h="2730494" w="2713425">
                <a:moveTo>
                  <a:pt x="0" y="0"/>
                </a:moveTo>
                <a:lnTo>
                  <a:pt x="2713425" y="0"/>
                </a:lnTo>
                <a:lnTo>
                  <a:pt x="2713425" y="2730493"/>
                </a:lnTo>
                <a:lnTo>
                  <a:pt x="0" y="273049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36" r="0" b="-35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938941" y="5984196"/>
            <a:ext cx="8632031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Autonomous robotic manipulator for AMR sampling (Petri Dish)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918185" y="2794654"/>
            <a:ext cx="10194103" cy="2647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745"/>
              </a:lnSpc>
            </a:pPr>
            <a:r>
              <a:rPr lang="en-US" sz="1267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ELD411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6563" y="9118235"/>
            <a:ext cx="4732315" cy="898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8"/>
              </a:lnSpc>
            </a:pPr>
            <a:r>
              <a:rPr lang="en-US" sz="2499">
                <a:solidFill>
                  <a:srgbClr val="FFFFFF"/>
                </a:solidFill>
                <a:latin typeface="Inter 1"/>
                <a:ea typeface="Inter 1"/>
                <a:cs typeface="Inter 1"/>
                <a:sym typeface="Inter 1"/>
              </a:rPr>
              <a:t>Arnav Panjla 2023EE10978</a:t>
            </a:r>
          </a:p>
          <a:p>
            <a:pPr algn="ctr">
              <a:lnSpc>
                <a:spcPts val="3498"/>
              </a:lnSpc>
            </a:pPr>
            <a:r>
              <a:rPr lang="en-US" sz="2499">
                <a:solidFill>
                  <a:srgbClr val="FFFFFF"/>
                </a:solidFill>
                <a:latin typeface="Inter 1"/>
                <a:ea typeface="Inter 1"/>
                <a:cs typeface="Inter 1"/>
                <a:sym typeface="Inter 1"/>
              </a:rPr>
              <a:t>Manashvi Garg 2023EE11104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029717" y="5066262"/>
            <a:ext cx="3971030" cy="487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0"/>
              </a:lnSpc>
            </a:pPr>
            <a:r>
              <a:rPr lang="en-US" sz="2543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Mid-Term Review — 2026</a:t>
            </a:r>
          </a:p>
        </p:txBody>
      </p:sp>
      <p:sp>
        <p:nvSpPr>
          <p:cNvPr name="AutoShape 12" id="12"/>
          <p:cNvSpPr/>
          <p:nvPr/>
        </p:nvSpPr>
        <p:spPr>
          <a:xfrm rot="20040">
            <a:off x="5878773" y="5129212"/>
            <a:ext cx="6530454" cy="0"/>
          </a:xfrm>
          <a:prstGeom prst="line">
            <a:avLst/>
          </a:prstGeom>
          <a:ln cap="rnd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731520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BA7A0"/>
                </a:solidFill>
                <a:latin typeface="Poppins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46304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3200" b="1">
                <a:solidFill>
                  <a:srgbClr val="180E66"/>
                </a:solidFill>
                <a:latin typeface="Poppins"/>
              </a:rPr>
              <a:t>Table of 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7007840" cy="13716"/>
          </a:xfrm>
          <a:prstGeom prst="rect">
            <a:avLst/>
          </a:prstGeom>
          <a:solidFill>
            <a:srgbClr val="D5D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8366760" cy="17830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810512"/>
            <a:ext cx="11887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000" b="1">
                <a:solidFill>
                  <a:srgbClr val="2BA7A0"/>
                </a:solidFill>
                <a:latin typeface="Poppin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847088"/>
            <a:ext cx="6583680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2000" b="1">
                <a:solidFill>
                  <a:srgbClr val="180E66"/>
                </a:solidFill>
                <a:latin typeface="Poppins"/>
              </a:rPr>
              <a:t>Problem statement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468880"/>
            <a:ext cx="658368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>
                <a:solidFill>
                  <a:srgbClr val="646E7A"/>
                </a:solidFill>
                <a:latin typeface="Poppins"/>
              </a:rPr>
              <a:t>Village sampling, and the lab bottleneck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81159" y="1554480"/>
            <a:ext cx="8366760" cy="17830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37191" y="1810512"/>
            <a:ext cx="11887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000" b="1">
                <a:solidFill>
                  <a:srgbClr val="2BA7A0"/>
                </a:solidFill>
                <a:latin typeface="Poppin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44199" y="1847088"/>
            <a:ext cx="6583680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2000" b="1">
                <a:solidFill>
                  <a:srgbClr val="180E66"/>
                </a:solidFill>
                <a:latin typeface="Poppins"/>
              </a:rPr>
              <a:t>Market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44199" y="2468880"/>
            <a:ext cx="658368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>
                <a:solidFill>
                  <a:srgbClr val="646E7A"/>
                </a:solidFill>
                <a:latin typeface="Poppins"/>
              </a:rPr>
              <a:t>Planning load, about 1200 dishes a day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520439"/>
            <a:ext cx="8366760" cy="17830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776472"/>
            <a:ext cx="11887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000" b="1">
                <a:solidFill>
                  <a:srgbClr val="2BA7A0"/>
                </a:solidFill>
                <a:latin typeface="Poppin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3813048"/>
            <a:ext cx="6583680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2000" b="1">
                <a:solidFill>
                  <a:srgbClr val="180E66"/>
                </a:solidFill>
                <a:latin typeface="Poppins"/>
              </a:rPr>
              <a:t>Hardware iterations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4434840"/>
            <a:ext cx="658368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>
                <a:solidFill>
                  <a:srgbClr val="646E7A"/>
                </a:solidFill>
                <a:latin typeface="Poppins"/>
              </a:rPr>
              <a:t>Gantry rejected. SCARA too slow to build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81159" y="3520439"/>
            <a:ext cx="8366760" cy="17830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37191" y="3776472"/>
            <a:ext cx="11887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000" b="1">
                <a:solidFill>
                  <a:srgbClr val="2BA7A0"/>
                </a:solidFill>
                <a:latin typeface="Poppin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44199" y="3813048"/>
            <a:ext cx="6583680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2000" b="1">
                <a:solidFill>
                  <a:srgbClr val="180E66"/>
                </a:solidFill>
                <a:latin typeface="Poppins"/>
              </a:rPr>
              <a:t>Robotic arm and full-system CAD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44199" y="4434840"/>
            <a:ext cx="658368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>
                <a:solidFill>
                  <a:srgbClr val="646E7A"/>
                </a:solidFill>
                <a:latin typeface="Poppins"/>
              </a:rPr>
              <a:t>6-DOF arm, cell layout, link changes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486400"/>
            <a:ext cx="8366760" cy="17830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742432"/>
            <a:ext cx="11887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000" b="1">
                <a:solidFill>
                  <a:srgbClr val="2BA7A0"/>
                </a:solidFill>
                <a:latin typeface="Poppin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5779008"/>
            <a:ext cx="6583680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2000" b="1">
                <a:solidFill>
                  <a:srgbClr val="180E66"/>
                </a:solidFill>
                <a:latin typeface="Poppins"/>
              </a:rPr>
              <a:t>Compute platform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6400800"/>
            <a:ext cx="658368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>
                <a:solidFill>
                  <a:srgbClr val="646E7A"/>
                </a:solidFill>
                <a:latin typeface="Poppins"/>
              </a:rPr>
              <a:t>Ubuntu first, then Raspberry Pi OS for the HAT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81159" y="5486400"/>
            <a:ext cx="8366760" cy="17830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37191" y="5742432"/>
            <a:ext cx="11887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000" b="1">
                <a:solidFill>
                  <a:srgbClr val="2BA7A0"/>
                </a:solidFill>
                <a:latin typeface="Poppins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44199" y="5779008"/>
            <a:ext cx="6583680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2000" b="1">
                <a:solidFill>
                  <a:srgbClr val="180E66"/>
                </a:solidFill>
                <a:latin typeface="Poppins"/>
              </a:rPr>
              <a:t>Gazebo simulation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199" y="6400800"/>
            <a:ext cx="658368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>
                <a:solidFill>
                  <a:srgbClr val="646E7A"/>
                </a:solidFill>
                <a:latin typeface="Poppins"/>
              </a:rPr>
              <a:t>Arm motion beside the dish carousel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7452359"/>
            <a:ext cx="8366760" cy="17830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6112" y="7708391"/>
            <a:ext cx="11887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000" b="1">
                <a:solidFill>
                  <a:srgbClr val="2BA7A0"/>
                </a:solidFill>
                <a:latin typeface="Poppins"/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20" y="7744967"/>
            <a:ext cx="6583680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2000" b="1">
                <a:solidFill>
                  <a:srgbClr val="180E66"/>
                </a:solidFill>
                <a:latin typeface="Poppins"/>
              </a:rPr>
              <a:t>Vision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20" y="8366759"/>
            <a:ext cx="658368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>
                <a:solidFill>
                  <a:srgbClr val="646E7A"/>
                </a:solidFill>
                <a:latin typeface="Poppins"/>
              </a:rPr>
              <a:t>Circles on the plate, then the antibiotic stamp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81159" y="7452359"/>
            <a:ext cx="8366760" cy="17830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37191" y="7708391"/>
            <a:ext cx="11887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000" b="1">
                <a:solidFill>
                  <a:srgbClr val="2BA7A0"/>
                </a:solidFill>
                <a:latin typeface="Poppins"/>
              </a:rP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44199" y="7744967"/>
            <a:ext cx="6583680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2000" b="1">
                <a:solidFill>
                  <a:srgbClr val="180E66"/>
                </a:solidFill>
                <a:latin typeface="Poppins"/>
              </a:rPr>
              <a:t>Progress and roadmap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44199" y="8366759"/>
            <a:ext cx="658368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>
                <a:solidFill>
                  <a:srgbClr val="646E7A"/>
                </a:solidFill>
                <a:latin typeface="Poppins"/>
              </a:rPr>
              <a:t>What is done, and what is left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9829800"/>
            <a:ext cx="91440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646E7A"/>
                </a:solidFill>
                <a:latin typeface="Poppins"/>
              </a:rPr>
              <a:t>IIT Delhi  ·  ELD411  ·  Mid-Term Review 2026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2537" y="478907"/>
            <a:ext cx="7888348" cy="376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0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STATEMENT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61187" y="820645"/>
            <a:ext cx="16261652" cy="854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The Challenge: Scaling AMR Surveillance</a:t>
            </a:r>
          </a:p>
        </p:txBody>
      </p:sp>
      <p:sp>
        <p:nvSpPr>
          <p:cNvPr name="AutoShape 4" id="4"/>
          <p:cNvSpPr/>
          <p:nvPr/>
        </p:nvSpPr>
        <p:spPr>
          <a:xfrm rot="5940">
            <a:off x="573681" y="1655721"/>
            <a:ext cx="16514407" cy="0"/>
          </a:xfrm>
          <a:prstGeom prst="line">
            <a:avLst/>
          </a:prstGeom>
          <a:ln cap="rnd" w="9525">
            <a:solidFill>
              <a:srgbClr val="D5DB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6810634" y="547545"/>
            <a:ext cx="544554" cy="349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0" b="true">
                <a:solidFill>
                  <a:srgbClr val="646E7A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name="AutoShape 6" id="6"/>
          <p:cNvSpPr/>
          <p:nvPr/>
        </p:nvSpPr>
        <p:spPr>
          <a:xfrm rot="394260">
            <a:off x="3648532" y="5366928"/>
            <a:ext cx="499720" cy="0"/>
          </a:xfrm>
          <a:prstGeom prst="line">
            <a:avLst/>
          </a:prstGeom>
          <a:ln cap="rnd" w="19050">
            <a:solidFill>
              <a:srgbClr val="2BA7A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4050602" y="5309035"/>
            <a:ext cx="134931" cy="134931"/>
          </a:xfrm>
          <a:custGeom>
            <a:avLst/>
            <a:gdLst/>
            <a:ahLst/>
            <a:cxnLst/>
            <a:rect r="r" b="b" t="t" l="l"/>
            <a:pathLst>
              <a:path h="134931" w="134931">
                <a:moveTo>
                  <a:pt x="0" y="0"/>
                </a:moveTo>
                <a:lnTo>
                  <a:pt x="134931" y="0"/>
                </a:lnTo>
                <a:lnTo>
                  <a:pt x="134931" y="134931"/>
                </a:lnTo>
                <a:lnTo>
                  <a:pt x="0" y="1349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89283" y="4700883"/>
            <a:ext cx="2833602" cy="1515818"/>
          </a:xfrm>
          <a:custGeom>
            <a:avLst/>
            <a:gdLst/>
            <a:ahLst/>
            <a:cxnLst/>
            <a:rect r="r" b="b" t="t" l="l"/>
            <a:pathLst>
              <a:path h="1515818" w="2833602">
                <a:moveTo>
                  <a:pt x="0" y="0"/>
                </a:moveTo>
                <a:lnTo>
                  <a:pt x="2833601" y="0"/>
                </a:lnTo>
                <a:lnTo>
                  <a:pt x="2833601" y="1515818"/>
                </a:lnTo>
                <a:lnTo>
                  <a:pt x="0" y="15158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162164" y="4921948"/>
            <a:ext cx="393554" cy="239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62164" y="5284165"/>
            <a:ext cx="2287848" cy="261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VILLAGES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62164" y="5663184"/>
            <a:ext cx="2287848" cy="239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Distributed sampling</a:t>
            </a:r>
          </a:p>
        </p:txBody>
      </p:sp>
      <p:sp>
        <p:nvSpPr>
          <p:cNvPr name="AutoShape 12" id="12"/>
          <p:cNvSpPr/>
          <p:nvPr/>
        </p:nvSpPr>
        <p:spPr>
          <a:xfrm rot="394260">
            <a:off x="7025297" y="5366928"/>
            <a:ext cx="499720" cy="0"/>
          </a:xfrm>
          <a:prstGeom prst="line">
            <a:avLst/>
          </a:prstGeom>
          <a:ln cap="rnd" w="19050">
            <a:solidFill>
              <a:srgbClr val="2BA7A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7427376" y="5309035"/>
            <a:ext cx="134931" cy="134931"/>
          </a:xfrm>
          <a:custGeom>
            <a:avLst/>
            <a:gdLst/>
            <a:ahLst/>
            <a:cxnLst/>
            <a:rect r="r" b="b" t="t" l="l"/>
            <a:pathLst>
              <a:path h="134931" w="134931">
                <a:moveTo>
                  <a:pt x="0" y="0"/>
                </a:moveTo>
                <a:lnTo>
                  <a:pt x="134931" y="0"/>
                </a:lnTo>
                <a:lnTo>
                  <a:pt x="134931" y="134931"/>
                </a:lnTo>
                <a:lnTo>
                  <a:pt x="0" y="1349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266047" y="4700883"/>
            <a:ext cx="2833602" cy="1515818"/>
          </a:xfrm>
          <a:custGeom>
            <a:avLst/>
            <a:gdLst/>
            <a:ahLst/>
            <a:cxnLst/>
            <a:rect r="r" b="b" t="t" l="l"/>
            <a:pathLst>
              <a:path h="1515818" w="2833602">
                <a:moveTo>
                  <a:pt x="0" y="0"/>
                </a:moveTo>
                <a:lnTo>
                  <a:pt x="2833602" y="0"/>
                </a:lnTo>
                <a:lnTo>
                  <a:pt x="2833602" y="1515818"/>
                </a:lnTo>
                <a:lnTo>
                  <a:pt x="0" y="15158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538939" y="4921948"/>
            <a:ext cx="393554" cy="239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538939" y="5284165"/>
            <a:ext cx="2287848" cy="261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COLLECTION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538939" y="5663184"/>
            <a:ext cx="2287848" cy="239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Repeated visits</a:t>
            </a:r>
          </a:p>
        </p:txBody>
      </p:sp>
      <p:sp>
        <p:nvSpPr>
          <p:cNvPr name="AutoShape 18" id="18"/>
          <p:cNvSpPr/>
          <p:nvPr/>
        </p:nvSpPr>
        <p:spPr>
          <a:xfrm rot="394260">
            <a:off x="10402081" y="5366928"/>
            <a:ext cx="499720" cy="0"/>
          </a:xfrm>
          <a:prstGeom prst="line">
            <a:avLst/>
          </a:prstGeom>
          <a:ln cap="rnd" w="19050">
            <a:solidFill>
              <a:srgbClr val="2BA7A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10804150" y="5309035"/>
            <a:ext cx="134931" cy="134931"/>
          </a:xfrm>
          <a:custGeom>
            <a:avLst/>
            <a:gdLst/>
            <a:ahLst/>
            <a:cxnLst/>
            <a:rect r="r" b="b" t="t" l="l"/>
            <a:pathLst>
              <a:path h="134931" w="134931">
                <a:moveTo>
                  <a:pt x="0" y="0"/>
                </a:moveTo>
                <a:lnTo>
                  <a:pt x="134932" y="0"/>
                </a:lnTo>
                <a:lnTo>
                  <a:pt x="134932" y="134931"/>
                </a:lnTo>
                <a:lnTo>
                  <a:pt x="0" y="1349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7642822" y="4700883"/>
            <a:ext cx="2833602" cy="1515818"/>
          </a:xfrm>
          <a:custGeom>
            <a:avLst/>
            <a:gdLst/>
            <a:ahLst/>
            <a:cxnLst/>
            <a:rect r="r" b="b" t="t" l="l"/>
            <a:pathLst>
              <a:path h="1515818" w="2833602">
                <a:moveTo>
                  <a:pt x="0" y="0"/>
                </a:moveTo>
                <a:lnTo>
                  <a:pt x="2833602" y="0"/>
                </a:lnTo>
                <a:lnTo>
                  <a:pt x="2833602" y="1515818"/>
                </a:lnTo>
                <a:lnTo>
                  <a:pt x="0" y="15158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7915713" y="4921948"/>
            <a:ext cx="393554" cy="239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915713" y="5284165"/>
            <a:ext cx="2287848" cy="261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LAB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915713" y="5663184"/>
            <a:ext cx="2287848" cy="239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Central processing</a:t>
            </a:r>
          </a:p>
        </p:txBody>
      </p:sp>
      <p:sp>
        <p:nvSpPr>
          <p:cNvPr name="AutoShape 24" id="24"/>
          <p:cNvSpPr/>
          <p:nvPr/>
        </p:nvSpPr>
        <p:spPr>
          <a:xfrm rot="394260">
            <a:off x="13778855" y="5366928"/>
            <a:ext cx="499720" cy="0"/>
          </a:xfrm>
          <a:prstGeom prst="line">
            <a:avLst/>
          </a:prstGeom>
          <a:ln cap="rnd" w="19050">
            <a:solidFill>
              <a:srgbClr val="2BA7A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5" id="25"/>
          <p:cNvSpPr/>
          <p:nvPr/>
        </p:nvSpPr>
        <p:spPr>
          <a:xfrm flipH="false" flipV="false" rot="0">
            <a:off x="14180925" y="5309035"/>
            <a:ext cx="134931" cy="134931"/>
          </a:xfrm>
          <a:custGeom>
            <a:avLst/>
            <a:gdLst/>
            <a:ahLst/>
            <a:cxnLst/>
            <a:rect r="r" b="b" t="t" l="l"/>
            <a:pathLst>
              <a:path h="134931" w="134931">
                <a:moveTo>
                  <a:pt x="0" y="0"/>
                </a:moveTo>
                <a:lnTo>
                  <a:pt x="134931" y="0"/>
                </a:lnTo>
                <a:lnTo>
                  <a:pt x="134931" y="134931"/>
                </a:lnTo>
                <a:lnTo>
                  <a:pt x="0" y="1349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1019596" y="4700883"/>
            <a:ext cx="2833602" cy="1515818"/>
          </a:xfrm>
          <a:custGeom>
            <a:avLst/>
            <a:gdLst/>
            <a:ahLst/>
            <a:cxnLst/>
            <a:rect r="r" b="b" t="t" l="l"/>
            <a:pathLst>
              <a:path h="1515818" w="2833602">
                <a:moveTo>
                  <a:pt x="0" y="0"/>
                </a:moveTo>
                <a:lnTo>
                  <a:pt x="2833602" y="0"/>
                </a:lnTo>
                <a:lnTo>
                  <a:pt x="2833602" y="1515818"/>
                </a:lnTo>
                <a:lnTo>
                  <a:pt x="0" y="15158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1292488" y="4921948"/>
            <a:ext cx="393554" cy="239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04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292488" y="5284165"/>
            <a:ext cx="2287848" cy="261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DISHES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292488" y="5663184"/>
            <a:ext cx="2287848" cy="239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Handling + imaging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4396371" y="4700883"/>
            <a:ext cx="2833602" cy="1515818"/>
          </a:xfrm>
          <a:custGeom>
            <a:avLst/>
            <a:gdLst/>
            <a:ahLst/>
            <a:cxnLst/>
            <a:rect r="r" b="b" t="t" l="l"/>
            <a:pathLst>
              <a:path h="1515818" w="2833602">
                <a:moveTo>
                  <a:pt x="0" y="0"/>
                </a:moveTo>
                <a:lnTo>
                  <a:pt x="2833602" y="0"/>
                </a:lnTo>
                <a:lnTo>
                  <a:pt x="2833602" y="1515818"/>
                </a:lnTo>
                <a:lnTo>
                  <a:pt x="0" y="15158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4669262" y="4921948"/>
            <a:ext cx="393554" cy="239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05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669262" y="5284165"/>
            <a:ext cx="2287848" cy="261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BOTTLENECK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669262" y="5663184"/>
            <a:ext cx="2287848" cy="239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Manual repetition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1156802" y="7060282"/>
            <a:ext cx="244659" cy="244659"/>
          </a:xfrm>
          <a:custGeom>
            <a:avLst/>
            <a:gdLst/>
            <a:ahLst/>
            <a:cxnLst/>
            <a:rect r="r" b="b" t="t" l="l"/>
            <a:pathLst>
              <a:path h="244659" w="244659">
                <a:moveTo>
                  <a:pt x="0" y="0"/>
                </a:moveTo>
                <a:lnTo>
                  <a:pt x="244659" y="0"/>
                </a:lnTo>
                <a:lnTo>
                  <a:pt x="244659" y="244660"/>
                </a:lnTo>
                <a:lnTo>
                  <a:pt x="0" y="24466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1645148" y="6983587"/>
            <a:ext cx="7023497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0">
                <a:solidFill>
                  <a:srgbClr val="19202A"/>
                </a:solidFill>
                <a:latin typeface="Poppins"/>
                <a:ea typeface="Poppins"/>
                <a:cs typeface="Poppins"/>
                <a:sym typeface="Poppins"/>
              </a:rPr>
              <a:t>Repeated sampling creates high laboratory load.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1156802" y="7693085"/>
            <a:ext cx="244659" cy="244659"/>
          </a:xfrm>
          <a:custGeom>
            <a:avLst/>
            <a:gdLst/>
            <a:ahLst/>
            <a:cxnLst/>
            <a:rect r="r" b="b" t="t" l="l"/>
            <a:pathLst>
              <a:path h="244659" w="244659">
                <a:moveTo>
                  <a:pt x="0" y="0"/>
                </a:moveTo>
                <a:lnTo>
                  <a:pt x="244659" y="0"/>
                </a:lnTo>
                <a:lnTo>
                  <a:pt x="244659" y="244659"/>
                </a:lnTo>
                <a:lnTo>
                  <a:pt x="0" y="2446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1645148" y="7616390"/>
            <a:ext cx="9810093" cy="423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0">
                <a:solidFill>
                  <a:srgbClr val="19202A"/>
                </a:solidFill>
                <a:latin typeface="Poppins"/>
                <a:ea typeface="Poppins"/>
                <a:cs typeface="Poppins"/>
                <a:sym typeface="Poppins"/>
              </a:rPr>
              <a:t>Dish transport, imaging and logging are repetitive.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1156802" y="8325374"/>
            <a:ext cx="244659" cy="244659"/>
          </a:xfrm>
          <a:custGeom>
            <a:avLst/>
            <a:gdLst/>
            <a:ahLst/>
            <a:cxnLst/>
            <a:rect r="r" b="b" t="t" l="l"/>
            <a:pathLst>
              <a:path h="244659" w="244659">
                <a:moveTo>
                  <a:pt x="0" y="0"/>
                </a:moveTo>
                <a:lnTo>
                  <a:pt x="244659" y="0"/>
                </a:lnTo>
                <a:lnTo>
                  <a:pt x="244659" y="244659"/>
                </a:lnTo>
                <a:lnTo>
                  <a:pt x="0" y="2446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1645148" y="8248679"/>
            <a:ext cx="9810093" cy="423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0" b="true">
                <a:solidFill>
                  <a:srgbClr val="19202A"/>
                </a:solidFill>
                <a:latin typeface="Poppins Bold"/>
                <a:ea typeface="Poppins Bold"/>
                <a:cs typeface="Poppins Bold"/>
                <a:sym typeface="Poppins Bold"/>
              </a:rPr>
              <a:t>Manual handling limits throughput and traceability.</a:t>
            </a:r>
          </a:p>
        </p:txBody>
      </p:sp>
      <p:sp>
        <p:nvSpPr>
          <p:cNvPr name="Freeform 40" id="40"/>
          <p:cNvSpPr/>
          <p:nvPr/>
        </p:nvSpPr>
        <p:spPr>
          <a:xfrm flipH="false" flipV="false" rot="0">
            <a:off x="12181770" y="6516300"/>
            <a:ext cx="4975012" cy="2832125"/>
          </a:xfrm>
          <a:custGeom>
            <a:avLst/>
            <a:gdLst/>
            <a:ahLst/>
            <a:cxnLst/>
            <a:rect r="r" b="b" t="t" l="l"/>
            <a:pathLst>
              <a:path h="2832125" w="4975012">
                <a:moveTo>
                  <a:pt x="0" y="0"/>
                </a:moveTo>
                <a:lnTo>
                  <a:pt x="4975012" y="0"/>
                </a:lnTo>
                <a:lnTo>
                  <a:pt x="4975012" y="2832126"/>
                </a:lnTo>
                <a:lnTo>
                  <a:pt x="0" y="283212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12681147" y="6760054"/>
            <a:ext cx="3976230" cy="321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0" b="true">
                <a:solidFill>
                  <a:srgbClr val="9FFFC0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OBJECTIVE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646828" y="7316829"/>
            <a:ext cx="4127230" cy="1469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2"/>
              </a:lnSpc>
            </a:pPr>
            <a:r>
              <a:rPr lang="en-US" sz="3144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Automate Petri-dish</a:t>
            </a:r>
          </a:p>
          <a:p>
            <a:pPr algn="l">
              <a:lnSpc>
                <a:spcPts val="3772"/>
              </a:lnSpc>
            </a:pPr>
            <a:r>
              <a:rPr lang="en-US" sz="3144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handling + imaging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42537" y="9790957"/>
            <a:ext cx="10908230" cy="220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200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IIT Delhi · ELD411 · Mid-Term Review 2026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896436" y="2214839"/>
            <a:ext cx="17130893" cy="1656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5781" indent="-175260" lvl="2">
              <a:lnSpc>
                <a:spcPts val="3220"/>
              </a:lnSpc>
              <a:buFont typeface="Arial"/>
              <a:buChar char="⚬"/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Antimicrobial resistance (AMR) requires continuous surveillance.</a:t>
            </a:r>
          </a:p>
          <a:p>
            <a:pPr algn="l" marL="525781" indent="-175260" lvl="2">
              <a:lnSpc>
                <a:spcPts val="3220"/>
              </a:lnSpc>
              <a:buFont typeface="Arial"/>
              <a:buChar char="⚬"/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Rural/village-level sampling can generate many biological samples.</a:t>
            </a:r>
          </a:p>
          <a:p>
            <a:pPr algn="l" marL="525781" indent="-175260" lvl="2">
              <a:lnSpc>
                <a:spcPts val="3220"/>
              </a:lnSpc>
              <a:buFont typeface="Arial"/>
              <a:buChar char="⚬"/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Samples need to be collected, transported, incubated/processed and analyzed.</a:t>
            </a:r>
          </a:p>
          <a:p>
            <a:pPr algn="l" marL="525781" indent="-175260" lvl="2">
              <a:lnSpc>
                <a:spcPts val="3220"/>
              </a:lnSpc>
              <a:buFont typeface="Arial"/>
              <a:buChar char="⚬"/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Manual Petri-dish handling becomes a bottleneck as sample volume increases.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2537" y="478907"/>
            <a:ext cx="7888348" cy="376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0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MARKET AND SCALE ANALYSIS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42537" y="907523"/>
            <a:ext cx="16261652" cy="854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From Village Sampling to Laboratory Load</a:t>
            </a:r>
          </a:p>
        </p:txBody>
      </p:sp>
      <p:sp>
        <p:nvSpPr>
          <p:cNvPr name="AutoShape 4" id="4"/>
          <p:cNvSpPr/>
          <p:nvPr/>
        </p:nvSpPr>
        <p:spPr>
          <a:xfrm rot="1980">
            <a:off x="891664" y="1912220"/>
            <a:ext cx="16514397" cy="0"/>
          </a:xfrm>
          <a:prstGeom prst="line">
            <a:avLst/>
          </a:prstGeom>
          <a:ln cap="rnd" w="9525">
            <a:solidFill>
              <a:srgbClr val="D5DB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6810634" y="547545"/>
            <a:ext cx="544554" cy="349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0" b="true">
                <a:solidFill>
                  <a:srgbClr val="646E7A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889283" y="2426675"/>
            <a:ext cx="2833602" cy="1653169"/>
          </a:xfrm>
          <a:custGeom>
            <a:avLst/>
            <a:gdLst/>
            <a:ahLst/>
            <a:cxnLst/>
            <a:rect r="r" b="b" t="t" l="l"/>
            <a:pathLst>
              <a:path h="1653169" w="2833602">
                <a:moveTo>
                  <a:pt x="0" y="0"/>
                </a:moveTo>
                <a:lnTo>
                  <a:pt x="2833601" y="0"/>
                </a:lnTo>
                <a:lnTo>
                  <a:pt x="2833601" y="1653168"/>
                </a:lnTo>
                <a:lnTo>
                  <a:pt x="0" y="16531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44536" y="2650817"/>
            <a:ext cx="1523105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3"/>
              </a:lnSpc>
            </a:pPr>
            <a:r>
              <a:rPr lang="en-US" sz="3752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~3000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34713" y="3402701"/>
            <a:ext cx="2342750" cy="294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0" b="true">
                <a:solidFill>
                  <a:srgbClr val="646E7A"/>
                </a:solidFill>
                <a:latin typeface="Poppins Bold"/>
                <a:ea typeface="Poppins Bold"/>
                <a:cs typeface="Poppins Bold"/>
                <a:sym typeface="Poppins Bold"/>
              </a:rPr>
              <a:t>people / village</a:t>
            </a:r>
          </a:p>
        </p:txBody>
      </p:sp>
      <p:sp>
        <p:nvSpPr>
          <p:cNvPr name="AutoShape 9" id="9"/>
          <p:cNvSpPr/>
          <p:nvPr/>
        </p:nvSpPr>
        <p:spPr>
          <a:xfrm rot="195840">
            <a:off x="3703653" y="3247911"/>
            <a:ext cx="334575" cy="0"/>
          </a:xfrm>
          <a:prstGeom prst="line">
            <a:avLst/>
          </a:prstGeom>
          <a:ln cap="rnd" w="19050">
            <a:solidFill>
              <a:srgbClr val="2BA7A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3940788" y="3199543"/>
            <a:ext cx="134931" cy="134931"/>
          </a:xfrm>
          <a:custGeom>
            <a:avLst/>
            <a:gdLst/>
            <a:ahLst/>
            <a:cxnLst/>
            <a:rect r="r" b="b" t="t" l="l"/>
            <a:pathLst>
              <a:path h="134931" w="134931">
                <a:moveTo>
                  <a:pt x="0" y="0"/>
                </a:moveTo>
                <a:lnTo>
                  <a:pt x="134931" y="0"/>
                </a:lnTo>
                <a:lnTo>
                  <a:pt x="134931" y="134931"/>
                </a:lnTo>
                <a:lnTo>
                  <a:pt x="0" y="1349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101332" y="2426675"/>
            <a:ext cx="2833602" cy="1653169"/>
          </a:xfrm>
          <a:custGeom>
            <a:avLst/>
            <a:gdLst/>
            <a:ahLst/>
            <a:cxnLst/>
            <a:rect r="r" b="b" t="t" l="l"/>
            <a:pathLst>
              <a:path h="1653169" w="2833602">
                <a:moveTo>
                  <a:pt x="0" y="0"/>
                </a:moveTo>
                <a:lnTo>
                  <a:pt x="2833601" y="0"/>
                </a:lnTo>
                <a:lnTo>
                  <a:pt x="2833601" y="1653168"/>
                </a:lnTo>
                <a:lnTo>
                  <a:pt x="0" y="16531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865237" y="2650817"/>
            <a:ext cx="1305820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3"/>
              </a:lnSpc>
            </a:pPr>
            <a:r>
              <a:rPr lang="en-US" sz="3752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2–3%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324283" y="3290916"/>
            <a:ext cx="2579894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0" b="true">
                <a:solidFill>
                  <a:srgbClr val="646E7A"/>
                </a:solidFill>
                <a:latin typeface="Poppins Bold"/>
                <a:ea typeface="Poppins Bold"/>
                <a:cs typeface="Poppins Bold"/>
                <a:sym typeface="Poppins Bold"/>
              </a:rPr>
              <a:t>sampling fraction*</a:t>
            </a:r>
          </a:p>
          <a:p>
            <a:pPr algn="ctr">
              <a:lnSpc>
                <a:spcPts val="1801"/>
              </a:lnSpc>
            </a:pPr>
            <a:r>
              <a:rPr lang="en-US" sz="1500" b="true">
                <a:solidFill>
                  <a:srgbClr val="646E7A"/>
                </a:solidFill>
                <a:latin typeface="Poppins Bold"/>
                <a:ea typeface="Poppins Bold"/>
                <a:cs typeface="Poppins Bold"/>
                <a:sym typeface="Poppins Bold"/>
              </a:rPr>
              <a:t>(people that get sick and actually need testing)</a:t>
            </a:r>
          </a:p>
        </p:txBody>
      </p:sp>
      <p:sp>
        <p:nvSpPr>
          <p:cNvPr name="AutoShape 14" id="14"/>
          <p:cNvSpPr/>
          <p:nvPr/>
        </p:nvSpPr>
        <p:spPr>
          <a:xfrm rot="195840">
            <a:off x="6915712" y="3247911"/>
            <a:ext cx="334575" cy="0"/>
          </a:xfrm>
          <a:prstGeom prst="line">
            <a:avLst/>
          </a:prstGeom>
          <a:ln cap="rnd" w="19050">
            <a:solidFill>
              <a:srgbClr val="2BA7A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7152837" y="3199543"/>
            <a:ext cx="134931" cy="134931"/>
          </a:xfrm>
          <a:custGeom>
            <a:avLst/>
            <a:gdLst/>
            <a:ahLst/>
            <a:cxnLst/>
            <a:rect r="r" b="b" t="t" l="l"/>
            <a:pathLst>
              <a:path h="134931" w="134931">
                <a:moveTo>
                  <a:pt x="0" y="0"/>
                </a:moveTo>
                <a:lnTo>
                  <a:pt x="134931" y="0"/>
                </a:lnTo>
                <a:lnTo>
                  <a:pt x="134931" y="134931"/>
                </a:lnTo>
                <a:lnTo>
                  <a:pt x="0" y="1349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7313381" y="2426675"/>
            <a:ext cx="2833602" cy="1653169"/>
          </a:xfrm>
          <a:custGeom>
            <a:avLst/>
            <a:gdLst/>
            <a:ahLst/>
            <a:cxnLst/>
            <a:rect r="r" b="b" t="t" l="l"/>
            <a:pathLst>
              <a:path h="1653169" w="2833602">
                <a:moveTo>
                  <a:pt x="0" y="0"/>
                </a:moveTo>
                <a:lnTo>
                  <a:pt x="2833601" y="0"/>
                </a:lnTo>
                <a:lnTo>
                  <a:pt x="2833601" y="1653168"/>
                </a:lnTo>
                <a:lnTo>
                  <a:pt x="0" y="16531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7955690" y="2650817"/>
            <a:ext cx="1549003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3"/>
              </a:lnSpc>
            </a:pPr>
            <a:r>
              <a:rPr lang="en-US" sz="3752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60–90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558821" y="3402701"/>
            <a:ext cx="2342750" cy="294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0" b="true">
                <a:solidFill>
                  <a:srgbClr val="646E7A"/>
                </a:solidFill>
                <a:latin typeface="Poppins Bold"/>
                <a:ea typeface="Poppins Bold"/>
                <a:cs typeface="Poppins Bold"/>
                <a:sym typeface="Poppins Bold"/>
              </a:rPr>
              <a:t>samples / village</a:t>
            </a:r>
          </a:p>
        </p:txBody>
      </p:sp>
      <p:sp>
        <p:nvSpPr>
          <p:cNvPr name="AutoShape 19" id="19"/>
          <p:cNvSpPr/>
          <p:nvPr/>
        </p:nvSpPr>
        <p:spPr>
          <a:xfrm rot="195840">
            <a:off x="10127761" y="3247911"/>
            <a:ext cx="334575" cy="0"/>
          </a:xfrm>
          <a:prstGeom prst="line">
            <a:avLst/>
          </a:prstGeom>
          <a:ln cap="rnd" w="19050">
            <a:solidFill>
              <a:srgbClr val="2BA7A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10364895" y="3199543"/>
            <a:ext cx="134931" cy="134931"/>
          </a:xfrm>
          <a:custGeom>
            <a:avLst/>
            <a:gdLst/>
            <a:ahLst/>
            <a:cxnLst/>
            <a:rect r="r" b="b" t="t" l="l"/>
            <a:pathLst>
              <a:path h="134931" w="134931">
                <a:moveTo>
                  <a:pt x="0" y="0"/>
                </a:moveTo>
                <a:lnTo>
                  <a:pt x="134932" y="0"/>
                </a:lnTo>
                <a:lnTo>
                  <a:pt x="134932" y="134931"/>
                </a:lnTo>
                <a:lnTo>
                  <a:pt x="0" y="1349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0525439" y="2426675"/>
            <a:ext cx="2833602" cy="1653169"/>
          </a:xfrm>
          <a:custGeom>
            <a:avLst/>
            <a:gdLst/>
            <a:ahLst/>
            <a:cxnLst/>
            <a:rect r="r" b="b" t="t" l="l"/>
            <a:pathLst>
              <a:path h="1653169" w="2833602">
                <a:moveTo>
                  <a:pt x="0" y="0"/>
                </a:moveTo>
                <a:lnTo>
                  <a:pt x="2833602" y="0"/>
                </a:lnTo>
                <a:lnTo>
                  <a:pt x="2833602" y="1653168"/>
                </a:lnTo>
                <a:lnTo>
                  <a:pt x="0" y="16531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0770870" y="2650817"/>
            <a:ext cx="2342750" cy="593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3"/>
              </a:lnSpc>
            </a:pPr>
            <a:r>
              <a:rPr lang="en-US" sz="3752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4–5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770870" y="3402701"/>
            <a:ext cx="2342750" cy="294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0" b="true">
                <a:solidFill>
                  <a:srgbClr val="646E7A"/>
                </a:solidFill>
                <a:latin typeface="Poppins Bold"/>
                <a:ea typeface="Poppins Bold"/>
                <a:cs typeface="Poppins Bold"/>
                <a:sym typeface="Poppins Bold"/>
              </a:rPr>
              <a:t>field collectors</a:t>
            </a:r>
          </a:p>
        </p:txBody>
      </p:sp>
      <p:sp>
        <p:nvSpPr>
          <p:cNvPr name="AutoShape 24" id="24"/>
          <p:cNvSpPr/>
          <p:nvPr/>
        </p:nvSpPr>
        <p:spPr>
          <a:xfrm rot="195840">
            <a:off x="13339810" y="3247911"/>
            <a:ext cx="334575" cy="0"/>
          </a:xfrm>
          <a:prstGeom prst="line">
            <a:avLst/>
          </a:prstGeom>
          <a:ln cap="rnd" w="19050">
            <a:solidFill>
              <a:srgbClr val="2BA7A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5" id="25"/>
          <p:cNvSpPr/>
          <p:nvPr/>
        </p:nvSpPr>
        <p:spPr>
          <a:xfrm flipH="false" flipV="false" rot="0">
            <a:off x="13576945" y="3199543"/>
            <a:ext cx="134931" cy="134931"/>
          </a:xfrm>
          <a:custGeom>
            <a:avLst/>
            <a:gdLst/>
            <a:ahLst/>
            <a:cxnLst/>
            <a:rect r="r" b="b" t="t" l="l"/>
            <a:pathLst>
              <a:path h="134931" w="134931">
                <a:moveTo>
                  <a:pt x="0" y="0"/>
                </a:moveTo>
                <a:lnTo>
                  <a:pt x="134931" y="0"/>
                </a:lnTo>
                <a:lnTo>
                  <a:pt x="134931" y="134931"/>
                </a:lnTo>
                <a:lnTo>
                  <a:pt x="0" y="1349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3737488" y="2426675"/>
            <a:ext cx="2833602" cy="1653169"/>
          </a:xfrm>
          <a:custGeom>
            <a:avLst/>
            <a:gdLst/>
            <a:ahLst/>
            <a:cxnLst/>
            <a:rect r="r" b="b" t="t" l="l"/>
            <a:pathLst>
              <a:path h="1653169" w="2833602">
                <a:moveTo>
                  <a:pt x="0" y="0"/>
                </a:moveTo>
                <a:lnTo>
                  <a:pt x="2833602" y="0"/>
                </a:lnTo>
                <a:lnTo>
                  <a:pt x="2833602" y="1653168"/>
                </a:lnTo>
                <a:lnTo>
                  <a:pt x="0" y="16531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3982929" y="2650817"/>
            <a:ext cx="2342750" cy="593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3"/>
              </a:lnSpc>
            </a:pPr>
            <a:r>
              <a:rPr lang="en-US" sz="3752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5–6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982929" y="3402701"/>
            <a:ext cx="2342750" cy="294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0" b="true">
                <a:solidFill>
                  <a:srgbClr val="646E7A"/>
                </a:solidFill>
                <a:latin typeface="Poppins Bold"/>
                <a:ea typeface="Poppins Bold"/>
                <a:cs typeface="Poppins Bold"/>
                <a:sym typeface="Poppins Bold"/>
              </a:rPr>
              <a:t>villages / collector / day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820645" y="4708846"/>
            <a:ext cx="16505406" cy="3300327"/>
          </a:xfrm>
          <a:custGeom>
            <a:avLst/>
            <a:gdLst/>
            <a:ahLst/>
            <a:cxnLst/>
            <a:rect r="r" b="b" t="t" l="l"/>
            <a:pathLst>
              <a:path h="3300327" w="16505406">
                <a:moveTo>
                  <a:pt x="0" y="0"/>
                </a:moveTo>
                <a:lnTo>
                  <a:pt x="16505406" y="0"/>
                </a:lnTo>
                <a:lnTo>
                  <a:pt x="16505406" y="3300326"/>
                </a:lnTo>
                <a:lnTo>
                  <a:pt x="0" y="33003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409252" y="5261134"/>
            <a:ext cx="3495799" cy="35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9FFFC0"/>
                </a:solidFill>
                <a:latin typeface="Poppins Bold"/>
                <a:ea typeface="Poppins Bold"/>
                <a:cs typeface="Poppins Bold"/>
                <a:sym typeface="Poppins Bold"/>
              </a:rPr>
              <a:t>DESIGN TARGET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09252" y="5649401"/>
            <a:ext cx="2696613" cy="126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26"/>
              </a:lnSpc>
            </a:pPr>
            <a:r>
              <a:rPr lang="en-US" sz="7355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~1200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554713" y="6115269"/>
            <a:ext cx="5692073" cy="55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2"/>
              </a:lnSpc>
            </a:pPr>
            <a:r>
              <a:rPr lang="en-US" sz="345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PETRI DISHES / DAY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568448" y="6930476"/>
            <a:ext cx="9192387" cy="445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DCE7FF"/>
                </a:solidFill>
                <a:latin typeface="Poppins"/>
                <a:ea typeface="Poppins"/>
                <a:cs typeface="Poppins"/>
                <a:sym typeface="Poppins"/>
              </a:rPr>
              <a:t>Planning value for workflow, storage and robot duty cycle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14606445" y="5313455"/>
            <a:ext cx="1974209" cy="491738"/>
          </a:xfrm>
          <a:custGeom>
            <a:avLst/>
            <a:gdLst/>
            <a:ahLst/>
            <a:cxnLst/>
            <a:rect r="r" b="b" t="t" l="l"/>
            <a:pathLst>
              <a:path h="491738" w="1974209">
                <a:moveTo>
                  <a:pt x="0" y="0"/>
                </a:moveTo>
                <a:lnTo>
                  <a:pt x="1974208" y="0"/>
                </a:lnTo>
                <a:lnTo>
                  <a:pt x="1974208" y="491737"/>
                </a:lnTo>
                <a:lnTo>
                  <a:pt x="0" y="49173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0">
            <a:off x="14618960" y="5339696"/>
            <a:ext cx="1949196" cy="384353"/>
            <a:chOff x="0" y="0"/>
            <a:chExt cx="2598928" cy="51247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598928" cy="512445"/>
            </a:xfrm>
            <a:custGeom>
              <a:avLst/>
              <a:gdLst/>
              <a:ahLst/>
              <a:cxnLst/>
              <a:rect r="r" b="b" t="t" l="l"/>
              <a:pathLst>
                <a:path h="512445" w="2598928">
                  <a:moveTo>
                    <a:pt x="0" y="0"/>
                  </a:moveTo>
                  <a:lnTo>
                    <a:pt x="2598928" y="0"/>
                  </a:lnTo>
                  <a:lnTo>
                    <a:pt x="2598928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48750" r="0" b="-48753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4618960" y="5325408"/>
            <a:ext cx="1949196" cy="398640"/>
            <a:chOff x="0" y="0"/>
            <a:chExt cx="2598928" cy="5315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598928" cy="531521"/>
            </a:xfrm>
            <a:custGeom>
              <a:avLst/>
              <a:gdLst/>
              <a:ahLst/>
              <a:cxnLst/>
              <a:rect r="r" b="b" t="t" l="l"/>
              <a:pathLst>
                <a:path h="531521" w="2598928">
                  <a:moveTo>
                    <a:pt x="0" y="0"/>
                  </a:moveTo>
                  <a:lnTo>
                    <a:pt x="2598928" y="0"/>
                  </a:lnTo>
                  <a:lnTo>
                    <a:pt x="2598928" y="531521"/>
                  </a:lnTo>
                  <a:lnTo>
                    <a:pt x="0" y="531521"/>
                  </a:lnTo>
                  <a:close/>
                </a:path>
              </a:pathLst>
            </a:custGeom>
            <a:blipFill>
              <a:blip r:embed="rId11">
                <a:alphaModFix amt="0"/>
              </a:blip>
              <a:stretch>
                <a:fillRect l="0" t="-45274" r="0" b="-45274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2598928" cy="5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ASSUMPTION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942537" y="9790957"/>
            <a:ext cx="10908230" cy="220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200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IIT Delhi · ELD411 · Mid-Term Review 2026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980">
            <a:off x="891664" y="1912220"/>
            <a:ext cx="16514397" cy="0"/>
          </a:xfrm>
          <a:prstGeom prst="line">
            <a:avLst/>
          </a:prstGeom>
          <a:ln cap="rnd" w="9525">
            <a:solidFill>
              <a:srgbClr val="D5DB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2197191" y="2344312"/>
            <a:ext cx="5197535" cy="1296172"/>
          </a:xfrm>
          <a:custGeom>
            <a:avLst/>
            <a:gdLst/>
            <a:ahLst/>
            <a:cxnLst/>
            <a:rect r="r" b="b" t="t" l="l"/>
            <a:pathLst>
              <a:path h="1296172" w="5197535">
                <a:moveTo>
                  <a:pt x="0" y="0"/>
                </a:moveTo>
                <a:lnTo>
                  <a:pt x="5197535" y="0"/>
                </a:lnTo>
                <a:lnTo>
                  <a:pt x="5197535" y="1296172"/>
                </a:lnTo>
                <a:lnTo>
                  <a:pt x="0" y="12961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308148" y="3964067"/>
            <a:ext cx="5086579" cy="1296172"/>
          </a:xfrm>
          <a:custGeom>
            <a:avLst/>
            <a:gdLst/>
            <a:ahLst/>
            <a:cxnLst/>
            <a:rect r="r" b="b" t="t" l="l"/>
            <a:pathLst>
              <a:path h="1296172" w="5086579">
                <a:moveTo>
                  <a:pt x="0" y="0"/>
                </a:moveTo>
                <a:lnTo>
                  <a:pt x="5086578" y="0"/>
                </a:lnTo>
                <a:lnTo>
                  <a:pt x="5086578" y="1296171"/>
                </a:lnTo>
                <a:lnTo>
                  <a:pt x="0" y="12961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434954" y="5583822"/>
            <a:ext cx="4959772" cy="1296172"/>
          </a:xfrm>
          <a:custGeom>
            <a:avLst/>
            <a:gdLst/>
            <a:ahLst/>
            <a:cxnLst/>
            <a:rect r="r" b="b" t="t" l="l"/>
            <a:pathLst>
              <a:path h="1296172" w="4959772">
                <a:moveTo>
                  <a:pt x="0" y="0"/>
                </a:moveTo>
                <a:lnTo>
                  <a:pt x="4959772" y="0"/>
                </a:lnTo>
                <a:lnTo>
                  <a:pt x="4959772" y="1296171"/>
                </a:lnTo>
                <a:lnTo>
                  <a:pt x="0" y="12961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434954" y="7203567"/>
            <a:ext cx="4959772" cy="1296172"/>
          </a:xfrm>
          <a:custGeom>
            <a:avLst/>
            <a:gdLst/>
            <a:ahLst/>
            <a:cxnLst/>
            <a:rect r="r" b="b" t="t" l="l"/>
            <a:pathLst>
              <a:path h="1296172" w="4959772">
                <a:moveTo>
                  <a:pt x="0" y="0"/>
                </a:moveTo>
                <a:lnTo>
                  <a:pt x="4959772" y="0"/>
                </a:lnTo>
                <a:lnTo>
                  <a:pt x="4959772" y="1296172"/>
                </a:lnTo>
                <a:lnTo>
                  <a:pt x="0" y="129617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942537" y="2269388"/>
            <a:ext cx="10549223" cy="6896872"/>
            <a:chOff x="0" y="0"/>
            <a:chExt cx="14065631" cy="919582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065631" cy="9195816"/>
            </a:xfrm>
            <a:custGeom>
              <a:avLst/>
              <a:gdLst/>
              <a:ahLst/>
              <a:cxnLst/>
              <a:rect r="r" b="b" t="t" l="l"/>
              <a:pathLst>
                <a:path h="9195816" w="14065631">
                  <a:moveTo>
                    <a:pt x="0" y="0"/>
                  </a:moveTo>
                  <a:lnTo>
                    <a:pt x="14065631" y="0"/>
                  </a:lnTo>
                  <a:lnTo>
                    <a:pt x="14065631" y="9195816"/>
                  </a:lnTo>
                  <a:lnTo>
                    <a:pt x="0" y="91958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4703" t="0" r="-4704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942537" y="907523"/>
            <a:ext cx="16261652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Iteration - I  ·  3D-printer / gantry frame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810634" y="547545"/>
            <a:ext cx="544554" cy="349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0" b="true">
                <a:solidFill>
                  <a:srgbClr val="646E7A"/>
                </a:solidFill>
                <a:latin typeface="Poppins Bold"/>
                <a:ea typeface="Poppins Bold"/>
                <a:cs typeface="Poppins Bold"/>
                <a:sym typeface="Poppins Bold"/>
              </a:rPr>
              <a:t>04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598576" y="2579103"/>
            <a:ext cx="393554" cy="212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147644" y="2518867"/>
            <a:ext cx="3200000" cy="285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299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FULL XY GANTRY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147644" y="2918870"/>
            <a:ext cx="3200000" cy="607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050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Whole frame rides the gantry; nothing moves independently of it.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598576" y="4198858"/>
            <a:ext cx="393554" cy="212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147644" y="4138622"/>
            <a:ext cx="3200000" cy="285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299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RESTRICTED REACH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147644" y="4538624"/>
            <a:ext cx="3200000" cy="607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050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Gripper travel is tied to the frame axis — cannot reach every individual dish slot at the carousel.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598576" y="5818603"/>
            <a:ext cx="393554" cy="212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9FFFC0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147644" y="5758377"/>
            <a:ext cx="3200000" cy="285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2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MATERIAL WASTE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147644" y="6158379"/>
            <a:ext cx="3200000" cy="607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050">
                <a:solidFill>
                  <a:srgbClr val="DCE7FF"/>
                </a:solidFill>
                <a:latin typeface="Poppins"/>
                <a:ea typeface="Poppins"/>
                <a:cs typeface="Poppins"/>
                <a:sym typeface="Poppins"/>
              </a:rPr>
              <a:t>Rails sized to the full base footprint even though only the carousel radius is used.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598576" y="7438358"/>
            <a:ext cx="393554" cy="212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04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147644" y="7378132"/>
            <a:ext cx="3200000" cy="285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299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VERDICT: REJECTED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147644" y="7778134"/>
            <a:ext cx="3200000" cy="607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050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Frame motion, not the gripper, was the actual constraint. Scrapped before build.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42537" y="9790957"/>
            <a:ext cx="10908230" cy="220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200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IIT Delhi · ELD411 · Mid-Term Review 2026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980">
            <a:off x="891664" y="1912220"/>
            <a:ext cx="16514397" cy="0"/>
          </a:xfrm>
          <a:prstGeom prst="line">
            <a:avLst/>
          </a:prstGeom>
          <a:ln cap="rnd" w="9525">
            <a:solidFill>
              <a:srgbClr val="D5DB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3243331" y="2344312"/>
            <a:ext cx="4151386" cy="1296172"/>
          </a:xfrm>
          <a:custGeom>
            <a:avLst/>
            <a:gdLst/>
            <a:ahLst/>
            <a:cxnLst/>
            <a:rect r="r" b="b" t="t" l="l"/>
            <a:pathLst>
              <a:path h="1296172" w="4151386">
                <a:moveTo>
                  <a:pt x="0" y="0"/>
                </a:moveTo>
                <a:lnTo>
                  <a:pt x="4151386" y="0"/>
                </a:lnTo>
                <a:lnTo>
                  <a:pt x="4151386" y="1296172"/>
                </a:lnTo>
                <a:lnTo>
                  <a:pt x="0" y="12961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243331" y="3964067"/>
            <a:ext cx="4151386" cy="1296172"/>
          </a:xfrm>
          <a:custGeom>
            <a:avLst/>
            <a:gdLst/>
            <a:ahLst/>
            <a:cxnLst/>
            <a:rect r="r" b="b" t="t" l="l"/>
            <a:pathLst>
              <a:path h="1296172" w="4151386">
                <a:moveTo>
                  <a:pt x="0" y="0"/>
                </a:moveTo>
                <a:lnTo>
                  <a:pt x="4151386" y="0"/>
                </a:lnTo>
                <a:lnTo>
                  <a:pt x="4151386" y="1296171"/>
                </a:lnTo>
                <a:lnTo>
                  <a:pt x="0" y="12961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243331" y="5583822"/>
            <a:ext cx="4151386" cy="1296172"/>
          </a:xfrm>
          <a:custGeom>
            <a:avLst/>
            <a:gdLst/>
            <a:ahLst/>
            <a:cxnLst/>
            <a:rect r="r" b="b" t="t" l="l"/>
            <a:pathLst>
              <a:path h="1296172" w="4151386">
                <a:moveTo>
                  <a:pt x="0" y="0"/>
                </a:moveTo>
                <a:lnTo>
                  <a:pt x="4151386" y="0"/>
                </a:lnTo>
                <a:lnTo>
                  <a:pt x="4151386" y="1296171"/>
                </a:lnTo>
                <a:lnTo>
                  <a:pt x="0" y="12961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243331" y="7203567"/>
            <a:ext cx="4151386" cy="1296172"/>
          </a:xfrm>
          <a:custGeom>
            <a:avLst/>
            <a:gdLst/>
            <a:ahLst/>
            <a:cxnLst/>
            <a:rect r="r" b="b" t="t" l="l"/>
            <a:pathLst>
              <a:path h="1296172" w="4151386">
                <a:moveTo>
                  <a:pt x="0" y="0"/>
                </a:moveTo>
                <a:lnTo>
                  <a:pt x="4151386" y="0"/>
                </a:lnTo>
                <a:lnTo>
                  <a:pt x="4151386" y="1296172"/>
                </a:lnTo>
                <a:lnTo>
                  <a:pt x="0" y="12961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896436" y="2049342"/>
            <a:ext cx="11957113" cy="7285596"/>
            <a:chOff x="0" y="0"/>
            <a:chExt cx="15942818" cy="971412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942818" cy="9714103"/>
            </a:xfrm>
            <a:custGeom>
              <a:avLst/>
              <a:gdLst/>
              <a:ahLst/>
              <a:cxnLst/>
              <a:rect r="r" b="b" t="t" l="l"/>
              <a:pathLst>
                <a:path h="9714103" w="15942818">
                  <a:moveTo>
                    <a:pt x="0" y="0"/>
                  </a:moveTo>
                  <a:lnTo>
                    <a:pt x="15942818" y="0"/>
                  </a:lnTo>
                  <a:lnTo>
                    <a:pt x="15942818" y="9714103"/>
                  </a:lnTo>
                  <a:lnTo>
                    <a:pt x="0" y="97141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942537" y="907523"/>
            <a:ext cx="16261652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Iteration - II  ·  SCARA arm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810634" y="547545"/>
            <a:ext cx="544554" cy="349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0" b="true">
                <a:solidFill>
                  <a:srgbClr val="646E7A"/>
                </a:solidFill>
                <a:latin typeface="Poppins Bold"/>
                <a:ea typeface="Poppins Bold"/>
                <a:cs typeface="Poppins Bold"/>
                <a:sym typeface="Poppins Bold"/>
              </a:rPr>
              <a:t>05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598576" y="2579103"/>
            <a:ext cx="393554" cy="212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147644" y="2518867"/>
            <a:ext cx="3200000" cy="285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299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FULL WORKSPACE REACH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147644" y="2918870"/>
            <a:ext cx="3200000" cy="607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050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Arm swept the entire carousel; range of motion was exactly enough.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598576" y="4198858"/>
            <a:ext cx="393554" cy="212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147644" y="4138622"/>
            <a:ext cx="3200000" cy="285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299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HARDER CONTROL MATH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147644" y="4538624"/>
            <a:ext cx="3200000" cy="607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050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Coupled joint angles replace simple XY moves — more complex than iteration I.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598576" y="5818603"/>
            <a:ext cx="393554" cy="212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9FFFC0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147644" y="5758377"/>
            <a:ext cx="3200000" cy="285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2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FULLY CUSTOM BUILD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147644" y="6158379"/>
            <a:ext cx="3200000" cy="607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050">
                <a:solidFill>
                  <a:srgbClr val="DCE7FF"/>
                </a:solidFill>
                <a:latin typeface="Poppins"/>
                <a:ea typeface="Poppins"/>
                <a:cs typeface="Poppins"/>
                <a:sym typeface="Poppins"/>
              </a:rPr>
              <a:t>Every link had to be designed and 3D-printed from zero — no off-the-shelf part fit.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598576" y="7438358"/>
            <a:ext cx="393554" cy="212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04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147644" y="7378132"/>
            <a:ext cx="3200000" cy="285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299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VERDICT: TOO SLOW TO BUILD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147644" y="7778134"/>
            <a:ext cx="3200000" cy="607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050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Print-fit-reprint cycles on every joint made the build timeline the real blocker.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42537" y="9790957"/>
            <a:ext cx="10908230" cy="220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200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IIT Delhi · ELD411 · Mid-Term Review 2026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5940">
            <a:off x="886797" y="1401318"/>
            <a:ext cx="16514407" cy="0"/>
          </a:xfrm>
          <a:prstGeom prst="line">
            <a:avLst/>
          </a:prstGeom>
          <a:ln cap="rnd" w="9525">
            <a:solidFill>
              <a:srgbClr val="D5DB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599856" y="1462935"/>
            <a:ext cx="17072810" cy="8551640"/>
          </a:xfrm>
          <a:custGeom>
            <a:avLst/>
            <a:gdLst/>
            <a:ahLst/>
            <a:cxnLst/>
            <a:rect r="r" b="b" t="t" l="l"/>
            <a:pathLst>
              <a:path h="8551640" w="17072810">
                <a:moveTo>
                  <a:pt x="0" y="0"/>
                </a:moveTo>
                <a:lnTo>
                  <a:pt x="17072810" y="0"/>
                </a:lnTo>
                <a:lnTo>
                  <a:pt x="17072810" y="8551640"/>
                </a:lnTo>
                <a:lnTo>
                  <a:pt x="0" y="85516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158832" y="1535268"/>
            <a:ext cx="13698750" cy="8479317"/>
            <a:chOff x="0" y="0"/>
            <a:chExt cx="18265000" cy="113057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65012" cy="11305794"/>
            </a:xfrm>
            <a:custGeom>
              <a:avLst/>
              <a:gdLst/>
              <a:ahLst/>
              <a:cxnLst/>
              <a:rect r="r" b="b" t="t" l="l"/>
              <a:pathLst>
                <a:path h="11305794" w="18265012">
                  <a:moveTo>
                    <a:pt x="0" y="0"/>
                  </a:moveTo>
                  <a:lnTo>
                    <a:pt x="18265012" y="0"/>
                  </a:lnTo>
                  <a:lnTo>
                    <a:pt x="18265012" y="11305794"/>
                  </a:lnTo>
                  <a:lnTo>
                    <a:pt x="0" y="113057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4" t="0" r="-114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933012" y="431282"/>
            <a:ext cx="7888348" cy="376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0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FULL-PROJECT LAYOUT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77386" y="610133"/>
            <a:ext cx="16261652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Final design  ·  6-DOF arm replaces the SCARA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810634" y="547545"/>
            <a:ext cx="544554" cy="349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0" b="true">
                <a:solidFill>
                  <a:srgbClr val="646E7A"/>
                </a:solidFill>
                <a:latin typeface="Poppins Bold"/>
                <a:ea typeface="Poppins Bold"/>
                <a:cs typeface="Poppins Bold"/>
                <a:sym typeface="Poppins Bold"/>
              </a:rPr>
              <a:t>06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09651" y="10066563"/>
            <a:ext cx="10908230" cy="220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200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IIT Delhi · ELD411 · Mid-Term Review 2026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291152" y="2085594"/>
            <a:ext cx="256032" cy="256032"/>
            <a:chOff x="0" y="0"/>
            <a:chExt cx="341376" cy="34137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170688"/>
                  </a:moveTo>
                  <a:cubicBezTo>
                    <a:pt x="0" y="76454"/>
                    <a:pt x="76454" y="0"/>
                    <a:pt x="170688" y="0"/>
                  </a:cubicBezTo>
                  <a:cubicBezTo>
                    <a:pt x="264922" y="0"/>
                    <a:pt x="341376" y="76454"/>
                    <a:pt x="341376" y="170688"/>
                  </a:cubicBezTo>
                  <a:cubicBezTo>
                    <a:pt x="341376" y="264922"/>
                    <a:pt x="264922" y="341376"/>
                    <a:pt x="170688" y="341376"/>
                  </a:cubicBezTo>
                  <a:cubicBezTo>
                    <a:pt x="76454" y="341376"/>
                    <a:pt x="0" y="264922"/>
                    <a:pt x="0" y="170688"/>
                  </a:cubicBezTo>
                  <a:close/>
                </a:path>
              </a:pathLst>
            </a:custGeom>
            <a:solidFill>
              <a:srgbClr val="180E66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291152" y="2081022"/>
            <a:ext cx="256032" cy="256032"/>
            <a:chOff x="0" y="0"/>
            <a:chExt cx="341376" cy="34137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341376"/>
                  </a:lnTo>
                  <a:lnTo>
                    <a:pt x="0" y="34137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341376" cy="3509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39"/>
                </a:lnSpc>
              </a:pPr>
              <a:r>
                <a:rPr lang="en-US" sz="12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210986" y="1775146"/>
            <a:ext cx="2804798" cy="473078"/>
            <a:chOff x="0" y="0"/>
            <a:chExt cx="3739731" cy="63077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0541" y="10541"/>
              <a:ext cx="3718560" cy="609600"/>
            </a:xfrm>
            <a:custGeom>
              <a:avLst/>
              <a:gdLst/>
              <a:ahLst/>
              <a:cxnLst/>
              <a:rect r="r" b="b" t="t" l="l"/>
              <a:pathLst>
                <a:path h="609600" w="3718560">
                  <a:moveTo>
                    <a:pt x="0" y="101600"/>
                  </a:moveTo>
                  <a:cubicBezTo>
                    <a:pt x="0" y="45466"/>
                    <a:pt x="46863" y="0"/>
                    <a:pt x="104521" y="0"/>
                  </a:cubicBezTo>
                  <a:lnTo>
                    <a:pt x="3614039" y="0"/>
                  </a:lnTo>
                  <a:cubicBezTo>
                    <a:pt x="3671824" y="0"/>
                    <a:pt x="3718560" y="45466"/>
                    <a:pt x="3718560" y="101600"/>
                  </a:cubicBezTo>
                  <a:lnTo>
                    <a:pt x="3718560" y="508000"/>
                  </a:lnTo>
                  <a:cubicBezTo>
                    <a:pt x="3718560" y="564134"/>
                    <a:pt x="3671697" y="609600"/>
                    <a:pt x="3614039" y="609600"/>
                  </a:cubicBezTo>
                  <a:lnTo>
                    <a:pt x="104521" y="609600"/>
                  </a:lnTo>
                  <a:cubicBezTo>
                    <a:pt x="46736" y="609600"/>
                    <a:pt x="0" y="564134"/>
                    <a:pt x="0" y="5080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739642" cy="630682"/>
            </a:xfrm>
            <a:custGeom>
              <a:avLst/>
              <a:gdLst/>
              <a:ahLst/>
              <a:cxnLst/>
              <a:rect r="r" b="b" t="t" l="l"/>
              <a:pathLst>
                <a:path h="630682" w="3739642">
                  <a:moveTo>
                    <a:pt x="0" y="112141"/>
                  </a:moveTo>
                  <a:cubicBezTo>
                    <a:pt x="0" y="49911"/>
                    <a:pt x="51816" y="0"/>
                    <a:pt x="115062" y="0"/>
                  </a:cubicBezTo>
                  <a:lnTo>
                    <a:pt x="3624580" y="0"/>
                  </a:lnTo>
                  <a:lnTo>
                    <a:pt x="3624580" y="10541"/>
                  </a:lnTo>
                  <a:lnTo>
                    <a:pt x="3624580" y="0"/>
                  </a:lnTo>
                  <a:cubicBezTo>
                    <a:pt x="3687826" y="0"/>
                    <a:pt x="3739642" y="49911"/>
                    <a:pt x="3739642" y="112141"/>
                  </a:cubicBezTo>
                  <a:lnTo>
                    <a:pt x="3729101" y="112141"/>
                  </a:lnTo>
                  <a:lnTo>
                    <a:pt x="3739642" y="112141"/>
                  </a:lnTo>
                  <a:lnTo>
                    <a:pt x="3739642" y="518541"/>
                  </a:lnTo>
                  <a:lnTo>
                    <a:pt x="3729101" y="518541"/>
                  </a:lnTo>
                  <a:lnTo>
                    <a:pt x="3739642" y="518541"/>
                  </a:lnTo>
                  <a:cubicBezTo>
                    <a:pt x="3739642" y="580771"/>
                    <a:pt x="3687826" y="630682"/>
                    <a:pt x="3624580" y="630682"/>
                  </a:cubicBezTo>
                  <a:lnTo>
                    <a:pt x="3624580" y="620141"/>
                  </a:lnTo>
                  <a:lnTo>
                    <a:pt x="3624580" y="630682"/>
                  </a:lnTo>
                  <a:lnTo>
                    <a:pt x="115062" y="630682"/>
                  </a:lnTo>
                  <a:lnTo>
                    <a:pt x="115062" y="620141"/>
                  </a:lnTo>
                  <a:lnTo>
                    <a:pt x="115062" y="630682"/>
                  </a:lnTo>
                  <a:cubicBezTo>
                    <a:pt x="51816" y="630809"/>
                    <a:pt x="0" y="580771"/>
                    <a:pt x="0" y="518541"/>
                  </a:cubicBezTo>
                  <a:lnTo>
                    <a:pt x="0" y="112141"/>
                  </a:lnTo>
                  <a:lnTo>
                    <a:pt x="10541" y="112141"/>
                  </a:lnTo>
                  <a:lnTo>
                    <a:pt x="0" y="112141"/>
                  </a:lnTo>
                  <a:moveTo>
                    <a:pt x="21209" y="112141"/>
                  </a:moveTo>
                  <a:lnTo>
                    <a:pt x="21209" y="518541"/>
                  </a:lnTo>
                  <a:lnTo>
                    <a:pt x="10541" y="518541"/>
                  </a:lnTo>
                  <a:lnTo>
                    <a:pt x="21082" y="518541"/>
                  </a:lnTo>
                  <a:cubicBezTo>
                    <a:pt x="21082" y="568579"/>
                    <a:pt x="62865" y="609600"/>
                    <a:pt x="115062" y="609600"/>
                  </a:cubicBezTo>
                  <a:lnTo>
                    <a:pt x="3624580" y="609600"/>
                  </a:lnTo>
                  <a:cubicBezTo>
                    <a:pt x="3676777" y="609600"/>
                    <a:pt x="3718560" y="568579"/>
                    <a:pt x="3718560" y="518541"/>
                  </a:cubicBezTo>
                  <a:lnTo>
                    <a:pt x="3718560" y="112141"/>
                  </a:lnTo>
                  <a:cubicBezTo>
                    <a:pt x="3718560" y="62103"/>
                    <a:pt x="3676777" y="21082"/>
                    <a:pt x="3624580" y="21082"/>
                  </a:cubicBezTo>
                  <a:lnTo>
                    <a:pt x="115062" y="21082"/>
                  </a:lnTo>
                  <a:lnTo>
                    <a:pt x="115062" y="10541"/>
                  </a:lnTo>
                  <a:lnTo>
                    <a:pt x="115062" y="21082"/>
                  </a:lnTo>
                  <a:cubicBezTo>
                    <a:pt x="62865" y="21082"/>
                    <a:pt x="21082" y="62103"/>
                    <a:pt x="21082" y="112141"/>
                  </a:cubicBezTo>
                  <a:close/>
                </a:path>
              </a:pathLst>
            </a:custGeom>
            <a:solidFill>
              <a:srgbClr val="D5DBE8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4310360" y="1883664"/>
            <a:ext cx="256032" cy="256032"/>
            <a:chOff x="0" y="0"/>
            <a:chExt cx="341376" cy="34137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170688"/>
                  </a:moveTo>
                  <a:cubicBezTo>
                    <a:pt x="0" y="76454"/>
                    <a:pt x="76454" y="0"/>
                    <a:pt x="170688" y="0"/>
                  </a:cubicBezTo>
                  <a:cubicBezTo>
                    <a:pt x="264922" y="0"/>
                    <a:pt x="341376" y="76454"/>
                    <a:pt x="341376" y="170688"/>
                  </a:cubicBezTo>
                  <a:cubicBezTo>
                    <a:pt x="341376" y="264922"/>
                    <a:pt x="264922" y="341376"/>
                    <a:pt x="170688" y="341376"/>
                  </a:cubicBezTo>
                  <a:cubicBezTo>
                    <a:pt x="76454" y="341376"/>
                    <a:pt x="0" y="264922"/>
                    <a:pt x="0" y="170688"/>
                  </a:cubicBezTo>
                  <a:close/>
                </a:path>
              </a:pathLst>
            </a:custGeom>
            <a:solidFill>
              <a:srgbClr val="180E66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4310360" y="1888236"/>
            <a:ext cx="256032" cy="256032"/>
            <a:chOff x="0" y="0"/>
            <a:chExt cx="341376" cy="34137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341376"/>
                  </a:lnTo>
                  <a:lnTo>
                    <a:pt x="0" y="34137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341376" cy="3604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20"/>
                </a:lnSpc>
              </a:pPr>
              <a:r>
                <a:rPr lang="en-US" sz="11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4666976" y="1855851"/>
            <a:ext cx="2231136" cy="320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>
                <a:solidFill>
                  <a:srgbClr val="19202A"/>
                </a:solidFill>
                <a:latin typeface="Poppins"/>
                <a:ea typeface="Poppins"/>
                <a:cs typeface="Poppins"/>
                <a:sym typeface="Poppins"/>
              </a:rPr>
              <a:t>Frame — aluminium extrusion cell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154163" y="4290222"/>
            <a:ext cx="256032" cy="256032"/>
            <a:chOff x="0" y="0"/>
            <a:chExt cx="341376" cy="34137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170688"/>
                  </a:moveTo>
                  <a:cubicBezTo>
                    <a:pt x="0" y="76454"/>
                    <a:pt x="76454" y="0"/>
                    <a:pt x="170688" y="0"/>
                  </a:cubicBezTo>
                  <a:cubicBezTo>
                    <a:pt x="264922" y="0"/>
                    <a:pt x="341376" y="76454"/>
                    <a:pt x="341376" y="170688"/>
                  </a:cubicBezTo>
                  <a:cubicBezTo>
                    <a:pt x="341376" y="264922"/>
                    <a:pt x="264922" y="341376"/>
                    <a:pt x="170688" y="341376"/>
                  </a:cubicBezTo>
                  <a:cubicBezTo>
                    <a:pt x="76454" y="341376"/>
                    <a:pt x="0" y="264922"/>
                    <a:pt x="0" y="170688"/>
                  </a:cubicBezTo>
                  <a:close/>
                </a:path>
              </a:pathLst>
            </a:custGeom>
            <a:solidFill>
              <a:srgbClr val="180E66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154163" y="4285650"/>
            <a:ext cx="256032" cy="256032"/>
            <a:chOff x="0" y="0"/>
            <a:chExt cx="341376" cy="34137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341376"/>
                  </a:lnTo>
                  <a:lnTo>
                    <a:pt x="0" y="34137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341376" cy="3509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39"/>
                </a:lnSpc>
              </a:pPr>
              <a:r>
                <a:rPr lang="en-US" sz="12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210986" y="2342074"/>
            <a:ext cx="2804798" cy="473078"/>
            <a:chOff x="0" y="0"/>
            <a:chExt cx="3739731" cy="63077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0541" y="10541"/>
              <a:ext cx="3718560" cy="609600"/>
            </a:xfrm>
            <a:custGeom>
              <a:avLst/>
              <a:gdLst/>
              <a:ahLst/>
              <a:cxnLst/>
              <a:rect r="r" b="b" t="t" l="l"/>
              <a:pathLst>
                <a:path h="609600" w="3718560">
                  <a:moveTo>
                    <a:pt x="0" y="101600"/>
                  </a:moveTo>
                  <a:cubicBezTo>
                    <a:pt x="0" y="45466"/>
                    <a:pt x="46863" y="0"/>
                    <a:pt x="104521" y="0"/>
                  </a:cubicBezTo>
                  <a:lnTo>
                    <a:pt x="3614039" y="0"/>
                  </a:lnTo>
                  <a:cubicBezTo>
                    <a:pt x="3671824" y="0"/>
                    <a:pt x="3718560" y="45466"/>
                    <a:pt x="3718560" y="101600"/>
                  </a:cubicBezTo>
                  <a:lnTo>
                    <a:pt x="3718560" y="508000"/>
                  </a:lnTo>
                  <a:cubicBezTo>
                    <a:pt x="3718560" y="564134"/>
                    <a:pt x="3671697" y="609600"/>
                    <a:pt x="3614039" y="609600"/>
                  </a:cubicBezTo>
                  <a:lnTo>
                    <a:pt x="104521" y="609600"/>
                  </a:lnTo>
                  <a:cubicBezTo>
                    <a:pt x="46736" y="609600"/>
                    <a:pt x="0" y="564134"/>
                    <a:pt x="0" y="5080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739642" cy="630682"/>
            </a:xfrm>
            <a:custGeom>
              <a:avLst/>
              <a:gdLst/>
              <a:ahLst/>
              <a:cxnLst/>
              <a:rect r="r" b="b" t="t" l="l"/>
              <a:pathLst>
                <a:path h="630682" w="3739642">
                  <a:moveTo>
                    <a:pt x="0" y="112141"/>
                  </a:moveTo>
                  <a:cubicBezTo>
                    <a:pt x="0" y="49911"/>
                    <a:pt x="51816" y="0"/>
                    <a:pt x="115062" y="0"/>
                  </a:cubicBezTo>
                  <a:lnTo>
                    <a:pt x="3624580" y="0"/>
                  </a:lnTo>
                  <a:lnTo>
                    <a:pt x="3624580" y="10541"/>
                  </a:lnTo>
                  <a:lnTo>
                    <a:pt x="3624580" y="0"/>
                  </a:lnTo>
                  <a:cubicBezTo>
                    <a:pt x="3687826" y="0"/>
                    <a:pt x="3739642" y="49911"/>
                    <a:pt x="3739642" y="112141"/>
                  </a:cubicBezTo>
                  <a:lnTo>
                    <a:pt x="3729101" y="112141"/>
                  </a:lnTo>
                  <a:lnTo>
                    <a:pt x="3739642" y="112141"/>
                  </a:lnTo>
                  <a:lnTo>
                    <a:pt x="3739642" y="518541"/>
                  </a:lnTo>
                  <a:lnTo>
                    <a:pt x="3729101" y="518541"/>
                  </a:lnTo>
                  <a:lnTo>
                    <a:pt x="3739642" y="518541"/>
                  </a:lnTo>
                  <a:cubicBezTo>
                    <a:pt x="3739642" y="580771"/>
                    <a:pt x="3687826" y="630682"/>
                    <a:pt x="3624580" y="630682"/>
                  </a:cubicBezTo>
                  <a:lnTo>
                    <a:pt x="3624580" y="620141"/>
                  </a:lnTo>
                  <a:lnTo>
                    <a:pt x="3624580" y="630682"/>
                  </a:lnTo>
                  <a:lnTo>
                    <a:pt x="115062" y="630682"/>
                  </a:lnTo>
                  <a:lnTo>
                    <a:pt x="115062" y="620141"/>
                  </a:lnTo>
                  <a:lnTo>
                    <a:pt x="115062" y="630682"/>
                  </a:lnTo>
                  <a:cubicBezTo>
                    <a:pt x="51816" y="630809"/>
                    <a:pt x="0" y="580771"/>
                    <a:pt x="0" y="518541"/>
                  </a:cubicBezTo>
                  <a:lnTo>
                    <a:pt x="0" y="112141"/>
                  </a:lnTo>
                  <a:lnTo>
                    <a:pt x="10541" y="112141"/>
                  </a:lnTo>
                  <a:lnTo>
                    <a:pt x="0" y="112141"/>
                  </a:lnTo>
                  <a:moveTo>
                    <a:pt x="21209" y="112141"/>
                  </a:moveTo>
                  <a:lnTo>
                    <a:pt x="21209" y="518541"/>
                  </a:lnTo>
                  <a:lnTo>
                    <a:pt x="10541" y="518541"/>
                  </a:lnTo>
                  <a:lnTo>
                    <a:pt x="21082" y="518541"/>
                  </a:lnTo>
                  <a:cubicBezTo>
                    <a:pt x="21082" y="568579"/>
                    <a:pt x="62865" y="609600"/>
                    <a:pt x="115062" y="609600"/>
                  </a:cubicBezTo>
                  <a:lnTo>
                    <a:pt x="3624580" y="609600"/>
                  </a:lnTo>
                  <a:cubicBezTo>
                    <a:pt x="3676777" y="609600"/>
                    <a:pt x="3718560" y="568579"/>
                    <a:pt x="3718560" y="518541"/>
                  </a:cubicBezTo>
                  <a:lnTo>
                    <a:pt x="3718560" y="112141"/>
                  </a:lnTo>
                  <a:cubicBezTo>
                    <a:pt x="3718560" y="62103"/>
                    <a:pt x="3676777" y="21082"/>
                    <a:pt x="3624580" y="21082"/>
                  </a:cubicBezTo>
                  <a:lnTo>
                    <a:pt x="115062" y="21082"/>
                  </a:lnTo>
                  <a:lnTo>
                    <a:pt x="115062" y="10541"/>
                  </a:lnTo>
                  <a:lnTo>
                    <a:pt x="115062" y="21082"/>
                  </a:lnTo>
                  <a:cubicBezTo>
                    <a:pt x="62865" y="21082"/>
                    <a:pt x="21082" y="62103"/>
                    <a:pt x="21082" y="112141"/>
                  </a:cubicBezTo>
                  <a:close/>
                </a:path>
              </a:pathLst>
            </a:custGeom>
            <a:solidFill>
              <a:srgbClr val="D5DBE8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4310360" y="2450592"/>
            <a:ext cx="256032" cy="256032"/>
            <a:chOff x="0" y="0"/>
            <a:chExt cx="341376" cy="34137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170688"/>
                  </a:moveTo>
                  <a:cubicBezTo>
                    <a:pt x="0" y="76454"/>
                    <a:pt x="76454" y="0"/>
                    <a:pt x="170688" y="0"/>
                  </a:cubicBezTo>
                  <a:cubicBezTo>
                    <a:pt x="264922" y="0"/>
                    <a:pt x="341376" y="76454"/>
                    <a:pt x="341376" y="170688"/>
                  </a:cubicBezTo>
                  <a:cubicBezTo>
                    <a:pt x="341376" y="264922"/>
                    <a:pt x="264922" y="341376"/>
                    <a:pt x="170688" y="341376"/>
                  </a:cubicBezTo>
                  <a:cubicBezTo>
                    <a:pt x="76454" y="341376"/>
                    <a:pt x="0" y="264922"/>
                    <a:pt x="0" y="170688"/>
                  </a:cubicBezTo>
                  <a:close/>
                </a:path>
              </a:pathLst>
            </a:custGeom>
            <a:solidFill>
              <a:srgbClr val="180E66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4310360" y="2455164"/>
            <a:ext cx="256032" cy="256032"/>
            <a:chOff x="0" y="0"/>
            <a:chExt cx="341376" cy="34137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341376"/>
                  </a:lnTo>
                  <a:lnTo>
                    <a:pt x="0" y="34137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341376" cy="3604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20"/>
                </a:lnSpc>
              </a:pPr>
              <a:r>
                <a:rPr lang="en-US" sz="11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4666976" y="2422779"/>
            <a:ext cx="2231136" cy="320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>
                <a:solidFill>
                  <a:srgbClr val="19202A"/>
                </a:solidFill>
                <a:latin typeface="Poppins"/>
                <a:ea typeface="Poppins"/>
                <a:cs typeface="Poppins"/>
                <a:sym typeface="Poppins"/>
              </a:rPr>
              <a:t>Carousel A — dish storage column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1619938" y="4290222"/>
            <a:ext cx="256032" cy="256032"/>
            <a:chOff x="0" y="0"/>
            <a:chExt cx="341376" cy="34137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170688"/>
                  </a:moveTo>
                  <a:cubicBezTo>
                    <a:pt x="0" y="76454"/>
                    <a:pt x="76454" y="0"/>
                    <a:pt x="170688" y="0"/>
                  </a:cubicBezTo>
                  <a:cubicBezTo>
                    <a:pt x="264922" y="0"/>
                    <a:pt x="341376" y="76454"/>
                    <a:pt x="341376" y="170688"/>
                  </a:cubicBezTo>
                  <a:cubicBezTo>
                    <a:pt x="341376" y="264922"/>
                    <a:pt x="264922" y="341376"/>
                    <a:pt x="170688" y="341376"/>
                  </a:cubicBezTo>
                  <a:cubicBezTo>
                    <a:pt x="76454" y="341376"/>
                    <a:pt x="0" y="264922"/>
                    <a:pt x="0" y="170688"/>
                  </a:cubicBezTo>
                  <a:close/>
                </a:path>
              </a:pathLst>
            </a:custGeom>
            <a:solidFill>
              <a:srgbClr val="180E66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1619938" y="4285650"/>
            <a:ext cx="256032" cy="256032"/>
            <a:chOff x="0" y="0"/>
            <a:chExt cx="341376" cy="34137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341376"/>
                  </a:lnTo>
                  <a:lnTo>
                    <a:pt x="0" y="34137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341376" cy="3509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39"/>
                </a:lnSpc>
              </a:pPr>
              <a:r>
                <a:rPr lang="en-US" sz="12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3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4210986" y="2909002"/>
            <a:ext cx="2804798" cy="473078"/>
            <a:chOff x="0" y="0"/>
            <a:chExt cx="3739731" cy="630771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10541" y="10541"/>
              <a:ext cx="3718560" cy="609600"/>
            </a:xfrm>
            <a:custGeom>
              <a:avLst/>
              <a:gdLst/>
              <a:ahLst/>
              <a:cxnLst/>
              <a:rect r="r" b="b" t="t" l="l"/>
              <a:pathLst>
                <a:path h="609600" w="3718560">
                  <a:moveTo>
                    <a:pt x="0" y="101600"/>
                  </a:moveTo>
                  <a:cubicBezTo>
                    <a:pt x="0" y="45466"/>
                    <a:pt x="46863" y="0"/>
                    <a:pt x="104521" y="0"/>
                  </a:cubicBezTo>
                  <a:lnTo>
                    <a:pt x="3614039" y="0"/>
                  </a:lnTo>
                  <a:cubicBezTo>
                    <a:pt x="3671824" y="0"/>
                    <a:pt x="3718560" y="45466"/>
                    <a:pt x="3718560" y="101600"/>
                  </a:cubicBezTo>
                  <a:lnTo>
                    <a:pt x="3718560" y="508000"/>
                  </a:lnTo>
                  <a:cubicBezTo>
                    <a:pt x="3718560" y="564134"/>
                    <a:pt x="3671697" y="609600"/>
                    <a:pt x="3614039" y="609600"/>
                  </a:cubicBezTo>
                  <a:lnTo>
                    <a:pt x="104521" y="609600"/>
                  </a:lnTo>
                  <a:cubicBezTo>
                    <a:pt x="46736" y="609600"/>
                    <a:pt x="0" y="564134"/>
                    <a:pt x="0" y="5080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739642" cy="630682"/>
            </a:xfrm>
            <a:custGeom>
              <a:avLst/>
              <a:gdLst/>
              <a:ahLst/>
              <a:cxnLst/>
              <a:rect r="r" b="b" t="t" l="l"/>
              <a:pathLst>
                <a:path h="630682" w="3739642">
                  <a:moveTo>
                    <a:pt x="0" y="112141"/>
                  </a:moveTo>
                  <a:cubicBezTo>
                    <a:pt x="0" y="49911"/>
                    <a:pt x="51816" y="0"/>
                    <a:pt x="115062" y="0"/>
                  </a:cubicBezTo>
                  <a:lnTo>
                    <a:pt x="3624580" y="0"/>
                  </a:lnTo>
                  <a:lnTo>
                    <a:pt x="3624580" y="10541"/>
                  </a:lnTo>
                  <a:lnTo>
                    <a:pt x="3624580" y="0"/>
                  </a:lnTo>
                  <a:cubicBezTo>
                    <a:pt x="3687826" y="0"/>
                    <a:pt x="3739642" y="49911"/>
                    <a:pt x="3739642" y="112141"/>
                  </a:cubicBezTo>
                  <a:lnTo>
                    <a:pt x="3729101" y="112141"/>
                  </a:lnTo>
                  <a:lnTo>
                    <a:pt x="3739642" y="112141"/>
                  </a:lnTo>
                  <a:lnTo>
                    <a:pt x="3739642" y="518541"/>
                  </a:lnTo>
                  <a:lnTo>
                    <a:pt x="3729101" y="518541"/>
                  </a:lnTo>
                  <a:lnTo>
                    <a:pt x="3739642" y="518541"/>
                  </a:lnTo>
                  <a:cubicBezTo>
                    <a:pt x="3739642" y="580771"/>
                    <a:pt x="3687826" y="630682"/>
                    <a:pt x="3624580" y="630682"/>
                  </a:cubicBezTo>
                  <a:lnTo>
                    <a:pt x="3624580" y="620141"/>
                  </a:lnTo>
                  <a:lnTo>
                    <a:pt x="3624580" y="630682"/>
                  </a:lnTo>
                  <a:lnTo>
                    <a:pt x="115062" y="630682"/>
                  </a:lnTo>
                  <a:lnTo>
                    <a:pt x="115062" y="620141"/>
                  </a:lnTo>
                  <a:lnTo>
                    <a:pt x="115062" y="630682"/>
                  </a:lnTo>
                  <a:cubicBezTo>
                    <a:pt x="51816" y="630809"/>
                    <a:pt x="0" y="580771"/>
                    <a:pt x="0" y="518541"/>
                  </a:cubicBezTo>
                  <a:lnTo>
                    <a:pt x="0" y="112141"/>
                  </a:lnTo>
                  <a:lnTo>
                    <a:pt x="10541" y="112141"/>
                  </a:lnTo>
                  <a:lnTo>
                    <a:pt x="0" y="112141"/>
                  </a:lnTo>
                  <a:moveTo>
                    <a:pt x="21209" y="112141"/>
                  </a:moveTo>
                  <a:lnTo>
                    <a:pt x="21209" y="518541"/>
                  </a:lnTo>
                  <a:lnTo>
                    <a:pt x="10541" y="518541"/>
                  </a:lnTo>
                  <a:lnTo>
                    <a:pt x="21082" y="518541"/>
                  </a:lnTo>
                  <a:cubicBezTo>
                    <a:pt x="21082" y="568579"/>
                    <a:pt x="62865" y="609600"/>
                    <a:pt x="115062" y="609600"/>
                  </a:cubicBezTo>
                  <a:lnTo>
                    <a:pt x="3624580" y="609600"/>
                  </a:lnTo>
                  <a:cubicBezTo>
                    <a:pt x="3676777" y="609600"/>
                    <a:pt x="3718560" y="568579"/>
                    <a:pt x="3718560" y="518541"/>
                  </a:cubicBezTo>
                  <a:lnTo>
                    <a:pt x="3718560" y="112141"/>
                  </a:lnTo>
                  <a:cubicBezTo>
                    <a:pt x="3718560" y="62103"/>
                    <a:pt x="3676777" y="21082"/>
                    <a:pt x="3624580" y="21082"/>
                  </a:cubicBezTo>
                  <a:lnTo>
                    <a:pt x="115062" y="21082"/>
                  </a:lnTo>
                  <a:lnTo>
                    <a:pt x="115062" y="10541"/>
                  </a:lnTo>
                  <a:lnTo>
                    <a:pt x="115062" y="21082"/>
                  </a:lnTo>
                  <a:cubicBezTo>
                    <a:pt x="62865" y="21082"/>
                    <a:pt x="21082" y="62103"/>
                    <a:pt x="21082" y="112141"/>
                  </a:cubicBezTo>
                  <a:close/>
                </a:path>
              </a:pathLst>
            </a:custGeom>
            <a:solidFill>
              <a:srgbClr val="D5DBE8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4310360" y="3017520"/>
            <a:ext cx="256032" cy="256032"/>
            <a:chOff x="0" y="0"/>
            <a:chExt cx="341376" cy="34137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170688"/>
                  </a:moveTo>
                  <a:cubicBezTo>
                    <a:pt x="0" y="76454"/>
                    <a:pt x="76454" y="0"/>
                    <a:pt x="170688" y="0"/>
                  </a:cubicBezTo>
                  <a:cubicBezTo>
                    <a:pt x="264922" y="0"/>
                    <a:pt x="341376" y="76454"/>
                    <a:pt x="341376" y="170688"/>
                  </a:cubicBezTo>
                  <a:cubicBezTo>
                    <a:pt x="341376" y="264922"/>
                    <a:pt x="264922" y="341376"/>
                    <a:pt x="170688" y="341376"/>
                  </a:cubicBezTo>
                  <a:cubicBezTo>
                    <a:pt x="76454" y="341376"/>
                    <a:pt x="0" y="264922"/>
                    <a:pt x="0" y="170688"/>
                  </a:cubicBezTo>
                  <a:close/>
                </a:path>
              </a:pathLst>
            </a:custGeom>
            <a:solidFill>
              <a:srgbClr val="180E66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4310360" y="3022092"/>
            <a:ext cx="256032" cy="256032"/>
            <a:chOff x="0" y="0"/>
            <a:chExt cx="341376" cy="34137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341376"/>
                  </a:lnTo>
                  <a:lnTo>
                    <a:pt x="0" y="34137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19050"/>
              <a:ext cx="341376" cy="3604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20"/>
                </a:lnSpc>
              </a:pPr>
              <a:r>
                <a:rPr lang="en-US" sz="11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3</a:t>
              </a: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14666976" y="2989707"/>
            <a:ext cx="2231136" cy="320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>
                <a:solidFill>
                  <a:srgbClr val="19202A"/>
                </a:solidFill>
                <a:latin typeface="Poppins"/>
                <a:ea typeface="Poppins"/>
                <a:cs typeface="Poppins"/>
                <a:sym typeface="Poppins"/>
              </a:rPr>
              <a:t>Carousel B — dish storage column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6140444" y="5138147"/>
            <a:ext cx="256032" cy="256032"/>
            <a:chOff x="0" y="0"/>
            <a:chExt cx="341376" cy="34137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170688"/>
                  </a:moveTo>
                  <a:cubicBezTo>
                    <a:pt x="0" y="76454"/>
                    <a:pt x="76454" y="0"/>
                    <a:pt x="170688" y="0"/>
                  </a:cubicBezTo>
                  <a:cubicBezTo>
                    <a:pt x="264922" y="0"/>
                    <a:pt x="341376" y="76454"/>
                    <a:pt x="341376" y="170688"/>
                  </a:cubicBezTo>
                  <a:cubicBezTo>
                    <a:pt x="341376" y="264922"/>
                    <a:pt x="264922" y="341376"/>
                    <a:pt x="170688" y="341376"/>
                  </a:cubicBezTo>
                  <a:cubicBezTo>
                    <a:pt x="76454" y="341376"/>
                    <a:pt x="0" y="264922"/>
                    <a:pt x="0" y="170688"/>
                  </a:cubicBezTo>
                  <a:close/>
                </a:path>
              </a:pathLst>
            </a:custGeom>
            <a:solidFill>
              <a:srgbClr val="180E66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6140444" y="5133575"/>
            <a:ext cx="256032" cy="256032"/>
            <a:chOff x="0" y="0"/>
            <a:chExt cx="341376" cy="34137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341376"/>
                  </a:lnTo>
                  <a:lnTo>
                    <a:pt x="0" y="34137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9525"/>
              <a:ext cx="341376" cy="3509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39"/>
                </a:lnSpc>
              </a:pPr>
              <a:r>
                <a:rPr lang="en-US" sz="12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4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4210986" y="3475930"/>
            <a:ext cx="2804798" cy="473078"/>
            <a:chOff x="0" y="0"/>
            <a:chExt cx="3739731" cy="630771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10541" y="10541"/>
              <a:ext cx="3718560" cy="609600"/>
            </a:xfrm>
            <a:custGeom>
              <a:avLst/>
              <a:gdLst/>
              <a:ahLst/>
              <a:cxnLst/>
              <a:rect r="r" b="b" t="t" l="l"/>
              <a:pathLst>
                <a:path h="609600" w="3718560">
                  <a:moveTo>
                    <a:pt x="0" y="101600"/>
                  </a:moveTo>
                  <a:cubicBezTo>
                    <a:pt x="0" y="45466"/>
                    <a:pt x="46863" y="0"/>
                    <a:pt x="104521" y="0"/>
                  </a:cubicBezTo>
                  <a:lnTo>
                    <a:pt x="3614039" y="0"/>
                  </a:lnTo>
                  <a:cubicBezTo>
                    <a:pt x="3671824" y="0"/>
                    <a:pt x="3718560" y="45466"/>
                    <a:pt x="3718560" y="101600"/>
                  </a:cubicBezTo>
                  <a:lnTo>
                    <a:pt x="3718560" y="508000"/>
                  </a:lnTo>
                  <a:cubicBezTo>
                    <a:pt x="3718560" y="564134"/>
                    <a:pt x="3671697" y="609600"/>
                    <a:pt x="3614039" y="609600"/>
                  </a:cubicBezTo>
                  <a:lnTo>
                    <a:pt x="104521" y="609600"/>
                  </a:lnTo>
                  <a:cubicBezTo>
                    <a:pt x="46736" y="609600"/>
                    <a:pt x="0" y="564134"/>
                    <a:pt x="0" y="5080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739642" cy="630682"/>
            </a:xfrm>
            <a:custGeom>
              <a:avLst/>
              <a:gdLst/>
              <a:ahLst/>
              <a:cxnLst/>
              <a:rect r="r" b="b" t="t" l="l"/>
              <a:pathLst>
                <a:path h="630682" w="3739642">
                  <a:moveTo>
                    <a:pt x="0" y="112141"/>
                  </a:moveTo>
                  <a:cubicBezTo>
                    <a:pt x="0" y="49911"/>
                    <a:pt x="51816" y="0"/>
                    <a:pt x="115062" y="0"/>
                  </a:cubicBezTo>
                  <a:lnTo>
                    <a:pt x="3624580" y="0"/>
                  </a:lnTo>
                  <a:lnTo>
                    <a:pt x="3624580" y="10541"/>
                  </a:lnTo>
                  <a:lnTo>
                    <a:pt x="3624580" y="0"/>
                  </a:lnTo>
                  <a:cubicBezTo>
                    <a:pt x="3687826" y="0"/>
                    <a:pt x="3739642" y="49911"/>
                    <a:pt x="3739642" y="112141"/>
                  </a:cubicBezTo>
                  <a:lnTo>
                    <a:pt x="3729101" y="112141"/>
                  </a:lnTo>
                  <a:lnTo>
                    <a:pt x="3739642" y="112141"/>
                  </a:lnTo>
                  <a:lnTo>
                    <a:pt x="3739642" y="518541"/>
                  </a:lnTo>
                  <a:lnTo>
                    <a:pt x="3729101" y="518541"/>
                  </a:lnTo>
                  <a:lnTo>
                    <a:pt x="3739642" y="518541"/>
                  </a:lnTo>
                  <a:cubicBezTo>
                    <a:pt x="3739642" y="580771"/>
                    <a:pt x="3687826" y="630682"/>
                    <a:pt x="3624580" y="630682"/>
                  </a:cubicBezTo>
                  <a:lnTo>
                    <a:pt x="3624580" y="620141"/>
                  </a:lnTo>
                  <a:lnTo>
                    <a:pt x="3624580" y="630682"/>
                  </a:lnTo>
                  <a:lnTo>
                    <a:pt x="115062" y="630682"/>
                  </a:lnTo>
                  <a:lnTo>
                    <a:pt x="115062" y="620141"/>
                  </a:lnTo>
                  <a:lnTo>
                    <a:pt x="115062" y="630682"/>
                  </a:lnTo>
                  <a:cubicBezTo>
                    <a:pt x="51816" y="630809"/>
                    <a:pt x="0" y="580771"/>
                    <a:pt x="0" y="518541"/>
                  </a:cubicBezTo>
                  <a:lnTo>
                    <a:pt x="0" y="112141"/>
                  </a:lnTo>
                  <a:lnTo>
                    <a:pt x="10541" y="112141"/>
                  </a:lnTo>
                  <a:lnTo>
                    <a:pt x="0" y="112141"/>
                  </a:lnTo>
                  <a:moveTo>
                    <a:pt x="21209" y="112141"/>
                  </a:moveTo>
                  <a:lnTo>
                    <a:pt x="21209" y="518541"/>
                  </a:lnTo>
                  <a:lnTo>
                    <a:pt x="10541" y="518541"/>
                  </a:lnTo>
                  <a:lnTo>
                    <a:pt x="21082" y="518541"/>
                  </a:lnTo>
                  <a:cubicBezTo>
                    <a:pt x="21082" y="568579"/>
                    <a:pt x="62865" y="609600"/>
                    <a:pt x="115062" y="609600"/>
                  </a:cubicBezTo>
                  <a:lnTo>
                    <a:pt x="3624580" y="609600"/>
                  </a:lnTo>
                  <a:cubicBezTo>
                    <a:pt x="3676777" y="609600"/>
                    <a:pt x="3718560" y="568579"/>
                    <a:pt x="3718560" y="518541"/>
                  </a:cubicBezTo>
                  <a:lnTo>
                    <a:pt x="3718560" y="112141"/>
                  </a:lnTo>
                  <a:cubicBezTo>
                    <a:pt x="3718560" y="62103"/>
                    <a:pt x="3676777" y="21082"/>
                    <a:pt x="3624580" y="21082"/>
                  </a:cubicBezTo>
                  <a:lnTo>
                    <a:pt x="115062" y="21082"/>
                  </a:lnTo>
                  <a:lnTo>
                    <a:pt x="115062" y="10541"/>
                  </a:lnTo>
                  <a:lnTo>
                    <a:pt x="115062" y="21082"/>
                  </a:lnTo>
                  <a:cubicBezTo>
                    <a:pt x="62865" y="21082"/>
                    <a:pt x="21082" y="62103"/>
                    <a:pt x="21082" y="112141"/>
                  </a:cubicBezTo>
                  <a:close/>
                </a:path>
              </a:pathLst>
            </a:custGeom>
            <a:solidFill>
              <a:srgbClr val="D5DBE8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4310360" y="3584448"/>
            <a:ext cx="256032" cy="256032"/>
            <a:chOff x="0" y="0"/>
            <a:chExt cx="341376" cy="34137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170688"/>
                  </a:moveTo>
                  <a:cubicBezTo>
                    <a:pt x="0" y="76454"/>
                    <a:pt x="76454" y="0"/>
                    <a:pt x="170688" y="0"/>
                  </a:cubicBezTo>
                  <a:cubicBezTo>
                    <a:pt x="264922" y="0"/>
                    <a:pt x="341376" y="76454"/>
                    <a:pt x="341376" y="170688"/>
                  </a:cubicBezTo>
                  <a:cubicBezTo>
                    <a:pt x="341376" y="264922"/>
                    <a:pt x="264922" y="341376"/>
                    <a:pt x="170688" y="341376"/>
                  </a:cubicBezTo>
                  <a:cubicBezTo>
                    <a:pt x="76454" y="341376"/>
                    <a:pt x="0" y="264922"/>
                    <a:pt x="0" y="170688"/>
                  </a:cubicBezTo>
                  <a:close/>
                </a:path>
              </a:pathLst>
            </a:custGeom>
            <a:solidFill>
              <a:srgbClr val="180E66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4310360" y="3589020"/>
            <a:ext cx="256032" cy="256032"/>
            <a:chOff x="0" y="0"/>
            <a:chExt cx="341376" cy="34137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341376"/>
                  </a:lnTo>
                  <a:lnTo>
                    <a:pt x="0" y="34137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19050"/>
              <a:ext cx="341376" cy="3604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20"/>
                </a:lnSpc>
              </a:pPr>
              <a:r>
                <a:rPr lang="en-US" sz="11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4</a:t>
              </a:r>
            </a:p>
          </p:txBody>
        </p:sp>
      </p:grpSp>
      <p:sp>
        <p:nvSpPr>
          <p:cNvPr name="TextBox 65" id="65"/>
          <p:cNvSpPr txBox="true"/>
          <p:nvPr/>
        </p:nvSpPr>
        <p:spPr>
          <a:xfrm rot="0">
            <a:off x="14666976" y="3556635"/>
            <a:ext cx="2231136" cy="320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>
                <a:solidFill>
                  <a:srgbClr val="19202A"/>
                </a:solidFill>
                <a:latin typeface="Poppins"/>
                <a:ea typeface="Poppins"/>
                <a:cs typeface="Poppins"/>
                <a:sym typeface="Poppins"/>
              </a:rPr>
              <a:t>Robotic arm — 6-DOF (final swap-in)</a:t>
            </a:r>
          </a:p>
        </p:txBody>
      </p:sp>
      <p:grpSp>
        <p:nvGrpSpPr>
          <p:cNvPr name="Group 66" id="66"/>
          <p:cNvGrpSpPr/>
          <p:nvPr/>
        </p:nvGrpSpPr>
        <p:grpSpPr>
          <a:xfrm rot="0">
            <a:off x="7784287" y="7427566"/>
            <a:ext cx="256032" cy="256032"/>
            <a:chOff x="0" y="0"/>
            <a:chExt cx="341376" cy="341376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170688"/>
                  </a:moveTo>
                  <a:cubicBezTo>
                    <a:pt x="0" y="76454"/>
                    <a:pt x="76454" y="0"/>
                    <a:pt x="170688" y="0"/>
                  </a:cubicBezTo>
                  <a:cubicBezTo>
                    <a:pt x="264922" y="0"/>
                    <a:pt x="341376" y="76454"/>
                    <a:pt x="341376" y="170688"/>
                  </a:cubicBezTo>
                  <a:cubicBezTo>
                    <a:pt x="341376" y="264922"/>
                    <a:pt x="264922" y="341376"/>
                    <a:pt x="170688" y="341376"/>
                  </a:cubicBezTo>
                  <a:cubicBezTo>
                    <a:pt x="76454" y="341376"/>
                    <a:pt x="0" y="264922"/>
                    <a:pt x="0" y="170688"/>
                  </a:cubicBezTo>
                  <a:close/>
                </a:path>
              </a:pathLst>
            </a:custGeom>
            <a:solidFill>
              <a:srgbClr val="180E66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7784287" y="7422994"/>
            <a:ext cx="256032" cy="256032"/>
            <a:chOff x="0" y="0"/>
            <a:chExt cx="341376" cy="34137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341376"/>
                  </a:lnTo>
                  <a:lnTo>
                    <a:pt x="0" y="34137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9525"/>
              <a:ext cx="341376" cy="3509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39"/>
                </a:lnSpc>
              </a:pPr>
              <a:r>
                <a:rPr lang="en-US" sz="12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5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4210986" y="4042858"/>
            <a:ext cx="2804798" cy="473078"/>
            <a:chOff x="0" y="0"/>
            <a:chExt cx="3739731" cy="630771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0541" y="10541"/>
              <a:ext cx="3718560" cy="609600"/>
            </a:xfrm>
            <a:custGeom>
              <a:avLst/>
              <a:gdLst/>
              <a:ahLst/>
              <a:cxnLst/>
              <a:rect r="r" b="b" t="t" l="l"/>
              <a:pathLst>
                <a:path h="609600" w="3718560">
                  <a:moveTo>
                    <a:pt x="0" y="101600"/>
                  </a:moveTo>
                  <a:cubicBezTo>
                    <a:pt x="0" y="45466"/>
                    <a:pt x="46863" y="0"/>
                    <a:pt x="104521" y="0"/>
                  </a:cubicBezTo>
                  <a:lnTo>
                    <a:pt x="3614039" y="0"/>
                  </a:lnTo>
                  <a:cubicBezTo>
                    <a:pt x="3671824" y="0"/>
                    <a:pt x="3718560" y="45466"/>
                    <a:pt x="3718560" y="101600"/>
                  </a:cubicBezTo>
                  <a:lnTo>
                    <a:pt x="3718560" y="508000"/>
                  </a:lnTo>
                  <a:cubicBezTo>
                    <a:pt x="3718560" y="564134"/>
                    <a:pt x="3671697" y="609600"/>
                    <a:pt x="3614039" y="609600"/>
                  </a:cubicBezTo>
                  <a:lnTo>
                    <a:pt x="104521" y="609600"/>
                  </a:lnTo>
                  <a:cubicBezTo>
                    <a:pt x="46736" y="609600"/>
                    <a:pt x="0" y="564134"/>
                    <a:pt x="0" y="5080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739642" cy="630682"/>
            </a:xfrm>
            <a:custGeom>
              <a:avLst/>
              <a:gdLst/>
              <a:ahLst/>
              <a:cxnLst/>
              <a:rect r="r" b="b" t="t" l="l"/>
              <a:pathLst>
                <a:path h="630682" w="3739642">
                  <a:moveTo>
                    <a:pt x="0" y="112141"/>
                  </a:moveTo>
                  <a:cubicBezTo>
                    <a:pt x="0" y="49911"/>
                    <a:pt x="51816" y="0"/>
                    <a:pt x="115062" y="0"/>
                  </a:cubicBezTo>
                  <a:lnTo>
                    <a:pt x="3624580" y="0"/>
                  </a:lnTo>
                  <a:lnTo>
                    <a:pt x="3624580" y="10541"/>
                  </a:lnTo>
                  <a:lnTo>
                    <a:pt x="3624580" y="0"/>
                  </a:lnTo>
                  <a:cubicBezTo>
                    <a:pt x="3687826" y="0"/>
                    <a:pt x="3739642" y="49911"/>
                    <a:pt x="3739642" y="112141"/>
                  </a:cubicBezTo>
                  <a:lnTo>
                    <a:pt x="3729101" y="112141"/>
                  </a:lnTo>
                  <a:lnTo>
                    <a:pt x="3739642" y="112141"/>
                  </a:lnTo>
                  <a:lnTo>
                    <a:pt x="3739642" y="518541"/>
                  </a:lnTo>
                  <a:lnTo>
                    <a:pt x="3729101" y="518541"/>
                  </a:lnTo>
                  <a:lnTo>
                    <a:pt x="3739642" y="518541"/>
                  </a:lnTo>
                  <a:cubicBezTo>
                    <a:pt x="3739642" y="580771"/>
                    <a:pt x="3687826" y="630682"/>
                    <a:pt x="3624580" y="630682"/>
                  </a:cubicBezTo>
                  <a:lnTo>
                    <a:pt x="3624580" y="620141"/>
                  </a:lnTo>
                  <a:lnTo>
                    <a:pt x="3624580" y="630682"/>
                  </a:lnTo>
                  <a:lnTo>
                    <a:pt x="115062" y="630682"/>
                  </a:lnTo>
                  <a:lnTo>
                    <a:pt x="115062" y="620141"/>
                  </a:lnTo>
                  <a:lnTo>
                    <a:pt x="115062" y="630682"/>
                  </a:lnTo>
                  <a:cubicBezTo>
                    <a:pt x="51816" y="630809"/>
                    <a:pt x="0" y="580771"/>
                    <a:pt x="0" y="518541"/>
                  </a:cubicBezTo>
                  <a:lnTo>
                    <a:pt x="0" y="112141"/>
                  </a:lnTo>
                  <a:lnTo>
                    <a:pt x="10541" y="112141"/>
                  </a:lnTo>
                  <a:lnTo>
                    <a:pt x="0" y="112141"/>
                  </a:lnTo>
                  <a:moveTo>
                    <a:pt x="21209" y="112141"/>
                  </a:moveTo>
                  <a:lnTo>
                    <a:pt x="21209" y="518541"/>
                  </a:lnTo>
                  <a:lnTo>
                    <a:pt x="10541" y="518541"/>
                  </a:lnTo>
                  <a:lnTo>
                    <a:pt x="21082" y="518541"/>
                  </a:lnTo>
                  <a:cubicBezTo>
                    <a:pt x="21082" y="568579"/>
                    <a:pt x="62865" y="609600"/>
                    <a:pt x="115062" y="609600"/>
                  </a:cubicBezTo>
                  <a:lnTo>
                    <a:pt x="3624580" y="609600"/>
                  </a:lnTo>
                  <a:cubicBezTo>
                    <a:pt x="3676777" y="609600"/>
                    <a:pt x="3718560" y="568579"/>
                    <a:pt x="3718560" y="518541"/>
                  </a:cubicBezTo>
                  <a:lnTo>
                    <a:pt x="3718560" y="112141"/>
                  </a:lnTo>
                  <a:cubicBezTo>
                    <a:pt x="3718560" y="62103"/>
                    <a:pt x="3676777" y="21082"/>
                    <a:pt x="3624580" y="21082"/>
                  </a:cubicBezTo>
                  <a:lnTo>
                    <a:pt x="115062" y="21082"/>
                  </a:lnTo>
                  <a:lnTo>
                    <a:pt x="115062" y="10541"/>
                  </a:lnTo>
                  <a:lnTo>
                    <a:pt x="115062" y="21082"/>
                  </a:lnTo>
                  <a:cubicBezTo>
                    <a:pt x="62865" y="21082"/>
                    <a:pt x="21082" y="62103"/>
                    <a:pt x="21082" y="112141"/>
                  </a:cubicBezTo>
                  <a:close/>
                </a:path>
              </a:pathLst>
            </a:custGeom>
            <a:solidFill>
              <a:srgbClr val="D5DBE8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4310360" y="4151376"/>
            <a:ext cx="256032" cy="256032"/>
            <a:chOff x="0" y="0"/>
            <a:chExt cx="341376" cy="341376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170688"/>
                  </a:moveTo>
                  <a:cubicBezTo>
                    <a:pt x="0" y="76454"/>
                    <a:pt x="76454" y="0"/>
                    <a:pt x="170688" y="0"/>
                  </a:cubicBezTo>
                  <a:cubicBezTo>
                    <a:pt x="264922" y="0"/>
                    <a:pt x="341376" y="76454"/>
                    <a:pt x="341376" y="170688"/>
                  </a:cubicBezTo>
                  <a:cubicBezTo>
                    <a:pt x="341376" y="264922"/>
                    <a:pt x="264922" y="341376"/>
                    <a:pt x="170688" y="341376"/>
                  </a:cubicBezTo>
                  <a:cubicBezTo>
                    <a:pt x="76454" y="341376"/>
                    <a:pt x="0" y="264922"/>
                    <a:pt x="0" y="170688"/>
                  </a:cubicBezTo>
                  <a:close/>
                </a:path>
              </a:pathLst>
            </a:custGeom>
            <a:solidFill>
              <a:srgbClr val="180E66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4310360" y="4155948"/>
            <a:ext cx="256032" cy="256032"/>
            <a:chOff x="0" y="0"/>
            <a:chExt cx="341376" cy="341376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341376"/>
                  </a:lnTo>
                  <a:lnTo>
                    <a:pt x="0" y="34137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19050"/>
              <a:ext cx="341376" cy="3604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20"/>
                </a:lnSpc>
              </a:pPr>
              <a:r>
                <a:rPr lang="en-US" sz="11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5</a:t>
              </a:r>
            </a:p>
          </p:txBody>
        </p:sp>
      </p:grpSp>
      <p:sp>
        <p:nvSpPr>
          <p:cNvPr name="TextBox 79" id="79"/>
          <p:cNvSpPr txBox="true"/>
          <p:nvPr/>
        </p:nvSpPr>
        <p:spPr>
          <a:xfrm rot="0">
            <a:off x="14666976" y="4123563"/>
            <a:ext cx="2231136" cy="320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>
                <a:solidFill>
                  <a:srgbClr val="19202A"/>
                </a:solidFill>
                <a:latin typeface="Poppins"/>
                <a:ea typeface="Poppins"/>
                <a:cs typeface="Poppins"/>
                <a:sym typeface="Poppins"/>
              </a:rPr>
              <a:t>Imaging station — staging table</a:t>
            </a:r>
          </a:p>
        </p:txBody>
      </p:sp>
      <p:grpSp>
        <p:nvGrpSpPr>
          <p:cNvPr name="Group 80" id="80"/>
          <p:cNvGrpSpPr/>
          <p:nvPr/>
        </p:nvGrpSpPr>
        <p:grpSpPr>
          <a:xfrm rot="0">
            <a:off x="4359602" y="6579632"/>
            <a:ext cx="256032" cy="256032"/>
            <a:chOff x="0" y="0"/>
            <a:chExt cx="341376" cy="341376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170688"/>
                  </a:moveTo>
                  <a:cubicBezTo>
                    <a:pt x="0" y="76454"/>
                    <a:pt x="76454" y="0"/>
                    <a:pt x="170688" y="0"/>
                  </a:cubicBezTo>
                  <a:cubicBezTo>
                    <a:pt x="264922" y="0"/>
                    <a:pt x="341376" y="76454"/>
                    <a:pt x="341376" y="170688"/>
                  </a:cubicBezTo>
                  <a:cubicBezTo>
                    <a:pt x="341376" y="264922"/>
                    <a:pt x="264922" y="341376"/>
                    <a:pt x="170688" y="341376"/>
                  </a:cubicBezTo>
                  <a:cubicBezTo>
                    <a:pt x="76454" y="341376"/>
                    <a:pt x="0" y="264922"/>
                    <a:pt x="0" y="170688"/>
                  </a:cubicBezTo>
                  <a:close/>
                </a:path>
              </a:pathLst>
            </a:custGeom>
            <a:solidFill>
              <a:srgbClr val="180E66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4359602" y="6575060"/>
            <a:ext cx="256032" cy="256032"/>
            <a:chOff x="0" y="0"/>
            <a:chExt cx="341376" cy="34137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341376"/>
                  </a:lnTo>
                  <a:lnTo>
                    <a:pt x="0" y="34137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9525"/>
              <a:ext cx="341376" cy="3509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39"/>
                </a:lnSpc>
              </a:pPr>
              <a:r>
                <a:rPr lang="en-US" sz="12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6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4210986" y="4609786"/>
            <a:ext cx="2804798" cy="473078"/>
            <a:chOff x="0" y="0"/>
            <a:chExt cx="3739731" cy="630771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10541" y="10541"/>
              <a:ext cx="3718560" cy="609600"/>
            </a:xfrm>
            <a:custGeom>
              <a:avLst/>
              <a:gdLst/>
              <a:ahLst/>
              <a:cxnLst/>
              <a:rect r="r" b="b" t="t" l="l"/>
              <a:pathLst>
                <a:path h="609600" w="3718560">
                  <a:moveTo>
                    <a:pt x="0" y="101600"/>
                  </a:moveTo>
                  <a:cubicBezTo>
                    <a:pt x="0" y="45466"/>
                    <a:pt x="46863" y="0"/>
                    <a:pt x="104521" y="0"/>
                  </a:cubicBezTo>
                  <a:lnTo>
                    <a:pt x="3614039" y="0"/>
                  </a:lnTo>
                  <a:cubicBezTo>
                    <a:pt x="3671824" y="0"/>
                    <a:pt x="3718560" y="45466"/>
                    <a:pt x="3718560" y="101600"/>
                  </a:cubicBezTo>
                  <a:lnTo>
                    <a:pt x="3718560" y="508000"/>
                  </a:lnTo>
                  <a:cubicBezTo>
                    <a:pt x="3718560" y="564134"/>
                    <a:pt x="3671697" y="609600"/>
                    <a:pt x="3614039" y="609600"/>
                  </a:cubicBezTo>
                  <a:lnTo>
                    <a:pt x="104521" y="609600"/>
                  </a:lnTo>
                  <a:cubicBezTo>
                    <a:pt x="46736" y="609600"/>
                    <a:pt x="0" y="564134"/>
                    <a:pt x="0" y="5080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3739642" cy="630682"/>
            </a:xfrm>
            <a:custGeom>
              <a:avLst/>
              <a:gdLst/>
              <a:ahLst/>
              <a:cxnLst/>
              <a:rect r="r" b="b" t="t" l="l"/>
              <a:pathLst>
                <a:path h="630682" w="3739642">
                  <a:moveTo>
                    <a:pt x="0" y="112141"/>
                  </a:moveTo>
                  <a:cubicBezTo>
                    <a:pt x="0" y="49911"/>
                    <a:pt x="51816" y="0"/>
                    <a:pt x="115062" y="0"/>
                  </a:cubicBezTo>
                  <a:lnTo>
                    <a:pt x="3624580" y="0"/>
                  </a:lnTo>
                  <a:lnTo>
                    <a:pt x="3624580" y="10541"/>
                  </a:lnTo>
                  <a:lnTo>
                    <a:pt x="3624580" y="0"/>
                  </a:lnTo>
                  <a:cubicBezTo>
                    <a:pt x="3687826" y="0"/>
                    <a:pt x="3739642" y="49911"/>
                    <a:pt x="3739642" y="112141"/>
                  </a:cubicBezTo>
                  <a:lnTo>
                    <a:pt x="3729101" y="112141"/>
                  </a:lnTo>
                  <a:lnTo>
                    <a:pt x="3739642" y="112141"/>
                  </a:lnTo>
                  <a:lnTo>
                    <a:pt x="3739642" y="518541"/>
                  </a:lnTo>
                  <a:lnTo>
                    <a:pt x="3729101" y="518541"/>
                  </a:lnTo>
                  <a:lnTo>
                    <a:pt x="3739642" y="518541"/>
                  </a:lnTo>
                  <a:cubicBezTo>
                    <a:pt x="3739642" y="580771"/>
                    <a:pt x="3687826" y="630682"/>
                    <a:pt x="3624580" y="630682"/>
                  </a:cubicBezTo>
                  <a:lnTo>
                    <a:pt x="3624580" y="620141"/>
                  </a:lnTo>
                  <a:lnTo>
                    <a:pt x="3624580" y="630682"/>
                  </a:lnTo>
                  <a:lnTo>
                    <a:pt x="115062" y="630682"/>
                  </a:lnTo>
                  <a:lnTo>
                    <a:pt x="115062" y="620141"/>
                  </a:lnTo>
                  <a:lnTo>
                    <a:pt x="115062" y="630682"/>
                  </a:lnTo>
                  <a:cubicBezTo>
                    <a:pt x="51816" y="630809"/>
                    <a:pt x="0" y="580771"/>
                    <a:pt x="0" y="518541"/>
                  </a:cubicBezTo>
                  <a:lnTo>
                    <a:pt x="0" y="112141"/>
                  </a:lnTo>
                  <a:lnTo>
                    <a:pt x="10541" y="112141"/>
                  </a:lnTo>
                  <a:lnTo>
                    <a:pt x="0" y="112141"/>
                  </a:lnTo>
                  <a:moveTo>
                    <a:pt x="21209" y="112141"/>
                  </a:moveTo>
                  <a:lnTo>
                    <a:pt x="21209" y="518541"/>
                  </a:lnTo>
                  <a:lnTo>
                    <a:pt x="10541" y="518541"/>
                  </a:lnTo>
                  <a:lnTo>
                    <a:pt x="21082" y="518541"/>
                  </a:lnTo>
                  <a:cubicBezTo>
                    <a:pt x="21082" y="568579"/>
                    <a:pt x="62865" y="609600"/>
                    <a:pt x="115062" y="609600"/>
                  </a:cubicBezTo>
                  <a:lnTo>
                    <a:pt x="3624580" y="609600"/>
                  </a:lnTo>
                  <a:cubicBezTo>
                    <a:pt x="3676777" y="609600"/>
                    <a:pt x="3718560" y="568579"/>
                    <a:pt x="3718560" y="518541"/>
                  </a:cubicBezTo>
                  <a:lnTo>
                    <a:pt x="3718560" y="112141"/>
                  </a:lnTo>
                  <a:cubicBezTo>
                    <a:pt x="3718560" y="62103"/>
                    <a:pt x="3676777" y="21082"/>
                    <a:pt x="3624580" y="21082"/>
                  </a:cubicBezTo>
                  <a:lnTo>
                    <a:pt x="115062" y="21082"/>
                  </a:lnTo>
                  <a:lnTo>
                    <a:pt x="115062" y="10541"/>
                  </a:lnTo>
                  <a:lnTo>
                    <a:pt x="115062" y="21082"/>
                  </a:lnTo>
                  <a:cubicBezTo>
                    <a:pt x="62865" y="21082"/>
                    <a:pt x="21082" y="62103"/>
                    <a:pt x="21082" y="112141"/>
                  </a:cubicBezTo>
                  <a:close/>
                </a:path>
              </a:pathLst>
            </a:custGeom>
            <a:solidFill>
              <a:srgbClr val="D5DBE8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14310360" y="4718304"/>
            <a:ext cx="256032" cy="256032"/>
            <a:chOff x="0" y="0"/>
            <a:chExt cx="341376" cy="341376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170688"/>
                  </a:moveTo>
                  <a:cubicBezTo>
                    <a:pt x="0" y="76454"/>
                    <a:pt x="76454" y="0"/>
                    <a:pt x="170688" y="0"/>
                  </a:cubicBezTo>
                  <a:cubicBezTo>
                    <a:pt x="264922" y="0"/>
                    <a:pt x="341376" y="76454"/>
                    <a:pt x="341376" y="170688"/>
                  </a:cubicBezTo>
                  <a:cubicBezTo>
                    <a:pt x="341376" y="264922"/>
                    <a:pt x="264922" y="341376"/>
                    <a:pt x="170688" y="341376"/>
                  </a:cubicBezTo>
                  <a:cubicBezTo>
                    <a:pt x="76454" y="341376"/>
                    <a:pt x="0" y="264922"/>
                    <a:pt x="0" y="170688"/>
                  </a:cubicBezTo>
                  <a:close/>
                </a:path>
              </a:pathLst>
            </a:custGeom>
            <a:solidFill>
              <a:srgbClr val="180E66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14310360" y="4722876"/>
            <a:ext cx="256032" cy="256032"/>
            <a:chOff x="0" y="0"/>
            <a:chExt cx="341376" cy="341376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341376"/>
                  </a:lnTo>
                  <a:lnTo>
                    <a:pt x="0" y="34137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19050"/>
              <a:ext cx="341376" cy="3604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20"/>
                </a:lnSpc>
              </a:pPr>
              <a:r>
                <a:rPr lang="en-US" sz="11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6</a:t>
              </a:r>
            </a:p>
          </p:txBody>
        </p:sp>
      </p:grpSp>
      <p:sp>
        <p:nvSpPr>
          <p:cNvPr name="TextBox 93" id="93"/>
          <p:cNvSpPr txBox="true"/>
          <p:nvPr/>
        </p:nvSpPr>
        <p:spPr>
          <a:xfrm rot="0">
            <a:off x="14666976" y="4690491"/>
            <a:ext cx="2231136" cy="320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>
                <a:solidFill>
                  <a:srgbClr val="19202A"/>
                </a:solidFill>
                <a:latin typeface="Poppins"/>
                <a:ea typeface="Poppins"/>
                <a:cs typeface="Poppins"/>
                <a:sym typeface="Poppins"/>
              </a:rPr>
              <a:t>Control box — drivers / electronics</a:t>
            </a:r>
          </a:p>
        </p:txBody>
      </p:sp>
      <p:grpSp>
        <p:nvGrpSpPr>
          <p:cNvPr name="Group 94" id="94"/>
          <p:cNvGrpSpPr/>
          <p:nvPr/>
        </p:nvGrpSpPr>
        <p:grpSpPr>
          <a:xfrm rot="0">
            <a:off x="8880196" y="8953843"/>
            <a:ext cx="256032" cy="256032"/>
            <a:chOff x="0" y="0"/>
            <a:chExt cx="341376" cy="341376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170688"/>
                  </a:moveTo>
                  <a:cubicBezTo>
                    <a:pt x="0" y="76454"/>
                    <a:pt x="76454" y="0"/>
                    <a:pt x="170688" y="0"/>
                  </a:cubicBezTo>
                  <a:cubicBezTo>
                    <a:pt x="264922" y="0"/>
                    <a:pt x="341376" y="76454"/>
                    <a:pt x="341376" y="170688"/>
                  </a:cubicBezTo>
                  <a:cubicBezTo>
                    <a:pt x="341376" y="264922"/>
                    <a:pt x="264922" y="341376"/>
                    <a:pt x="170688" y="341376"/>
                  </a:cubicBezTo>
                  <a:cubicBezTo>
                    <a:pt x="76454" y="341376"/>
                    <a:pt x="0" y="264922"/>
                    <a:pt x="0" y="170688"/>
                  </a:cubicBezTo>
                  <a:close/>
                </a:path>
              </a:pathLst>
            </a:custGeom>
            <a:solidFill>
              <a:srgbClr val="180E66"/>
            </a:solid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8880196" y="8949271"/>
            <a:ext cx="256032" cy="256032"/>
            <a:chOff x="0" y="0"/>
            <a:chExt cx="341376" cy="341376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341376"/>
                  </a:lnTo>
                  <a:lnTo>
                    <a:pt x="0" y="34137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9525"/>
              <a:ext cx="341376" cy="3509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39"/>
                </a:lnSpc>
              </a:pPr>
              <a:r>
                <a:rPr lang="en-US" sz="12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7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4210986" y="5176714"/>
            <a:ext cx="2804798" cy="473078"/>
            <a:chOff x="0" y="0"/>
            <a:chExt cx="3739731" cy="630771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10541" y="10541"/>
              <a:ext cx="3718560" cy="609600"/>
            </a:xfrm>
            <a:custGeom>
              <a:avLst/>
              <a:gdLst/>
              <a:ahLst/>
              <a:cxnLst/>
              <a:rect r="r" b="b" t="t" l="l"/>
              <a:pathLst>
                <a:path h="609600" w="3718560">
                  <a:moveTo>
                    <a:pt x="0" y="101600"/>
                  </a:moveTo>
                  <a:cubicBezTo>
                    <a:pt x="0" y="45466"/>
                    <a:pt x="46863" y="0"/>
                    <a:pt x="104521" y="0"/>
                  </a:cubicBezTo>
                  <a:lnTo>
                    <a:pt x="3614039" y="0"/>
                  </a:lnTo>
                  <a:cubicBezTo>
                    <a:pt x="3671824" y="0"/>
                    <a:pt x="3718560" y="45466"/>
                    <a:pt x="3718560" y="101600"/>
                  </a:cubicBezTo>
                  <a:lnTo>
                    <a:pt x="3718560" y="508000"/>
                  </a:lnTo>
                  <a:cubicBezTo>
                    <a:pt x="3718560" y="564134"/>
                    <a:pt x="3671697" y="609600"/>
                    <a:pt x="3614039" y="609600"/>
                  </a:cubicBezTo>
                  <a:lnTo>
                    <a:pt x="104521" y="609600"/>
                  </a:lnTo>
                  <a:cubicBezTo>
                    <a:pt x="46736" y="609600"/>
                    <a:pt x="0" y="564134"/>
                    <a:pt x="0" y="5080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3739642" cy="630682"/>
            </a:xfrm>
            <a:custGeom>
              <a:avLst/>
              <a:gdLst/>
              <a:ahLst/>
              <a:cxnLst/>
              <a:rect r="r" b="b" t="t" l="l"/>
              <a:pathLst>
                <a:path h="630682" w="3739642">
                  <a:moveTo>
                    <a:pt x="0" y="112141"/>
                  </a:moveTo>
                  <a:cubicBezTo>
                    <a:pt x="0" y="49911"/>
                    <a:pt x="51816" y="0"/>
                    <a:pt x="115062" y="0"/>
                  </a:cubicBezTo>
                  <a:lnTo>
                    <a:pt x="3624580" y="0"/>
                  </a:lnTo>
                  <a:lnTo>
                    <a:pt x="3624580" y="10541"/>
                  </a:lnTo>
                  <a:lnTo>
                    <a:pt x="3624580" y="0"/>
                  </a:lnTo>
                  <a:cubicBezTo>
                    <a:pt x="3687826" y="0"/>
                    <a:pt x="3739642" y="49911"/>
                    <a:pt x="3739642" y="112141"/>
                  </a:cubicBezTo>
                  <a:lnTo>
                    <a:pt x="3729101" y="112141"/>
                  </a:lnTo>
                  <a:lnTo>
                    <a:pt x="3739642" y="112141"/>
                  </a:lnTo>
                  <a:lnTo>
                    <a:pt x="3739642" y="518541"/>
                  </a:lnTo>
                  <a:lnTo>
                    <a:pt x="3729101" y="518541"/>
                  </a:lnTo>
                  <a:lnTo>
                    <a:pt x="3739642" y="518541"/>
                  </a:lnTo>
                  <a:cubicBezTo>
                    <a:pt x="3739642" y="580771"/>
                    <a:pt x="3687826" y="630682"/>
                    <a:pt x="3624580" y="630682"/>
                  </a:cubicBezTo>
                  <a:lnTo>
                    <a:pt x="3624580" y="620141"/>
                  </a:lnTo>
                  <a:lnTo>
                    <a:pt x="3624580" y="630682"/>
                  </a:lnTo>
                  <a:lnTo>
                    <a:pt x="115062" y="630682"/>
                  </a:lnTo>
                  <a:lnTo>
                    <a:pt x="115062" y="620141"/>
                  </a:lnTo>
                  <a:lnTo>
                    <a:pt x="115062" y="630682"/>
                  </a:lnTo>
                  <a:cubicBezTo>
                    <a:pt x="51816" y="630809"/>
                    <a:pt x="0" y="580771"/>
                    <a:pt x="0" y="518541"/>
                  </a:cubicBezTo>
                  <a:lnTo>
                    <a:pt x="0" y="112141"/>
                  </a:lnTo>
                  <a:lnTo>
                    <a:pt x="10541" y="112141"/>
                  </a:lnTo>
                  <a:lnTo>
                    <a:pt x="0" y="112141"/>
                  </a:lnTo>
                  <a:moveTo>
                    <a:pt x="21209" y="112141"/>
                  </a:moveTo>
                  <a:lnTo>
                    <a:pt x="21209" y="518541"/>
                  </a:lnTo>
                  <a:lnTo>
                    <a:pt x="10541" y="518541"/>
                  </a:lnTo>
                  <a:lnTo>
                    <a:pt x="21082" y="518541"/>
                  </a:lnTo>
                  <a:cubicBezTo>
                    <a:pt x="21082" y="568579"/>
                    <a:pt x="62865" y="609600"/>
                    <a:pt x="115062" y="609600"/>
                  </a:cubicBezTo>
                  <a:lnTo>
                    <a:pt x="3624580" y="609600"/>
                  </a:lnTo>
                  <a:cubicBezTo>
                    <a:pt x="3676777" y="609600"/>
                    <a:pt x="3718560" y="568579"/>
                    <a:pt x="3718560" y="518541"/>
                  </a:cubicBezTo>
                  <a:lnTo>
                    <a:pt x="3718560" y="112141"/>
                  </a:lnTo>
                  <a:cubicBezTo>
                    <a:pt x="3718560" y="62103"/>
                    <a:pt x="3676777" y="21082"/>
                    <a:pt x="3624580" y="21082"/>
                  </a:cubicBezTo>
                  <a:lnTo>
                    <a:pt x="115062" y="21082"/>
                  </a:lnTo>
                  <a:lnTo>
                    <a:pt x="115062" y="10541"/>
                  </a:lnTo>
                  <a:lnTo>
                    <a:pt x="115062" y="21082"/>
                  </a:lnTo>
                  <a:cubicBezTo>
                    <a:pt x="62865" y="21082"/>
                    <a:pt x="21082" y="62103"/>
                    <a:pt x="21082" y="112141"/>
                  </a:cubicBezTo>
                  <a:close/>
                </a:path>
              </a:pathLst>
            </a:custGeom>
            <a:solidFill>
              <a:srgbClr val="D5DBE8"/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14310360" y="5285232"/>
            <a:ext cx="256032" cy="256032"/>
            <a:chOff x="0" y="0"/>
            <a:chExt cx="341376" cy="341376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170688"/>
                  </a:moveTo>
                  <a:cubicBezTo>
                    <a:pt x="0" y="76454"/>
                    <a:pt x="76454" y="0"/>
                    <a:pt x="170688" y="0"/>
                  </a:cubicBezTo>
                  <a:cubicBezTo>
                    <a:pt x="264922" y="0"/>
                    <a:pt x="341376" y="76454"/>
                    <a:pt x="341376" y="170688"/>
                  </a:cubicBezTo>
                  <a:cubicBezTo>
                    <a:pt x="341376" y="264922"/>
                    <a:pt x="264922" y="341376"/>
                    <a:pt x="170688" y="341376"/>
                  </a:cubicBezTo>
                  <a:cubicBezTo>
                    <a:pt x="76454" y="341376"/>
                    <a:pt x="0" y="264922"/>
                    <a:pt x="0" y="170688"/>
                  </a:cubicBezTo>
                  <a:close/>
                </a:path>
              </a:pathLst>
            </a:custGeom>
            <a:solidFill>
              <a:srgbClr val="180E66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14310360" y="5289804"/>
            <a:ext cx="256032" cy="256032"/>
            <a:chOff x="0" y="0"/>
            <a:chExt cx="341376" cy="341376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341376"/>
                  </a:lnTo>
                  <a:lnTo>
                    <a:pt x="0" y="34137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19050"/>
              <a:ext cx="341376" cy="3604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20"/>
                </a:lnSpc>
              </a:pPr>
              <a:r>
                <a:rPr lang="en-US" sz="11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7</a:t>
              </a:r>
            </a:p>
          </p:txBody>
        </p:sp>
      </p:grpSp>
      <p:sp>
        <p:nvSpPr>
          <p:cNvPr name="TextBox 107" id="107"/>
          <p:cNvSpPr txBox="true"/>
          <p:nvPr/>
        </p:nvSpPr>
        <p:spPr>
          <a:xfrm rot="0">
            <a:off x="14666976" y="5257419"/>
            <a:ext cx="2231136" cy="320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>
                <a:solidFill>
                  <a:srgbClr val="19202A"/>
                </a:solidFill>
                <a:latin typeface="Poppins"/>
                <a:ea typeface="Poppins"/>
                <a:cs typeface="Poppins"/>
                <a:sym typeface="Poppins"/>
              </a:rPr>
              <a:t>Base plate — mounting deck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5940">
            <a:off x="816159" y="1742599"/>
            <a:ext cx="16514407" cy="0"/>
          </a:xfrm>
          <a:prstGeom prst="line">
            <a:avLst/>
          </a:prstGeom>
          <a:ln cap="rnd" w="9525">
            <a:solidFill>
              <a:srgbClr val="D5DB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942537" y="478907"/>
            <a:ext cx="7888348" cy="376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0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MANIPULATOR HARDWARE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42537" y="907523"/>
            <a:ext cx="16261652" cy="628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6-DOF Robotic Arm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810634" y="547545"/>
            <a:ext cx="544554" cy="349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0" b="true">
                <a:solidFill>
                  <a:srgbClr val="646E7A"/>
                </a:solidFill>
                <a:latin typeface="Poppins Bold"/>
                <a:ea typeface="Poppins Bold"/>
                <a:cs typeface="Poppins Bold"/>
                <a:sym typeface="Poppins Bold"/>
              </a:rPr>
              <a:t>07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39286" y="9667132"/>
            <a:ext cx="10908230" cy="220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200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IIT Delhi · ELD411 · Mid-Term Review 2026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567419" y="2241317"/>
            <a:ext cx="8959434" cy="6385065"/>
            <a:chOff x="0" y="0"/>
            <a:chExt cx="11945912" cy="85134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945874" cy="8513445"/>
            </a:xfrm>
            <a:custGeom>
              <a:avLst/>
              <a:gdLst/>
              <a:ahLst/>
              <a:cxnLst/>
              <a:rect r="r" b="b" t="t" l="l"/>
              <a:pathLst>
                <a:path h="8513445" w="11945874">
                  <a:moveTo>
                    <a:pt x="0" y="0"/>
                  </a:moveTo>
                  <a:lnTo>
                    <a:pt x="11945874" y="0"/>
                  </a:lnTo>
                  <a:lnTo>
                    <a:pt x="11945874" y="8513445"/>
                  </a:lnTo>
                  <a:lnTo>
                    <a:pt x="0" y="8513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297598" y="8616857"/>
            <a:ext cx="7556059" cy="274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200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Elevation  ·  reach check against carousel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22283" y="8872508"/>
            <a:ext cx="8904570" cy="256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0"/>
              </a:lnSpc>
            </a:pPr>
            <a:r>
              <a:rPr lang="en-US" sz="1100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Full assembly, dimensioned  ·  650 × 800 × 525 mm envelope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720742" y="2596983"/>
            <a:ext cx="8299857" cy="5673733"/>
            <a:chOff x="0" y="0"/>
            <a:chExt cx="12038724" cy="8229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038711" cy="8229600"/>
            </a:xfrm>
            <a:custGeom>
              <a:avLst/>
              <a:gdLst/>
              <a:ahLst/>
              <a:cxnLst/>
              <a:rect r="r" b="b" t="t" l="l"/>
              <a:pathLst>
                <a:path h="8229600" w="12038711">
                  <a:moveTo>
                    <a:pt x="0" y="0"/>
                  </a:moveTo>
                  <a:lnTo>
                    <a:pt x="12038711" y="0"/>
                  </a:lnTo>
                  <a:lnTo>
                    <a:pt x="12038711" y="8229600"/>
                  </a:lnTo>
                  <a:lnTo>
                    <a:pt x="0" y="822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980">
            <a:off x="891664" y="1912220"/>
            <a:ext cx="16514397" cy="0"/>
          </a:xfrm>
          <a:prstGeom prst="line">
            <a:avLst/>
          </a:prstGeom>
          <a:ln cap="rnd" w="9525">
            <a:solidFill>
              <a:srgbClr val="D5DB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2112859"/>
            <a:ext cx="9214654" cy="7422138"/>
          </a:xfrm>
          <a:custGeom>
            <a:avLst/>
            <a:gdLst/>
            <a:ahLst/>
            <a:cxnLst/>
            <a:rect r="r" b="b" t="t" l="l"/>
            <a:pathLst>
              <a:path h="7422138" w="9214654">
                <a:moveTo>
                  <a:pt x="0" y="0"/>
                </a:moveTo>
                <a:lnTo>
                  <a:pt x="9214654" y="0"/>
                </a:lnTo>
                <a:lnTo>
                  <a:pt x="9214654" y="7422138"/>
                </a:lnTo>
                <a:lnTo>
                  <a:pt x="0" y="74221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765093" y="2326272"/>
            <a:ext cx="6640967" cy="1292937"/>
            <a:chOff x="0" y="0"/>
            <a:chExt cx="1749061" cy="34052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49061" cy="340527"/>
            </a:xfrm>
            <a:custGeom>
              <a:avLst/>
              <a:gdLst/>
              <a:ahLst/>
              <a:cxnLst/>
              <a:rect r="r" b="b" t="t" l="l"/>
              <a:pathLst>
                <a:path h="340527" w="1749061">
                  <a:moveTo>
                    <a:pt x="23316" y="0"/>
                  </a:moveTo>
                  <a:lnTo>
                    <a:pt x="1725746" y="0"/>
                  </a:lnTo>
                  <a:cubicBezTo>
                    <a:pt x="1731929" y="0"/>
                    <a:pt x="1737860" y="2456"/>
                    <a:pt x="1742232" y="6829"/>
                  </a:cubicBezTo>
                  <a:cubicBezTo>
                    <a:pt x="1746605" y="11202"/>
                    <a:pt x="1749061" y="17132"/>
                    <a:pt x="1749061" y="23316"/>
                  </a:cubicBezTo>
                  <a:lnTo>
                    <a:pt x="1749061" y="317211"/>
                  </a:lnTo>
                  <a:cubicBezTo>
                    <a:pt x="1749061" y="323395"/>
                    <a:pt x="1746605" y="329325"/>
                    <a:pt x="1742232" y="333698"/>
                  </a:cubicBezTo>
                  <a:cubicBezTo>
                    <a:pt x="1737860" y="338070"/>
                    <a:pt x="1731929" y="340527"/>
                    <a:pt x="1725746" y="340527"/>
                  </a:cubicBezTo>
                  <a:lnTo>
                    <a:pt x="23316" y="340527"/>
                  </a:lnTo>
                  <a:cubicBezTo>
                    <a:pt x="17132" y="340527"/>
                    <a:pt x="11202" y="338070"/>
                    <a:pt x="6829" y="333698"/>
                  </a:cubicBezTo>
                  <a:cubicBezTo>
                    <a:pt x="2456" y="329325"/>
                    <a:pt x="0" y="323395"/>
                    <a:pt x="0" y="317211"/>
                  </a:cubicBezTo>
                  <a:lnTo>
                    <a:pt x="0" y="23316"/>
                  </a:lnTo>
                  <a:cubicBezTo>
                    <a:pt x="0" y="17132"/>
                    <a:pt x="2456" y="11202"/>
                    <a:pt x="6829" y="6829"/>
                  </a:cubicBezTo>
                  <a:cubicBezTo>
                    <a:pt x="11202" y="2456"/>
                    <a:pt x="17132" y="0"/>
                    <a:pt x="23316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749061" cy="3595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1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42537" y="478907"/>
            <a:ext cx="7888348" cy="376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0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MECHANICAL ADAPTATION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42537" y="907523"/>
            <a:ext cx="16261652" cy="854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Manipulator Modifications for Petri-Dish Reach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810634" y="547545"/>
            <a:ext cx="544554" cy="349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0" b="true">
                <a:solidFill>
                  <a:srgbClr val="646E7A"/>
                </a:solidFill>
                <a:latin typeface="Poppins Bold"/>
                <a:ea typeface="Poppins Bold"/>
                <a:cs typeface="Poppins Bold"/>
                <a:sym typeface="Poppins Bold"/>
              </a:rPr>
              <a:t>08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390625" y="2565378"/>
            <a:ext cx="421015" cy="239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104419" y="2533717"/>
            <a:ext cx="1649164" cy="295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0"/>
              </a:lnSpc>
            </a:pPr>
            <a:r>
              <a:rPr lang="en-US" sz="1850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LONGER LINKS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104419" y="2959246"/>
            <a:ext cx="3633064" cy="504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Extend joints so the gripper clears the outer carousel ring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765093" y="4000209"/>
            <a:ext cx="6640967" cy="1292937"/>
            <a:chOff x="0" y="0"/>
            <a:chExt cx="1749061" cy="34052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49061" cy="340527"/>
            </a:xfrm>
            <a:custGeom>
              <a:avLst/>
              <a:gdLst/>
              <a:ahLst/>
              <a:cxnLst/>
              <a:rect r="r" b="b" t="t" l="l"/>
              <a:pathLst>
                <a:path h="340527" w="1749061">
                  <a:moveTo>
                    <a:pt x="23316" y="0"/>
                  </a:moveTo>
                  <a:lnTo>
                    <a:pt x="1725746" y="0"/>
                  </a:lnTo>
                  <a:cubicBezTo>
                    <a:pt x="1731929" y="0"/>
                    <a:pt x="1737860" y="2456"/>
                    <a:pt x="1742232" y="6829"/>
                  </a:cubicBezTo>
                  <a:cubicBezTo>
                    <a:pt x="1746605" y="11202"/>
                    <a:pt x="1749061" y="17132"/>
                    <a:pt x="1749061" y="23316"/>
                  </a:cubicBezTo>
                  <a:lnTo>
                    <a:pt x="1749061" y="317211"/>
                  </a:lnTo>
                  <a:cubicBezTo>
                    <a:pt x="1749061" y="323395"/>
                    <a:pt x="1746605" y="329325"/>
                    <a:pt x="1742232" y="333698"/>
                  </a:cubicBezTo>
                  <a:cubicBezTo>
                    <a:pt x="1737860" y="338070"/>
                    <a:pt x="1731929" y="340527"/>
                    <a:pt x="1725746" y="340527"/>
                  </a:cubicBezTo>
                  <a:lnTo>
                    <a:pt x="23316" y="340527"/>
                  </a:lnTo>
                  <a:cubicBezTo>
                    <a:pt x="17132" y="340527"/>
                    <a:pt x="11202" y="338070"/>
                    <a:pt x="6829" y="333698"/>
                  </a:cubicBezTo>
                  <a:cubicBezTo>
                    <a:pt x="2456" y="329325"/>
                    <a:pt x="0" y="323395"/>
                    <a:pt x="0" y="317211"/>
                  </a:cubicBezTo>
                  <a:lnTo>
                    <a:pt x="0" y="23316"/>
                  </a:lnTo>
                  <a:cubicBezTo>
                    <a:pt x="0" y="17132"/>
                    <a:pt x="2456" y="11202"/>
                    <a:pt x="6829" y="6829"/>
                  </a:cubicBezTo>
                  <a:cubicBezTo>
                    <a:pt x="11202" y="2456"/>
                    <a:pt x="17132" y="0"/>
                    <a:pt x="23316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1749061" cy="3595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1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2390625" y="4185123"/>
            <a:ext cx="421015" cy="239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104419" y="4153472"/>
            <a:ext cx="1953071" cy="295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0"/>
              </a:lnSpc>
            </a:pPr>
            <a:r>
              <a:rPr lang="en-US" sz="1850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CAMERA MOUNT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104419" y="4579001"/>
            <a:ext cx="3633064" cy="46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0"/>
              </a:lnSpc>
            </a:pPr>
            <a:r>
              <a:rPr lang="en-US" sz="1550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Rigid mount above gripper, aligned with the QR scan axis (yet to decide)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765093" y="5678383"/>
            <a:ext cx="6640967" cy="1292937"/>
            <a:chOff x="0" y="0"/>
            <a:chExt cx="1749061" cy="34052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749061" cy="340527"/>
            </a:xfrm>
            <a:custGeom>
              <a:avLst/>
              <a:gdLst/>
              <a:ahLst/>
              <a:cxnLst/>
              <a:rect r="r" b="b" t="t" l="l"/>
              <a:pathLst>
                <a:path h="340527" w="1749061">
                  <a:moveTo>
                    <a:pt x="23316" y="0"/>
                  </a:moveTo>
                  <a:lnTo>
                    <a:pt x="1725746" y="0"/>
                  </a:lnTo>
                  <a:cubicBezTo>
                    <a:pt x="1731929" y="0"/>
                    <a:pt x="1737860" y="2456"/>
                    <a:pt x="1742232" y="6829"/>
                  </a:cubicBezTo>
                  <a:cubicBezTo>
                    <a:pt x="1746605" y="11202"/>
                    <a:pt x="1749061" y="17132"/>
                    <a:pt x="1749061" y="23316"/>
                  </a:cubicBezTo>
                  <a:lnTo>
                    <a:pt x="1749061" y="317211"/>
                  </a:lnTo>
                  <a:cubicBezTo>
                    <a:pt x="1749061" y="323395"/>
                    <a:pt x="1746605" y="329325"/>
                    <a:pt x="1742232" y="333698"/>
                  </a:cubicBezTo>
                  <a:cubicBezTo>
                    <a:pt x="1737860" y="338070"/>
                    <a:pt x="1731929" y="340527"/>
                    <a:pt x="1725746" y="340527"/>
                  </a:cubicBezTo>
                  <a:lnTo>
                    <a:pt x="23316" y="340527"/>
                  </a:lnTo>
                  <a:cubicBezTo>
                    <a:pt x="17132" y="340527"/>
                    <a:pt x="11202" y="338070"/>
                    <a:pt x="6829" y="333698"/>
                  </a:cubicBezTo>
                  <a:cubicBezTo>
                    <a:pt x="2456" y="329325"/>
                    <a:pt x="0" y="323395"/>
                    <a:pt x="0" y="317211"/>
                  </a:cubicBezTo>
                  <a:lnTo>
                    <a:pt x="0" y="23316"/>
                  </a:lnTo>
                  <a:cubicBezTo>
                    <a:pt x="0" y="17132"/>
                    <a:pt x="2456" y="11202"/>
                    <a:pt x="6829" y="6829"/>
                  </a:cubicBezTo>
                  <a:cubicBezTo>
                    <a:pt x="11202" y="2456"/>
                    <a:pt x="17132" y="0"/>
                    <a:pt x="23316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1749061" cy="3595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1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2390625" y="5804878"/>
            <a:ext cx="421015" cy="239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104419" y="5773226"/>
            <a:ext cx="1964978" cy="314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CABLE ROUTING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104419" y="6198756"/>
            <a:ext cx="3633064" cy="46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0"/>
              </a:lnSpc>
            </a:pPr>
            <a:r>
              <a:rPr lang="en-US" sz="1550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Slack CSI + power routing so cables survive full joint travel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42537" y="9790957"/>
            <a:ext cx="10908230" cy="220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200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IIT Delhi · ELD411 · Mid-Term Review 2026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0742796" y="7352320"/>
            <a:ext cx="6640967" cy="1292937"/>
            <a:chOff x="0" y="0"/>
            <a:chExt cx="1749061" cy="34052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749061" cy="340527"/>
            </a:xfrm>
            <a:custGeom>
              <a:avLst/>
              <a:gdLst/>
              <a:ahLst/>
              <a:cxnLst/>
              <a:rect r="r" b="b" t="t" l="l"/>
              <a:pathLst>
                <a:path h="340527" w="1749061">
                  <a:moveTo>
                    <a:pt x="23316" y="0"/>
                  </a:moveTo>
                  <a:lnTo>
                    <a:pt x="1725746" y="0"/>
                  </a:lnTo>
                  <a:cubicBezTo>
                    <a:pt x="1731929" y="0"/>
                    <a:pt x="1737860" y="2456"/>
                    <a:pt x="1742232" y="6829"/>
                  </a:cubicBezTo>
                  <a:cubicBezTo>
                    <a:pt x="1746605" y="11202"/>
                    <a:pt x="1749061" y="17132"/>
                    <a:pt x="1749061" y="23316"/>
                  </a:cubicBezTo>
                  <a:lnTo>
                    <a:pt x="1749061" y="317211"/>
                  </a:lnTo>
                  <a:cubicBezTo>
                    <a:pt x="1749061" y="323395"/>
                    <a:pt x="1746605" y="329325"/>
                    <a:pt x="1742232" y="333698"/>
                  </a:cubicBezTo>
                  <a:cubicBezTo>
                    <a:pt x="1737860" y="338070"/>
                    <a:pt x="1731929" y="340527"/>
                    <a:pt x="1725746" y="340527"/>
                  </a:cubicBezTo>
                  <a:lnTo>
                    <a:pt x="23316" y="340527"/>
                  </a:lnTo>
                  <a:cubicBezTo>
                    <a:pt x="17132" y="340527"/>
                    <a:pt x="11202" y="338070"/>
                    <a:pt x="6829" y="333698"/>
                  </a:cubicBezTo>
                  <a:cubicBezTo>
                    <a:pt x="2456" y="329325"/>
                    <a:pt x="0" y="323395"/>
                    <a:pt x="0" y="317211"/>
                  </a:cubicBezTo>
                  <a:lnTo>
                    <a:pt x="0" y="23316"/>
                  </a:lnTo>
                  <a:cubicBezTo>
                    <a:pt x="0" y="17132"/>
                    <a:pt x="2456" y="11202"/>
                    <a:pt x="6829" y="6829"/>
                  </a:cubicBezTo>
                  <a:cubicBezTo>
                    <a:pt x="11202" y="2456"/>
                    <a:pt x="17132" y="0"/>
                    <a:pt x="23316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1749061" cy="3595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1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2417552" y="7506843"/>
            <a:ext cx="365760" cy="174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04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121640" y="7460361"/>
            <a:ext cx="130180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699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WIDER BASE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121640" y="7817739"/>
            <a:ext cx="3575304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549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Widen 2 base-side links so reach stays even across the full carousel span.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7512" y="310515"/>
            <a:ext cx="10917936" cy="247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COMPUTE PLATFORM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7512" y="620649"/>
            <a:ext cx="15032736" cy="540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Raspberry Pi Setup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40080" y="1298448"/>
            <a:ext cx="17007840" cy="13716"/>
            <a:chOff x="0" y="0"/>
            <a:chExt cx="22677120" cy="182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677120" cy="18288"/>
            </a:xfrm>
            <a:custGeom>
              <a:avLst/>
              <a:gdLst/>
              <a:ahLst/>
              <a:cxnLst/>
              <a:rect r="r" b="b" t="t" l="l"/>
              <a:pathLst>
                <a:path h="1828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D5DBE8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6943832" y="347091"/>
            <a:ext cx="676656" cy="247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59"/>
              </a:lnSpc>
            </a:pPr>
            <a:r>
              <a:rPr lang="en-US" sz="1299" b="true">
                <a:solidFill>
                  <a:srgbClr val="646E7A"/>
                </a:solidFill>
                <a:latin typeface="Poppins Bold"/>
                <a:ea typeface="Poppins Bold"/>
                <a:cs typeface="Poppins Bold"/>
                <a:sym typeface="Poppins Bold"/>
              </a:rPr>
              <a:t>10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32146" y="1637986"/>
            <a:ext cx="5319398" cy="3124838"/>
            <a:chOff x="0" y="0"/>
            <a:chExt cx="7092531" cy="416645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0541" y="10541"/>
              <a:ext cx="7071487" cy="4145280"/>
            </a:xfrm>
            <a:custGeom>
              <a:avLst/>
              <a:gdLst/>
              <a:ahLst/>
              <a:cxnLst/>
              <a:rect r="r" b="b" t="t" l="l"/>
              <a:pathLst>
                <a:path h="4145280" w="7071487">
                  <a:moveTo>
                    <a:pt x="0" y="690880"/>
                  </a:moveTo>
                  <a:cubicBezTo>
                    <a:pt x="0" y="309372"/>
                    <a:pt x="310007" y="0"/>
                    <a:pt x="692404" y="0"/>
                  </a:cubicBezTo>
                  <a:lnTo>
                    <a:pt x="6379083" y="0"/>
                  </a:lnTo>
                  <a:cubicBezTo>
                    <a:pt x="6761480" y="0"/>
                    <a:pt x="7071487" y="309372"/>
                    <a:pt x="7071487" y="690880"/>
                  </a:cubicBezTo>
                  <a:lnTo>
                    <a:pt x="7071487" y="3454400"/>
                  </a:lnTo>
                  <a:cubicBezTo>
                    <a:pt x="7071487" y="3835908"/>
                    <a:pt x="6761480" y="4145280"/>
                    <a:pt x="6379083" y="4145280"/>
                  </a:cubicBezTo>
                  <a:lnTo>
                    <a:pt x="692404" y="4145280"/>
                  </a:lnTo>
                  <a:cubicBezTo>
                    <a:pt x="310007" y="4145280"/>
                    <a:pt x="0" y="3835908"/>
                    <a:pt x="0" y="34544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92569" cy="4166362"/>
            </a:xfrm>
            <a:custGeom>
              <a:avLst/>
              <a:gdLst/>
              <a:ahLst/>
              <a:cxnLst/>
              <a:rect r="r" b="b" t="t" l="l"/>
              <a:pathLst>
                <a:path h="4166362" w="7092569">
                  <a:moveTo>
                    <a:pt x="0" y="701421"/>
                  </a:moveTo>
                  <a:cubicBezTo>
                    <a:pt x="0" y="314071"/>
                    <a:pt x="314706" y="0"/>
                    <a:pt x="702945" y="0"/>
                  </a:cubicBezTo>
                  <a:lnTo>
                    <a:pt x="6389624" y="0"/>
                  </a:lnTo>
                  <a:lnTo>
                    <a:pt x="6389624" y="10541"/>
                  </a:lnTo>
                  <a:lnTo>
                    <a:pt x="6389624" y="0"/>
                  </a:lnTo>
                  <a:cubicBezTo>
                    <a:pt x="6777863" y="0"/>
                    <a:pt x="7092569" y="314071"/>
                    <a:pt x="7092569" y="701421"/>
                  </a:cubicBezTo>
                  <a:lnTo>
                    <a:pt x="7082028" y="701421"/>
                  </a:lnTo>
                  <a:lnTo>
                    <a:pt x="7092569" y="701421"/>
                  </a:lnTo>
                  <a:lnTo>
                    <a:pt x="7092569" y="3464941"/>
                  </a:lnTo>
                  <a:lnTo>
                    <a:pt x="7082028" y="3464941"/>
                  </a:lnTo>
                  <a:lnTo>
                    <a:pt x="7092569" y="3464941"/>
                  </a:lnTo>
                  <a:cubicBezTo>
                    <a:pt x="7092569" y="3852418"/>
                    <a:pt x="6777863" y="4166362"/>
                    <a:pt x="6389624" y="4166362"/>
                  </a:cubicBezTo>
                  <a:lnTo>
                    <a:pt x="6389624" y="4155821"/>
                  </a:lnTo>
                  <a:lnTo>
                    <a:pt x="6389624" y="4166362"/>
                  </a:lnTo>
                  <a:lnTo>
                    <a:pt x="702945" y="4166362"/>
                  </a:lnTo>
                  <a:lnTo>
                    <a:pt x="702945" y="4155821"/>
                  </a:lnTo>
                  <a:lnTo>
                    <a:pt x="702945" y="4166362"/>
                  </a:lnTo>
                  <a:cubicBezTo>
                    <a:pt x="314706" y="4166489"/>
                    <a:pt x="0" y="3852418"/>
                    <a:pt x="0" y="3464941"/>
                  </a:cubicBezTo>
                  <a:lnTo>
                    <a:pt x="0" y="701421"/>
                  </a:lnTo>
                  <a:lnTo>
                    <a:pt x="10541" y="701421"/>
                  </a:lnTo>
                  <a:lnTo>
                    <a:pt x="0" y="701421"/>
                  </a:lnTo>
                  <a:moveTo>
                    <a:pt x="21209" y="701421"/>
                  </a:moveTo>
                  <a:lnTo>
                    <a:pt x="21209" y="3464941"/>
                  </a:lnTo>
                  <a:lnTo>
                    <a:pt x="10541" y="3464941"/>
                  </a:lnTo>
                  <a:lnTo>
                    <a:pt x="21082" y="3464941"/>
                  </a:lnTo>
                  <a:cubicBezTo>
                    <a:pt x="21082" y="3840607"/>
                    <a:pt x="326263" y="4145280"/>
                    <a:pt x="702818" y="4145280"/>
                  </a:cubicBezTo>
                  <a:lnTo>
                    <a:pt x="6389624" y="4145280"/>
                  </a:lnTo>
                  <a:cubicBezTo>
                    <a:pt x="6766179" y="4145280"/>
                    <a:pt x="7071360" y="3840734"/>
                    <a:pt x="7071360" y="3464941"/>
                  </a:cubicBezTo>
                  <a:lnTo>
                    <a:pt x="7071360" y="701421"/>
                  </a:lnTo>
                  <a:cubicBezTo>
                    <a:pt x="7071360" y="325755"/>
                    <a:pt x="6766179" y="21082"/>
                    <a:pt x="6389624" y="21082"/>
                  </a:cubicBezTo>
                  <a:lnTo>
                    <a:pt x="702945" y="21082"/>
                  </a:lnTo>
                  <a:lnTo>
                    <a:pt x="702945" y="10541"/>
                  </a:lnTo>
                  <a:lnTo>
                    <a:pt x="702945" y="21082"/>
                  </a:lnTo>
                  <a:cubicBezTo>
                    <a:pt x="326390" y="21209"/>
                    <a:pt x="21209" y="325755"/>
                    <a:pt x="21209" y="701421"/>
                  </a:cubicBezTo>
                  <a:close/>
                </a:path>
              </a:pathLst>
            </a:custGeom>
            <a:solidFill>
              <a:srgbClr val="D5DBE8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41832" y="1928622"/>
            <a:ext cx="859536" cy="284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1832" y="2340102"/>
            <a:ext cx="4700016" cy="512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UBUNTU SERVER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1832" y="3025902"/>
            <a:ext cx="4700016" cy="1427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First OS on the Pi. Chosen because ROS 2 install and packaging is easier on Ubuntu.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5998464" y="3127248"/>
            <a:ext cx="228600" cy="228600"/>
            <a:chOff x="0" y="0"/>
            <a:chExt cx="304800" cy="304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cubicBezTo>
                    <a:pt x="236601" y="0"/>
                    <a:pt x="304800" y="68199"/>
                    <a:pt x="304800" y="152400"/>
                  </a:cubicBezTo>
                  <a:cubicBezTo>
                    <a:pt x="304800" y="236601"/>
                    <a:pt x="236601" y="304800"/>
                    <a:pt x="152400" y="304800"/>
                  </a:cubicBezTo>
                  <a:cubicBezTo>
                    <a:pt x="68199" y="304800"/>
                    <a:pt x="0" y="236601"/>
                    <a:pt x="0" y="152400"/>
                  </a:cubicBezTo>
                  <a:close/>
                </a:path>
              </a:pathLst>
            </a:custGeom>
            <a:solidFill>
              <a:srgbClr val="2BA7A0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301426" y="1637986"/>
            <a:ext cx="5319398" cy="3124838"/>
            <a:chOff x="0" y="0"/>
            <a:chExt cx="7092531" cy="416645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0541" y="10541"/>
              <a:ext cx="7071487" cy="4145280"/>
            </a:xfrm>
            <a:custGeom>
              <a:avLst/>
              <a:gdLst/>
              <a:ahLst/>
              <a:cxnLst/>
              <a:rect r="r" b="b" t="t" l="l"/>
              <a:pathLst>
                <a:path h="4145280" w="7071487">
                  <a:moveTo>
                    <a:pt x="0" y="690880"/>
                  </a:moveTo>
                  <a:cubicBezTo>
                    <a:pt x="0" y="309372"/>
                    <a:pt x="310007" y="0"/>
                    <a:pt x="692404" y="0"/>
                  </a:cubicBezTo>
                  <a:lnTo>
                    <a:pt x="6379083" y="0"/>
                  </a:lnTo>
                  <a:cubicBezTo>
                    <a:pt x="6761480" y="0"/>
                    <a:pt x="7071487" y="309372"/>
                    <a:pt x="7071487" y="690880"/>
                  </a:cubicBezTo>
                  <a:lnTo>
                    <a:pt x="7071487" y="3454400"/>
                  </a:lnTo>
                  <a:cubicBezTo>
                    <a:pt x="7071487" y="3835908"/>
                    <a:pt x="6761480" y="4145280"/>
                    <a:pt x="6379083" y="4145280"/>
                  </a:cubicBezTo>
                  <a:lnTo>
                    <a:pt x="692404" y="4145280"/>
                  </a:lnTo>
                  <a:cubicBezTo>
                    <a:pt x="310007" y="4145280"/>
                    <a:pt x="0" y="3835908"/>
                    <a:pt x="0" y="34544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092569" cy="4166362"/>
            </a:xfrm>
            <a:custGeom>
              <a:avLst/>
              <a:gdLst/>
              <a:ahLst/>
              <a:cxnLst/>
              <a:rect r="r" b="b" t="t" l="l"/>
              <a:pathLst>
                <a:path h="4166362" w="7092569">
                  <a:moveTo>
                    <a:pt x="0" y="701421"/>
                  </a:moveTo>
                  <a:cubicBezTo>
                    <a:pt x="0" y="314071"/>
                    <a:pt x="314706" y="0"/>
                    <a:pt x="702945" y="0"/>
                  </a:cubicBezTo>
                  <a:lnTo>
                    <a:pt x="6389624" y="0"/>
                  </a:lnTo>
                  <a:lnTo>
                    <a:pt x="6389624" y="10541"/>
                  </a:lnTo>
                  <a:lnTo>
                    <a:pt x="6389624" y="0"/>
                  </a:lnTo>
                  <a:cubicBezTo>
                    <a:pt x="6777863" y="0"/>
                    <a:pt x="7092569" y="314071"/>
                    <a:pt x="7092569" y="701421"/>
                  </a:cubicBezTo>
                  <a:lnTo>
                    <a:pt x="7082028" y="701421"/>
                  </a:lnTo>
                  <a:lnTo>
                    <a:pt x="7092569" y="701421"/>
                  </a:lnTo>
                  <a:lnTo>
                    <a:pt x="7092569" y="3464941"/>
                  </a:lnTo>
                  <a:lnTo>
                    <a:pt x="7082028" y="3464941"/>
                  </a:lnTo>
                  <a:lnTo>
                    <a:pt x="7092569" y="3464941"/>
                  </a:lnTo>
                  <a:cubicBezTo>
                    <a:pt x="7092569" y="3852418"/>
                    <a:pt x="6777863" y="4166362"/>
                    <a:pt x="6389624" y="4166362"/>
                  </a:cubicBezTo>
                  <a:lnTo>
                    <a:pt x="6389624" y="4155821"/>
                  </a:lnTo>
                  <a:lnTo>
                    <a:pt x="6389624" y="4166362"/>
                  </a:lnTo>
                  <a:lnTo>
                    <a:pt x="702945" y="4166362"/>
                  </a:lnTo>
                  <a:lnTo>
                    <a:pt x="702945" y="4155821"/>
                  </a:lnTo>
                  <a:lnTo>
                    <a:pt x="702945" y="4166362"/>
                  </a:lnTo>
                  <a:cubicBezTo>
                    <a:pt x="314706" y="4166489"/>
                    <a:pt x="0" y="3852418"/>
                    <a:pt x="0" y="3464941"/>
                  </a:cubicBezTo>
                  <a:lnTo>
                    <a:pt x="0" y="701421"/>
                  </a:lnTo>
                  <a:lnTo>
                    <a:pt x="10541" y="701421"/>
                  </a:lnTo>
                  <a:lnTo>
                    <a:pt x="0" y="701421"/>
                  </a:lnTo>
                  <a:moveTo>
                    <a:pt x="21209" y="701421"/>
                  </a:moveTo>
                  <a:lnTo>
                    <a:pt x="21209" y="3464941"/>
                  </a:lnTo>
                  <a:lnTo>
                    <a:pt x="10541" y="3464941"/>
                  </a:lnTo>
                  <a:lnTo>
                    <a:pt x="21082" y="3464941"/>
                  </a:lnTo>
                  <a:cubicBezTo>
                    <a:pt x="21082" y="3840607"/>
                    <a:pt x="326263" y="4145280"/>
                    <a:pt x="702818" y="4145280"/>
                  </a:cubicBezTo>
                  <a:lnTo>
                    <a:pt x="6389624" y="4145280"/>
                  </a:lnTo>
                  <a:cubicBezTo>
                    <a:pt x="6766179" y="4145280"/>
                    <a:pt x="7071360" y="3840734"/>
                    <a:pt x="7071360" y="3464941"/>
                  </a:cubicBezTo>
                  <a:lnTo>
                    <a:pt x="7071360" y="701421"/>
                  </a:lnTo>
                  <a:cubicBezTo>
                    <a:pt x="7071360" y="325755"/>
                    <a:pt x="6766179" y="21082"/>
                    <a:pt x="6389624" y="21082"/>
                  </a:cubicBezTo>
                  <a:lnTo>
                    <a:pt x="702945" y="21082"/>
                  </a:lnTo>
                  <a:lnTo>
                    <a:pt x="702945" y="10541"/>
                  </a:lnTo>
                  <a:lnTo>
                    <a:pt x="702945" y="21082"/>
                  </a:lnTo>
                  <a:cubicBezTo>
                    <a:pt x="326390" y="21209"/>
                    <a:pt x="21209" y="325755"/>
                    <a:pt x="21209" y="701421"/>
                  </a:cubicBezTo>
                  <a:close/>
                </a:path>
              </a:pathLst>
            </a:custGeom>
            <a:solidFill>
              <a:srgbClr val="D5DBE8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6611112" y="1928622"/>
            <a:ext cx="859536" cy="284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611112" y="2340102"/>
            <a:ext cx="4700016" cy="512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CAMERA TEST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611112" y="3025902"/>
            <a:ext cx="4700016" cy="1427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Camera Module verified working under Ubuntu Server before anything else was built.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1667744" y="3127248"/>
            <a:ext cx="228600" cy="228600"/>
            <a:chOff x="0" y="0"/>
            <a:chExt cx="304800" cy="304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cubicBezTo>
                    <a:pt x="236601" y="0"/>
                    <a:pt x="304800" y="68199"/>
                    <a:pt x="304800" y="152400"/>
                  </a:cubicBezTo>
                  <a:cubicBezTo>
                    <a:pt x="304800" y="236601"/>
                    <a:pt x="236601" y="304800"/>
                    <a:pt x="152400" y="304800"/>
                  </a:cubicBezTo>
                  <a:cubicBezTo>
                    <a:pt x="68199" y="304800"/>
                    <a:pt x="0" y="236601"/>
                    <a:pt x="0" y="152400"/>
                  </a:cubicBezTo>
                  <a:close/>
                </a:path>
              </a:pathLst>
            </a:custGeom>
            <a:solidFill>
              <a:srgbClr val="2BA7A0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1970706" y="1637986"/>
            <a:ext cx="5319398" cy="3124838"/>
            <a:chOff x="0" y="0"/>
            <a:chExt cx="7092531" cy="416645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0541" y="10541"/>
              <a:ext cx="7071487" cy="4145280"/>
            </a:xfrm>
            <a:custGeom>
              <a:avLst/>
              <a:gdLst/>
              <a:ahLst/>
              <a:cxnLst/>
              <a:rect r="r" b="b" t="t" l="l"/>
              <a:pathLst>
                <a:path h="4145280" w="7071487">
                  <a:moveTo>
                    <a:pt x="0" y="690880"/>
                  </a:moveTo>
                  <a:cubicBezTo>
                    <a:pt x="0" y="309372"/>
                    <a:pt x="310007" y="0"/>
                    <a:pt x="692404" y="0"/>
                  </a:cubicBezTo>
                  <a:lnTo>
                    <a:pt x="6379083" y="0"/>
                  </a:lnTo>
                  <a:cubicBezTo>
                    <a:pt x="6761480" y="0"/>
                    <a:pt x="7071487" y="309372"/>
                    <a:pt x="7071487" y="690880"/>
                  </a:cubicBezTo>
                  <a:lnTo>
                    <a:pt x="7071487" y="3454400"/>
                  </a:lnTo>
                  <a:cubicBezTo>
                    <a:pt x="7071487" y="3835908"/>
                    <a:pt x="6761480" y="4145280"/>
                    <a:pt x="6379083" y="4145280"/>
                  </a:cubicBezTo>
                  <a:lnTo>
                    <a:pt x="692404" y="4145280"/>
                  </a:lnTo>
                  <a:cubicBezTo>
                    <a:pt x="310007" y="4145280"/>
                    <a:pt x="0" y="3835908"/>
                    <a:pt x="0" y="3454400"/>
                  </a:cubicBezTo>
                  <a:close/>
                </a:path>
              </a:pathLst>
            </a:custGeom>
            <a:solidFill>
              <a:srgbClr val="180E66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092569" cy="4166362"/>
            </a:xfrm>
            <a:custGeom>
              <a:avLst/>
              <a:gdLst/>
              <a:ahLst/>
              <a:cxnLst/>
              <a:rect r="r" b="b" t="t" l="l"/>
              <a:pathLst>
                <a:path h="4166362" w="7092569">
                  <a:moveTo>
                    <a:pt x="0" y="701421"/>
                  </a:moveTo>
                  <a:cubicBezTo>
                    <a:pt x="0" y="314071"/>
                    <a:pt x="314706" y="0"/>
                    <a:pt x="702945" y="0"/>
                  </a:cubicBezTo>
                  <a:lnTo>
                    <a:pt x="6389624" y="0"/>
                  </a:lnTo>
                  <a:lnTo>
                    <a:pt x="6389624" y="10541"/>
                  </a:lnTo>
                  <a:lnTo>
                    <a:pt x="6389624" y="0"/>
                  </a:lnTo>
                  <a:cubicBezTo>
                    <a:pt x="6777863" y="0"/>
                    <a:pt x="7092569" y="314071"/>
                    <a:pt x="7092569" y="701421"/>
                  </a:cubicBezTo>
                  <a:lnTo>
                    <a:pt x="7082028" y="701421"/>
                  </a:lnTo>
                  <a:lnTo>
                    <a:pt x="7092569" y="701421"/>
                  </a:lnTo>
                  <a:lnTo>
                    <a:pt x="7092569" y="3464941"/>
                  </a:lnTo>
                  <a:lnTo>
                    <a:pt x="7082028" y="3464941"/>
                  </a:lnTo>
                  <a:lnTo>
                    <a:pt x="7092569" y="3464941"/>
                  </a:lnTo>
                  <a:cubicBezTo>
                    <a:pt x="7092569" y="3852418"/>
                    <a:pt x="6777863" y="4166362"/>
                    <a:pt x="6389624" y="4166362"/>
                  </a:cubicBezTo>
                  <a:lnTo>
                    <a:pt x="6389624" y="4155821"/>
                  </a:lnTo>
                  <a:lnTo>
                    <a:pt x="6389624" y="4166362"/>
                  </a:lnTo>
                  <a:lnTo>
                    <a:pt x="702945" y="4166362"/>
                  </a:lnTo>
                  <a:lnTo>
                    <a:pt x="702945" y="4155821"/>
                  </a:lnTo>
                  <a:lnTo>
                    <a:pt x="702945" y="4166362"/>
                  </a:lnTo>
                  <a:cubicBezTo>
                    <a:pt x="314706" y="4166489"/>
                    <a:pt x="0" y="3852418"/>
                    <a:pt x="0" y="3464941"/>
                  </a:cubicBezTo>
                  <a:lnTo>
                    <a:pt x="0" y="701421"/>
                  </a:lnTo>
                  <a:lnTo>
                    <a:pt x="10541" y="701421"/>
                  </a:lnTo>
                  <a:lnTo>
                    <a:pt x="0" y="701421"/>
                  </a:lnTo>
                  <a:moveTo>
                    <a:pt x="21209" y="701421"/>
                  </a:moveTo>
                  <a:lnTo>
                    <a:pt x="21209" y="3464941"/>
                  </a:lnTo>
                  <a:lnTo>
                    <a:pt x="10541" y="3464941"/>
                  </a:lnTo>
                  <a:lnTo>
                    <a:pt x="21082" y="3464941"/>
                  </a:lnTo>
                  <a:cubicBezTo>
                    <a:pt x="21082" y="3840607"/>
                    <a:pt x="326263" y="4145280"/>
                    <a:pt x="702818" y="4145280"/>
                  </a:cubicBezTo>
                  <a:lnTo>
                    <a:pt x="6389624" y="4145280"/>
                  </a:lnTo>
                  <a:cubicBezTo>
                    <a:pt x="6766179" y="4145280"/>
                    <a:pt x="7071360" y="3840734"/>
                    <a:pt x="7071360" y="3464941"/>
                  </a:cubicBezTo>
                  <a:lnTo>
                    <a:pt x="7071360" y="701421"/>
                  </a:lnTo>
                  <a:cubicBezTo>
                    <a:pt x="7071360" y="325755"/>
                    <a:pt x="6766179" y="21082"/>
                    <a:pt x="6389624" y="21082"/>
                  </a:cubicBezTo>
                  <a:lnTo>
                    <a:pt x="702945" y="21082"/>
                  </a:lnTo>
                  <a:lnTo>
                    <a:pt x="702945" y="10541"/>
                  </a:lnTo>
                  <a:lnTo>
                    <a:pt x="702945" y="21082"/>
                  </a:lnTo>
                  <a:cubicBezTo>
                    <a:pt x="326390" y="21209"/>
                    <a:pt x="21209" y="325755"/>
                    <a:pt x="21209" y="701421"/>
                  </a:cubicBezTo>
                  <a:close/>
                </a:path>
              </a:pathLst>
            </a:custGeom>
            <a:solidFill>
              <a:srgbClr val="180E66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2280392" y="1928622"/>
            <a:ext cx="859536" cy="284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9FFFC0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280392" y="2340102"/>
            <a:ext cx="4700016" cy="512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SWITCH TO RASPBERRY PI OS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280392" y="3025902"/>
            <a:ext cx="4700016" cy="1427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DCE7FF"/>
                </a:solidFill>
                <a:latin typeface="Poppins"/>
                <a:ea typeface="Poppins"/>
                <a:cs typeface="Poppins"/>
                <a:sym typeface="Poppins"/>
              </a:rPr>
              <a:t>Final OS. The add-on HAT board is only supported on Raspberry Pi OS, not Ubuntu.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632146" y="5112706"/>
            <a:ext cx="16657958" cy="2393318"/>
            <a:chOff x="0" y="0"/>
            <a:chExt cx="22210611" cy="319109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0541" y="10541"/>
              <a:ext cx="22189439" cy="3169920"/>
            </a:xfrm>
            <a:custGeom>
              <a:avLst/>
              <a:gdLst/>
              <a:ahLst/>
              <a:cxnLst/>
              <a:rect r="r" b="b" t="t" l="l"/>
              <a:pathLst>
                <a:path h="3169920" w="22189439">
                  <a:moveTo>
                    <a:pt x="0" y="528320"/>
                  </a:moveTo>
                  <a:cubicBezTo>
                    <a:pt x="0" y="236601"/>
                    <a:pt x="237998" y="0"/>
                    <a:pt x="531368" y="0"/>
                  </a:cubicBezTo>
                  <a:lnTo>
                    <a:pt x="21658071" y="0"/>
                  </a:lnTo>
                  <a:cubicBezTo>
                    <a:pt x="21951568" y="0"/>
                    <a:pt x="22189439" y="236601"/>
                    <a:pt x="22189439" y="528320"/>
                  </a:cubicBezTo>
                  <a:lnTo>
                    <a:pt x="22189439" y="2641600"/>
                  </a:lnTo>
                  <a:cubicBezTo>
                    <a:pt x="22189439" y="2933446"/>
                    <a:pt x="21951568" y="3169920"/>
                    <a:pt x="21658071" y="3169920"/>
                  </a:cubicBezTo>
                  <a:lnTo>
                    <a:pt x="531368" y="3169920"/>
                  </a:lnTo>
                  <a:cubicBezTo>
                    <a:pt x="237871" y="3169920"/>
                    <a:pt x="0" y="2933319"/>
                    <a:pt x="0" y="2641600"/>
                  </a:cubicBezTo>
                  <a:close/>
                </a:path>
              </a:pathLst>
            </a:custGeom>
            <a:solidFill>
              <a:srgbClr val="FFF5E5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2210522" cy="3191002"/>
            </a:xfrm>
            <a:custGeom>
              <a:avLst/>
              <a:gdLst/>
              <a:ahLst/>
              <a:cxnLst/>
              <a:rect r="r" b="b" t="t" l="l"/>
              <a:pathLst>
                <a:path h="3191002" w="22210522">
                  <a:moveTo>
                    <a:pt x="0" y="538861"/>
                  </a:moveTo>
                  <a:cubicBezTo>
                    <a:pt x="0" y="241173"/>
                    <a:pt x="242697" y="0"/>
                    <a:pt x="541909" y="0"/>
                  </a:cubicBezTo>
                  <a:lnTo>
                    <a:pt x="21668612" y="0"/>
                  </a:lnTo>
                  <a:lnTo>
                    <a:pt x="21668612" y="10541"/>
                  </a:lnTo>
                  <a:lnTo>
                    <a:pt x="21668612" y="0"/>
                  </a:lnTo>
                  <a:cubicBezTo>
                    <a:pt x="21967825" y="0"/>
                    <a:pt x="22210522" y="241173"/>
                    <a:pt x="22210522" y="538861"/>
                  </a:cubicBezTo>
                  <a:lnTo>
                    <a:pt x="22199980" y="538861"/>
                  </a:lnTo>
                  <a:lnTo>
                    <a:pt x="22210522" y="538861"/>
                  </a:lnTo>
                  <a:lnTo>
                    <a:pt x="22210522" y="2652141"/>
                  </a:lnTo>
                  <a:lnTo>
                    <a:pt x="22199980" y="2652141"/>
                  </a:lnTo>
                  <a:lnTo>
                    <a:pt x="22210522" y="2652141"/>
                  </a:lnTo>
                  <a:cubicBezTo>
                    <a:pt x="22210522" y="2949829"/>
                    <a:pt x="21967825" y="3191002"/>
                    <a:pt x="21668612" y="3191002"/>
                  </a:cubicBezTo>
                  <a:lnTo>
                    <a:pt x="21668612" y="3180461"/>
                  </a:lnTo>
                  <a:lnTo>
                    <a:pt x="21668612" y="3191002"/>
                  </a:lnTo>
                  <a:lnTo>
                    <a:pt x="541909" y="3191002"/>
                  </a:lnTo>
                  <a:lnTo>
                    <a:pt x="541909" y="3180461"/>
                  </a:lnTo>
                  <a:lnTo>
                    <a:pt x="541909" y="3191002"/>
                  </a:lnTo>
                  <a:cubicBezTo>
                    <a:pt x="242697" y="3191129"/>
                    <a:pt x="0" y="2949829"/>
                    <a:pt x="0" y="2652141"/>
                  </a:cubicBezTo>
                  <a:lnTo>
                    <a:pt x="0" y="538861"/>
                  </a:lnTo>
                  <a:lnTo>
                    <a:pt x="10541" y="538861"/>
                  </a:lnTo>
                  <a:lnTo>
                    <a:pt x="0" y="538861"/>
                  </a:lnTo>
                  <a:moveTo>
                    <a:pt x="21209" y="538861"/>
                  </a:moveTo>
                  <a:lnTo>
                    <a:pt x="21209" y="2652141"/>
                  </a:lnTo>
                  <a:lnTo>
                    <a:pt x="10541" y="2652141"/>
                  </a:lnTo>
                  <a:lnTo>
                    <a:pt x="21082" y="2652141"/>
                  </a:lnTo>
                  <a:cubicBezTo>
                    <a:pt x="21082" y="2938018"/>
                    <a:pt x="254127" y="3169920"/>
                    <a:pt x="541909" y="3169920"/>
                  </a:cubicBezTo>
                  <a:lnTo>
                    <a:pt x="21668612" y="3169920"/>
                  </a:lnTo>
                  <a:cubicBezTo>
                    <a:pt x="21956268" y="3169920"/>
                    <a:pt x="22189439" y="2938018"/>
                    <a:pt x="22189439" y="2652141"/>
                  </a:cubicBezTo>
                  <a:lnTo>
                    <a:pt x="22189439" y="538861"/>
                  </a:lnTo>
                  <a:cubicBezTo>
                    <a:pt x="22189439" y="252984"/>
                    <a:pt x="21956395" y="21082"/>
                    <a:pt x="21668612" y="21082"/>
                  </a:cubicBezTo>
                  <a:lnTo>
                    <a:pt x="541909" y="21082"/>
                  </a:lnTo>
                  <a:lnTo>
                    <a:pt x="541909" y="10541"/>
                  </a:lnTo>
                  <a:lnTo>
                    <a:pt x="541909" y="21082"/>
                  </a:lnTo>
                  <a:cubicBezTo>
                    <a:pt x="254254" y="21209"/>
                    <a:pt x="21209" y="252984"/>
                    <a:pt x="21209" y="538861"/>
                  </a:cubicBezTo>
                  <a:close/>
                </a:path>
              </a:pathLst>
            </a:custGeom>
            <a:solidFill>
              <a:srgbClr val="C48723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987552" y="5458587"/>
            <a:ext cx="5431536" cy="228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b="true">
                <a:solidFill>
                  <a:srgbClr val="C48723"/>
                </a:solidFill>
                <a:latin typeface="Poppins Bold"/>
                <a:ea typeface="Poppins Bold"/>
                <a:cs typeface="Poppins Bold"/>
                <a:sym typeface="Poppins Bold"/>
              </a:rPr>
              <a:t>WHY RASPBERRY PI OS WON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87552" y="5860542"/>
            <a:ext cx="16038576" cy="1335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19202A"/>
                </a:solidFill>
                <a:latin typeface="Poppins Bold"/>
                <a:ea typeface="Poppins Bold"/>
                <a:cs typeface="Poppins Bold"/>
                <a:sym typeface="Poppins Bold"/>
              </a:rPr>
              <a:t>HAT compatibility decided it: the camera/control HAT ships drivers for Raspberry Pi OS only. Ubuntu stayed useful for early ROS 2 experiments, but the deployed board runs Raspberry Pi OS.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67512" y="9774174"/>
            <a:ext cx="9089136" cy="192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IIT Delhi  ·  ELD411  ·  Mid-Term Review 2026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40080" y="1298448"/>
            <a:ext cx="17007840" cy="13716"/>
            <a:chOff x="0" y="0"/>
            <a:chExt cx="22677120" cy="182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677120" cy="18288"/>
            </a:xfrm>
            <a:custGeom>
              <a:avLst/>
              <a:gdLst/>
              <a:ahLst/>
              <a:cxnLst/>
              <a:rect r="r" b="b" t="t" l="l"/>
              <a:pathLst>
                <a:path h="1828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D5DBE8"/>
            </a:solidFill>
          </p:spPr>
        </p:sp>
      </p:grpSp>
      <p:pic>
        <p:nvPicPr>
          <p:cNvPr name="Picture 4" id="4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1020" t="5898" r="0" b="3303"/>
          <a:stretch>
            <a:fillRect/>
          </a:stretch>
        </p:blipFill>
        <p:spPr>
          <a:xfrm flipH="false" flipV="false" rot="0">
            <a:off x="1829023" y="1397889"/>
            <a:ext cx="14068979" cy="8281926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667512" y="310515"/>
            <a:ext cx="10917936" cy="247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VALIDATION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67512" y="620649"/>
            <a:ext cx="15032736" cy="540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Simulation Recording — Gazebo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943832" y="347091"/>
            <a:ext cx="676656" cy="247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59"/>
              </a:lnSpc>
            </a:pPr>
            <a:r>
              <a:rPr lang="en-US" sz="1299" b="true">
                <a:solidFill>
                  <a:srgbClr val="646E7A"/>
                </a:solidFill>
                <a:latin typeface="Poppins Bold"/>
                <a:ea typeface="Poppins Bold"/>
                <a:cs typeface="Poppins Bold"/>
                <a:sym typeface="Poppins Bold"/>
              </a:rPr>
              <a:t>11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7512" y="9774174"/>
            <a:ext cx="9089136" cy="192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IIT Delhi  ·  ELD411  ·  Mid-Term Review 2026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0130" y="562918"/>
            <a:ext cx="1862286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1"/>
              </a:lnSpc>
            </a:pPr>
            <a:r>
              <a:rPr lang="en-US" b="true" sz="5001">
                <a:solidFill>
                  <a:srgbClr val="180E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VISION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17706" y="1400127"/>
            <a:ext cx="17021137" cy="16469"/>
            <a:chOff x="0" y="0"/>
            <a:chExt cx="22694849" cy="219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694900" cy="21971"/>
            </a:xfrm>
            <a:custGeom>
              <a:avLst/>
              <a:gdLst/>
              <a:ahLst/>
              <a:cxnLst/>
              <a:rect r="r" b="b" t="t" l="l"/>
              <a:pathLst>
                <a:path h="21971" w="22694900">
                  <a:moveTo>
                    <a:pt x="0" y="0"/>
                  </a:moveTo>
                  <a:lnTo>
                    <a:pt x="22694900" y="0"/>
                  </a:lnTo>
                  <a:lnTo>
                    <a:pt x="22694900" y="21971"/>
                  </a:lnTo>
                  <a:lnTo>
                    <a:pt x="0" y="21971"/>
                  </a:lnTo>
                  <a:close/>
                </a:path>
              </a:pathLst>
            </a:custGeom>
            <a:solidFill>
              <a:srgbClr val="D5DBE8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6783183" y="327917"/>
            <a:ext cx="887720" cy="349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1"/>
              </a:lnSpc>
            </a:pPr>
            <a:r>
              <a:rPr lang="en-US" sz="1801" b="true">
                <a:solidFill>
                  <a:srgbClr val="646E7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05790" y="1703927"/>
            <a:ext cx="8465763" cy="7093096"/>
            <a:chOff x="0" y="0"/>
            <a:chExt cx="11287684" cy="945746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287760" cy="9457563"/>
            </a:xfrm>
            <a:custGeom>
              <a:avLst/>
              <a:gdLst/>
              <a:ahLst/>
              <a:cxnLst/>
              <a:rect r="r" b="b" t="t" l="l"/>
              <a:pathLst>
                <a:path h="9457563" w="11287760">
                  <a:moveTo>
                    <a:pt x="0" y="1576324"/>
                  </a:moveTo>
                  <a:cubicBezTo>
                    <a:pt x="0" y="705739"/>
                    <a:pt x="705739" y="0"/>
                    <a:pt x="1576324" y="0"/>
                  </a:cubicBezTo>
                  <a:lnTo>
                    <a:pt x="9711436" y="0"/>
                  </a:lnTo>
                  <a:cubicBezTo>
                    <a:pt x="10582021" y="0"/>
                    <a:pt x="11287760" y="705739"/>
                    <a:pt x="11287760" y="1576324"/>
                  </a:cubicBezTo>
                  <a:lnTo>
                    <a:pt x="11287760" y="7881239"/>
                  </a:lnTo>
                  <a:cubicBezTo>
                    <a:pt x="11287760" y="8751824"/>
                    <a:pt x="10582021" y="9457563"/>
                    <a:pt x="9711436" y="9457563"/>
                  </a:cubicBezTo>
                  <a:lnTo>
                    <a:pt x="1576324" y="9457563"/>
                  </a:lnTo>
                  <a:cubicBezTo>
                    <a:pt x="705739" y="9457436"/>
                    <a:pt x="0" y="8751697"/>
                    <a:pt x="0" y="7881239"/>
                  </a:cubicBezTo>
                  <a:close/>
                </a:path>
              </a:pathLst>
            </a:custGeom>
            <a:solidFill>
              <a:srgbClr val="FFFFFF"/>
            </a:solidFill>
            <a:ln w="23831" cap="sq">
              <a:solidFill>
                <a:srgbClr val="D5DBE8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881273" y="1894284"/>
            <a:ext cx="5914796" cy="5971127"/>
            <a:chOff x="0" y="0"/>
            <a:chExt cx="7886395" cy="7961503"/>
          </a:xfrm>
        </p:grpSpPr>
        <p:sp>
          <p:nvSpPr>
            <p:cNvPr name="Freeform 9" id="9" descr="s1_detected.png"/>
            <p:cNvSpPr/>
            <p:nvPr/>
          </p:nvSpPr>
          <p:spPr>
            <a:xfrm flipH="false" flipV="false" rot="0">
              <a:off x="0" y="0"/>
              <a:ext cx="7886446" cy="7961503"/>
            </a:xfrm>
            <a:custGeom>
              <a:avLst/>
              <a:gdLst/>
              <a:ahLst/>
              <a:cxnLst/>
              <a:rect r="r" b="b" t="t" l="l"/>
              <a:pathLst>
                <a:path h="7961503" w="7886446">
                  <a:moveTo>
                    <a:pt x="0" y="0"/>
                  </a:moveTo>
                  <a:lnTo>
                    <a:pt x="7886446" y="0"/>
                  </a:lnTo>
                  <a:lnTo>
                    <a:pt x="7886446" y="7961503"/>
                  </a:lnTo>
                  <a:lnTo>
                    <a:pt x="0" y="79615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654282" y="7932525"/>
            <a:ext cx="8368779" cy="349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 b="true">
                <a:solidFill>
                  <a:srgbClr val="180E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INNER DISK  +  OUTER ZONE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54282" y="8353854"/>
            <a:ext cx="8368779" cy="284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>
                <a:solidFill>
                  <a:srgbClr val="646E7A"/>
                </a:solidFill>
                <a:latin typeface="Calibri (MS)"/>
                <a:ea typeface="Calibri (MS)"/>
                <a:cs typeface="Calibri (MS)"/>
                <a:sym typeface="Calibri (MS)"/>
              </a:rPr>
              <a:t>Red = disk. Purple = inhibition zone. Blue = dish rim.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322260" y="1703927"/>
            <a:ext cx="8397135" cy="7093096"/>
            <a:chOff x="0" y="0"/>
            <a:chExt cx="11196180" cy="945746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196193" cy="9457563"/>
            </a:xfrm>
            <a:custGeom>
              <a:avLst/>
              <a:gdLst/>
              <a:ahLst/>
              <a:cxnLst/>
              <a:rect r="r" b="b" t="t" l="l"/>
              <a:pathLst>
                <a:path h="9457563" w="11196193">
                  <a:moveTo>
                    <a:pt x="0" y="1576324"/>
                  </a:moveTo>
                  <a:cubicBezTo>
                    <a:pt x="0" y="705739"/>
                    <a:pt x="705739" y="0"/>
                    <a:pt x="1576324" y="0"/>
                  </a:cubicBezTo>
                  <a:lnTo>
                    <a:pt x="9619869" y="0"/>
                  </a:lnTo>
                  <a:cubicBezTo>
                    <a:pt x="10490453" y="0"/>
                    <a:pt x="11196193" y="705739"/>
                    <a:pt x="11196193" y="1576324"/>
                  </a:cubicBezTo>
                  <a:lnTo>
                    <a:pt x="11196193" y="7881239"/>
                  </a:lnTo>
                  <a:cubicBezTo>
                    <a:pt x="11196193" y="8751824"/>
                    <a:pt x="10490453" y="9457563"/>
                    <a:pt x="9619869" y="9457563"/>
                  </a:cubicBezTo>
                  <a:lnTo>
                    <a:pt x="1576324" y="9457563"/>
                  </a:lnTo>
                  <a:cubicBezTo>
                    <a:pt x="705739" y="9457436"/>
                    <a:pt x="0" y="8751697"/>
                    <a:pt x="0" y="7881239"/>
                  </a:cubicBezTo>
                  <a:close/>
                </a:path>
              </a:pathLst>
            </a:custGeom>
            <a:solidFill>
              <a:srgbClr val="FFFFFF"/>
            </a:solidFill>
            <a:ln w="23831" cap="sq">
              <a:solidFill>
                <a:srgbClr val="D5DBE8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9540069" y="3249968"/>
            <a:ext cx="7961500" cy="3108779"/>
            <a:chOff x="0" y="0"/>
            <a:chExt cx="10615333" cy="4145039"/>
          </a:xfrm>
        </p:grpSpPr>
        <p:sp>
          <p:nvSpPr>
            <p:cNvPr name="Freeform 15" id="15" descr="02_binary_discs.png"/>
            <p:cNvSpPr/>
            <p:nvPr/>
          </p:nvSpPr>
          <p:spPr>
            <a:xfrm flipH="false" flipV="false" rot="0">
              <a:off x="0" y="0"/>
              <a:ext cx="10615295" cy="4145026"/>
            </a:xfrm>
            <a:custGeom>
              <a:avLst/>
              <a:gdLst/>
              <a:ahLst/>
              <a:cxnLst/>
              <a:rect r="r" b="b" t="t" l="l"/>
              <a:pathLst>
                <a:path h="4145026" w="10615295">
                  <a:moveTo>
                    <a:pt x="0" y="0"/>
                  </a:moveTo>
                  <a:lnTo>
                    <a:pt x="10615295" y="0"/>
                  </a:lnTo>
                  <a:lnTo>
                    <a:pt x="10615295" y="4145026"/>
                  </a:lnTo>
                  <a:lnTo>
                    <a:pt x="0" y="41450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370752" y="7932525"/>
            <a:ext cx="8300152" cy="349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 b="true">
                <a:solidFill>
                  <a:srgbClr val="180E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ANTIBIOTIC DISKS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370752" y="8353854"/>
            <a:ext cx="8300152" cy="284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>
                <a:solidFill>
                  <a:srgbClr val="646E7A"/>
                </a:solidFill>
                <a:latin typeface="Calibri (MS)"/>
                <a:ea typeface="Calibri (MS)"/>
                <a:cs typeface="Calibri (MS)"/>
                <a:sym typeface="Calibri (MS)"/>
              </a:rPr>
              <a:t>Each stamp is a second read. Circles do not give the code.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54282" y="9854260"/>
            <a:ext cx="10908230" cy="266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46E7A"/>
                </a:solidFill>
                <a:latin typeface="Calibri (MS)"/>
                <a:ea typeface="Calibri (MS)"/>
                <a:cs typeface="Calibri (MS)"/>
                <a:sym typeface="Calibri (MS)"/>
              </a:rPr>
              <a:t>IIT Delhi  ·  ELD411  ·  Mid-Term Review 2026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54282" y="300466"/>
            <a:ext cx="12280897" cy="321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2BA7A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STEP 1  ·  CIRCLES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54282" y="591807"/>
            <a:ext cx="15300779" cy="66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180E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Before detection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17706" y="1400127"/>
            <a:ext cx="17021137" cy="16469"/>
            <a:chOff x="0" y="0"/>
            <a:chExt cx="22694849" cy="2195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694900" cy="21971"/>
            </a:xfrm>
            <a:custGeom>
              <a:avLst/>
              <a:gdLst/>
              <a:ahLst/>
              <a:cxnLst/>
              <a:rect r="r" b="b" t="t" l="l"/>
              <a:pathLst>
                <a:path h="21971" w="22694900">
                  <a:moveTo>
                    <a:pt x="0" y="0"/>
                  </a:moveTo>
                  <a:lnTo>
                    <a:pt x="22694900" y="0"/>
                  </a:lnTo>
                  <a:lnTo>
                    <a:pt x="22694900" y="21971"/>
                  </a:lnTo>
                  <a:lnTo>
                    <a:pt x="0" y="21971"/>
                  </a:lnTo>
                  <a:close/>
                </a:path>
              </a:pathLst>
            </a:custGeom>
            <a:solidFill>
              <a:srgbClr val="D5DBE8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6783183" y="327917"/>
            <a:ext cx="887720" cy="349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1"/>
              </a:lnSpc>
            </a:pPr>
            <a:r>
              <a:rPr lang="en-US" sz="1801" b="true">
                <a:solidFill>
                  <a:srgbClr val="646E7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05790" y="1703927"/>
            <a:ext cx="11211116" cy="7642165"/>
            <a:chOff x="0" y="0"/>
            <a:chExt cx="14948154" cy="1018955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948154" cy="10189464"/>
            </a:xfrm>
            <a:custGeom>
              <a:avLst/>
              <a:gdLst/>
              <a:ahLst/>
              <a:cxnLst/>
              <a:rect r="r" b="b" t="t" l="l"/>
              <a:pathLst>
                <a:path h="10189464" w="14948154">
                  <a:moveTo>
                    <a:pt x="0" y="1698244"/>
                  </a:moveTo>
                  <a:cubicBezTo>
                    <a:pt x="0" y="760349"/>
                    <a:pt x="760349" y="0"/>
                    <a:pt x="1698244" y="0"/>
                  </a:cubicBezTo>
                  <a:lnTo>
                    <a:pt x="13249911" y="0"/>
                  </a:lnTo>
                  <a:cubicBezTo>
                    <a:pt x="14187805" y="0"/>
                    <a:pt x="14948154" y="760349"/>
                    <a:pt x="14948154" y="1698244"/>
                  </a:cubicBezTo>
                  <a:lnTo>
                    <a:pt x="14948154" y="8491220"/>
                  </a:lnTo>
                  <a:cubicBezTo>
                    <a:pt x="14948154" y="9429114"/>
                    <a:pt x="14187805" y="10189464"/>
                    <a:pt x="13249911" y="10189464"/>
                  </a:cubicBezTo>
                  <a:lnTo>
                    <a:pt x="1698244" y="10189464"/>
                  </a:lnTo>
                  <a:cubicBezTo>
                    <a:pt x="760349" y="10189591"/>
                    <a:pt x="0" y="9429242"/>
                    <a:pt x="0" y="8491220"/>
                  </a:cubicBezTo>
                  <a:close/>
                </a:path>
              </a:pathLst>
            </a:custGeom>
            <a:solidFill>
              <a:srgbClr val="FFFFFF"/>
            </a:solidFill>
            <a:ln w="23831" cap="sq">
              <a:solidFill>
                <a:srgbClr val="D5DBE8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2642073" y="1921745"/>
            <a:ext cx="7138540" cy="7206529"/>
            <a:chOff x="0" y="0"/>
            <a:chExt cx="9518053" cy="9608706"/>
          </a:xfrm>
        </p:grpSpPr>
        <p:sp>
          <p:nvSpPr>
            <p:cNvPr name="Freeform 10" id="10" descr="s1.png"/>
            <p:cNvSpPr/>
            <p:nvPr/>
          </p:nvSpPr>
          <p:spPr>
            <a:xfrm flipH="false" flipV="false" rot="0">
              <a:off x="0" y="0"/>
              <a:ext cx="9518015" cy="9608693"/>
            </a:xfrm>
            <a:custGeom>
              <a:avLst/>
              <a:gdLst/>
              <a:ahLst/>
              <a:cxnLst/>
              <a:rect r="r" b="b" t="t" l="l"/>
              <a:pathLst>
                <a:path h="9608693" w="9518015">
                  <a:moveTo>
                    <a:pt x="0" y="0"/>
                  </a:moveTo>
                  <a:lnTo>
                    <a:pt x="9518015" y="0"/>
                  </a:lnTo>
                  <a:lnTo>
                    <a:pt x="9518015" y="9608693"/>
                  </a:lnTo>
                  <a:lnTo>
                    <a:pt x="0" y="96086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067604" y="1703927"/>
            <a:ext cx="5651783" cy="7642165"/>
            <a:chOff x="0" y="0"/>
            <a:chExt cx="7535710" cy="1018955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535799" cy="10189591"/>
            </a:xfrm>
            <a:custGeom>
              <a:avLst/>
              <a:gdLst/>
              <a:ahLst/>
              <a:cxnLst/>
              <a:rect r="r" b="b" t="t" l="l"/>
              <a:pathLst>
                <a:path h="10189591" w="7535799">
                  <a:moveTo>
                    <a:pt x="0" y="1256030"/>
                  </a:moveTo>
                  <a:cubicBezTo>
                    <a:pt x="0" y="562356"/>
                    <a:pt x="562356" y="0"/>
                    <a:pt x="1256030" y="0"/>
                  </a:cubicBezTo>
                  <a:lnTo>
                    <a:pt x="6279769" y="0"/>
                  </a:lnTo>
                  <a:cubicBezTo>
                    <a:pt x="6973443" y="0"/>
                    <a:pt x="7535799" y="562356"/>
                    <a:pt x="7535799" y="1256030"/>
                  </a:cubicBezTo>
                  <a:lnTo>
                    <a:pt x="7535799" y="8933561"/>
                  </a:lnTo>
                  <a:cubicBezTo>
                    <a:pt x="7535799" y="9627235"/>
                    <a:pt x="6973443" y="10189591"/>
                    <a:pt x="6279769" y="10189591"/>
                  </a:cubicBezTo>
                  <a:lnTo>
                    <a:pt x="1256030" y="10189591"/>
                  </a:lnTo>
                  <a:cubicBezTo>
                    <a:pt x="562356" y="10189591"/>
                    <a:pt x="0" y="9627235"/>
                    <a:pt x="0" y="8933561"/>
                  </a:cubicBezTo>
                  <a:close/>
                </a:path>
              </a:pathLst>
            </a:custGeom>
            <a:solidFill>
              <a:srgbClr val="180E66"/>
            </a:solidFill>
            <a:ln w="23831" cap="sq">
              <a:solidFill>
                <a:srgbClr val="180E66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2459262" y="2057486"/>
            <a:ext cx="4868466" cy="349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9FFFC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INPUT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459262" y="2675192"/>
            <a:ext cx="4868466" cy="92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Raw plate. No circle is drawn yet.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459262" y="3969706"/>
            <a:ext cx="4868466" cy="935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DCE7FF"/>
                </a:solidFill>
                <a:latin typeface="Consolas"/>
                <a:ea typeface="Consolas"/>
                <a:cs typeface="Consolas"/>
                <a:sym typeface="Consolas"/>
              </a:rPr>
              <a:t>cv2.cvtColor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DCE7FF"/>
                </a:solidFill>
                <a:latin typeface="Consolas"/>
                <a:ea typeface="Consolas"/>
                <a:cs typeface="Consolas"/>
                <a:sym typeface="Consolas"/>
              </a:rPr>
              <a:t>BGR to gray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459262" y="5067843"/>
            <a:ext cx="4868466" cy="1003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DCE7FF"/>
                </a:solidFill>
                <a:latin typeface="Consolas"/>
                <a:ea typeface="Consolas"/>
                <a:cs typeface="Consolas"/>
                <a:sym typeface="Consolas"/>
              </a:rPr>
              <a:t>cv2.GaussianBlur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DCE7FF"/>
                </a:solidFill>
                <a:latin typeface="Consolas"/>
                <a:ea typeface="Consolas"/>
                <a:cs typeface="Consolas"/>
                <a:sym typeface="Consolas"/>
              </a:rPr>
              <a:t>gray, (9, 9), 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459262" y="6440510"/>
            <a:ext cx="4868466" cy="1621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Blur is only here so speckle does not become a circle.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54282" y="9854260"/>
            <a:ext cx="10908230" cy="266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46E7A"/>
                </a:solidFill>
                <a:latin typeface="Calibri (MS)"/>
                <a:ea typeface="Calibri (MS)"/>
                <a:cs typeface="Calibri (MS)"/>
                <a:sym typeface="Calibri (MS)"/>
              </a:rPr>
              <a:t>IIT Delhi  ·  ELD411  ·  Mid-Term Review 2026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54282" y="300466"/>
            <a:ext cx="12280897" cy="321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2BA7A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STEP 1  ·  CIRCLES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54282" y="591807"/>
            <a:ext cx="15300779" cy="66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180E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After detection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17706" y="1400127"/>
            <a:ext cx="17021137" cy="16469"/>
            <a:chOff x="0" y="0"/>
            <a:chExt cx="22694849" cy="2195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694900" cy="21971"/>
            </a:xfrm>
            <a:custGeom>
              <a:avLst/>
              <a:gdLst/>
              <a:ahLst/>
              <a:cxnLst/>
              <a:rect r="r" b="b" t="t" l="l"/>
              <a:pathLst>
                <a:path h="21971" w="22694900">
                  <a:moveTo>
                    <a:pt x="0" y="0"/>
                  </a:moveTo>
                  <a:lnTo>
                    <a:pt x="22694900" y="0"/>
                  </a:lnTo>
                  <a:lnTo>
                    <a:pt x="22694900" y="21971"/>
                  </a:lnTo>
                  <a:lnTo>
                    <a:pt x="0" y="21971"/>
                  </a:lnTo>
                  <a:close/>
                </a:path>
              </a:pathLst>
            </a:custGeom>
            <a:solidFill>
              <a:srgbClr val="D5DBE8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6783183" y="327917"/>
            <a:ext cx="887720" cy="349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1"/>
              </a:lnSpc>
            </a:pPr>
            <a:r>
              <a:rPr lang="en-US" sz="1801" b="true">
                <a:solidFill>
                  <a:srgbClr val="646E7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537153" y="1635290"/>
            <a:ext cx="10044341" cy="7710792"/>
            <a:chOff x="0" y="0"/>
            <a:chExt cx="13392455" cy="1028105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392404" cy="10281031"/>
            </a:xfrm>
            <a:custGeom>
              <a:avLst/>
              <a:gdLst/>
              <a:ahLst/>
              <a:cxnLst/>
              <a:rect r="r" b="b" t="t" l="l"/>
              <a:pathLst>
                <a:path h="10281031" w="13392404">
                  <a:moveTo>
                    <a:pt x="0" y="1713484"/>
                  </a:moveTo>
                  <a:cubicBezTo>
                    <a:pt x="0" y="767207"/>
                    <a:pt x="767207" y="0"/>
                    <a:pt x="1713484" y="0"/>
                  </a:cubicBezTo>
                  <a:lnTo>
                    <a:pt x="11678920" y="0"/>
                  </a:lnTo>
                  <a:cubicBezTo>
                    <a:pt x="12625324" y="0"/>
                    <a:pt x="13392404" y="767207"/>
                    <a:pt x="13392404" y="1713484"/>
                  </a:cubicBezTo>
                  <a:lnTo>
                    <a:pt x="13392404" y="8567547"/>
                  </a:lnTo>
                  <a:cubicBezTo>
                    <a:pt x="13392404" y="9513951"/>
                    <a:pt x="12625197" y="10281031"/>
                    <a:pt x="11678920" y="10281031"/>
                  </a:cubicBezTo>
                  <a:lnTo>
                    <a:pt x="1713484" y="10281031"/>
                  </a:lnTo>
                  <a:cubicBezTo>
                    <a:pt x="767207" y="10281031"/>
                    <a:pt x="0" y="9513824"/>
                    <a:pt x="0" y="8567547"/>
                  </a:cubicBezTo>
                  <a:close/>
                </a:path>
              </a:pathLst>
            </a:custGeom>
            <a:solidFill>
              <a:srgbClr val="FFFFFF"/>
            </a:solidFill>
            <a:ln w="23831" cap="sq">
              <a:solidFill>
                <a:srgbClr val="D5DBE8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2092033" y="1990373"/>
            <a:ext cx="6934581" cy="7000627"/>
            <a:chOff x="0" y="0"/>
            <a:chExt cx="9246108" cy="9334170"/>
          </a:xfrm>
        </p:grpSpPr>
        <p:sp>
          <p:nvSpPr>
            <p:cNvPr name="Freeform 10" id="10" descr="s1_detected.png"/>
            <p:cNvSpPr/>
            <p:nvPr/>
          </p:nvSpPr>
          <p:spPr>
            <a:xfrm flipH="false" flipV="false" rot="0">
              <a:off x="0" y="0"/>
              <a:ext cx="9246108" cy="9334119"/>
            </a:xfrm>
            <a:custGeom>
              <a:avLst/>
              <a:gdLst/>
              <a:ahLst/>
              <a:cxnLst/>
              <a:rect r="r" b="b" t="t" l="l"/>
              <a:pathLst>
                <a:path h="9334119" w="9246108">
                  <a:moveTo>
                    <a:pt x="0" y="0"/>
                  </a:moveTo>
                  <a:lnTo>
                    <a:pt x="9246108" y="0"/>
                  </a:lnTo>
                  <a:lnTo>
                    <a:pt x="9246108" y="9334119"/>
                  </a:lnTo>
                  <a:lnTo>
                    <a:pt x="0" y="93341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832192" y="1635290"/>
            <a:ext cx="6887194" cy="2426008"/>
            <a:chOff x="0" y="0"/>
            <a:chExt cx="9182926" cy="323467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82862" cy="3234690"/>
            </a:xfrm>
            <a:custGeom>
              <a:avLst/>
              <a:gdLst/>
              <a:ahLst/>
              <a:cxnLst/>
              <a:rect r="r" b="b" t="t" l="l"/>
              <a:pathLst>
                <a:path h="3234690" w="9182862">
                  <a:moveTo>
                    <a:pt x="0" y="539115"/>
                  </a:moveTo>
                  <a:cubicBezTo>
                    <a:pt x="0" y="241427"/>
                    <a:pt x="241427" y="0"/>
                    <a:pt x="539115" y="0"/>
                  </a:cubicBezTo>
                  <a:lnTo>
                    <a:pt x="8643747" y="0"/>
                  </a:lnTo>
                  <a:cubicBezTo>
                    <a:pt x="8941435" y="0"/>
                    <a:pt x="9182862" y="241427"/>
                    <a:pt x="9182862" y="539115"/>
                  </a:cubicBezTo>
                  <a:lnTo>
                    <a:pt x="9182862" y="2695575"/>
                  </a:lnTo>
                  <a:cubicBezTo>
                    <a:pt x="9182862" y="2993263"/>
                    <a:pt x="8941435" y="3234690"/>
                    <a:pt x="8643747" y="3234690"/>
                  </a:cubicBezTo>
                  <a:lnTo>
                    <a:pt x="539115" y="3234690"/>
                  </a:lnTo>
                  <a:cubicBezTo>
                    <a:pt x="241427" y="3234690"/>
                    <a:pt x="0" y="2993263"/>
                    <a:pt x="0" y="2695575"/>
                  </a:cubicBezTo>
                  <a:close/>
                </a:path>
              </a:pathLst>
            </a:custGeom>
            <a:solidFill>
              <a:srgbClr val="FFFFFF"/>
            </a:solidFill>
            <a:ln w="23831" cap="sq">
              <a:solidFill>
                <a:srgbClr val="D5DBE8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1155223" y="1800873"/>
            <a:ext cx="6241142" cy="413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180E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   DISH RIM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155223" y="2304564"/>
            <a:ext cx="6241142" cy="1474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646E7A"/>
                </a:solidFill>
                <a:latin typeface="Consolas"/>
                <a:ea typeface="Consolas"/>
                <a:cs typeface="Consolas"/>
                <a:sym typeface="Consolas"/>
              </a:rPr>
              <a:t>cv2.HoughCircles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646E7A"/>
                </a:solidFill>
                <a:latin typeface="Consolas"/>
                <a:ea typeface="Consolas"/>
                <a:cs typeface="Consolas"/>
                <a:sym typeface="Consolas"/>
              </a:rPr>
              <a:t>HOUGH_GRADIENT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646E7A"/>
                </a:solidFill>
                <a:latin typeface="Consolas"/>
                <a:ea typeface="Consolas"/>
                <a:cs typeface="Consolas"/>
                <a:sym typeface="Consolas"/>
              </a:rPr>
              <a:t>Largest circle. Blue.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832192" y="4243368"/>
            <a:ext cx="6887194" cy="2426008"/>
            <a:chOff x="0" y="0"/>
            <a:chExt cx="9182926" cy="323467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182862" cy="3234690"/>
            </a:xfrm>
            <a:custGeom>
              <a:avLst/>
              <a:gdLst/>
              <a:ahLst/>
              <a:cxnLst/>
              <a:rect r="r" b="b" t="t" l="l"/>
              <a:pathLst>
                <a:path h="3234690" w="9182862">
                  <a:moveTo>
                    <a:pt x="0" y="539115"/>
                  </a:moveTo>
                  <a:cubicBezTo>
                    <a:pt x="0" y="241427"/>
                    <a:pt x="241427" y="0"/>
                    <a:pt x="539115" y="0"/>
                  </a:cubicBezTo>
                  <a:lnTo>
                    <a:pt x="8643747" y="0"/>
                  </a:lnTo>
                  <a:cubicBezTo>
                    <a:pt x="8941435" y="0"/>
                    <a:pt x="9182862" y="241427"/>
                    <a:pt x="9182862" y="539115"/>
                  </a:cubicBezTo>
                  <a:lnTo>
                    <a:pt x="9182862" y="2695575"/>
                  </a:lnTo>
                  <a:cubicBezTo>
                    <a:pt x="9182862" y="2993263"/>
                    <a:pt x="8941435" y="3234690"/>
                    <a:pt x="8643747" y="3234690"/>
                  </a:cubicBezTo>
                  <a:lnTo>
                    <a:pt x="539115" y="3234690"/>
                  </a:lnTo>
                  <a:cubicBezTo>
                    <a:pt x="241427" y="3234690"/>
                    <a:pt x="0" y="2993263"/>
                    <a:pt x="0" y="2695575"/>
                  </a:cubicBezTo>
                  <a:close/>
                </a:path>
              </a:pathLst>
            </a:custGeom>
            <a:solidFill>
              <a:srgbClr val="FFFFFF"/>
            </a:solidFill>
            <a:ln w="23831" cap="sq">
              <a:solidFill>
                <a:srgbClr val="D5DBE8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1155223" y="4408961"/>
            <a:ext cx="6241142" cy="413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180E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   INNER DISK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155223" y="4912643"/>
            <a:ext cx="6241142" cy="1474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646E7A"/>
                </a:solidFill>
                <a:latin typeface="Consolas"/>
                <a:ea typeface="Consolas"/>
                <a:cs typeface="Consolas"/>
                <a:sym typeface="Consolas"/>
              </a:rPr>
              <a:t>HoughCircles again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646E7A"/>
                </a:solidFill>
                <a:latin typeface="Consolas"/>
                <a:ea typeface="Consolas"/>
                <a:cs typeface="Consolas"/>
                <a:sym typeface="Consolas"/>
              </a:rPr>
              <a:t>radius 1.6–4.5 mm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646E7A"/>
                </a:solidFill>
                <a:latin typeface="Consolas"/>
                <a:ea typeface="Consolas"/>
                <a:cs typeface="Consolas"/>
                <a:sym typeface="Consolas"/>
              </a:rPr>
              <a:t>Brightness gate. Red.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832192" y="6851447"/>
            <a:ext cx="6887194" cy="2426008"/>
            <a:chOff x="0" y="0"/>
            <a:chExt cx="9182926" cy="323467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182862" cy="3234690"/>
            </a:xfrm>
            <a:custGeom>
              <a:avLst/>
              <a:gdLst/>
              <a:ahLst/>
              <a:cxnLst/>
              <a:rect r="r" b="b" t="t" l="l"/>
              <a:pathLst>
                <a:path h="3234690" w="9182862">
                  <a:moveTo>
                    <a:pt x="0" y="539115"/>
                  </a:moveTo>
                  <a:cubicBezTo>
                    <a:pt x="0" y="241427"/>
                    <a:pt x="241427" y="0"/>
                    <a:pt x="539115" y="0"/>
                  </a:cubicBezTo>
                  <a:lnTo>
                    <a:pt x="8643747" y="0"/>
                  </a:lnTo>
                  <a:cubicBezTo>
                    <a:pt x="8941435" y="0"/>
                    <a:pt x="9182862" y="241427"/>
                    <a:pt x="9182862" y="539115"/>
                  </a:cubicBezTo>
                  <a:lnTo>
                    <a:pt x="9182862" y="2695575"/>
                  </a:lnTo>
                  <a:cubicBezTo>
                    <a:pt x="9182862" y="2993263"/>
                    <a:pt x="8941435" y="3234690"/>
                    <a:pt x="8643747" y="3234690"/>
                  </a:cubicBezTo>
                  <a:lnTo>
                    <a:pt x="539115" y="3234690"/>
                  </a:lnTo>
                  <a:cubicBezTo>
                    <a:pt x="241427" y="3234690"/>
                    <a:pt x="0" y="2993263"/>
                    <a:pt x="0" y="2695575"/>
                  </a:cubicBezTo>
                  <a:close/>
                </a:path>
              </a:pathLst>
            </a:custGeom>
            <a:solidFill>
              <a:srgbClr val="FFFFFF"/>
            </a:solidFill>
            <a:ln w="23831" cap="sq">
              <a:solidFill>
                <a:srgbClr val="D5DBE8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1155223" y="7017029"/>
            <a:ext cx="6241142" cy="413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180E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 OUTER ZONE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155223" y="7520721"/>
            <a:ext cx="6241142" cy="1474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646E7A"/>
                </a:solidFill>
                <a:latin typeface="Consolas"/>
                <a:ea typeface="Consolas"/>
                <a:cs typeface="Consolas"/>
                <a:sym typeface="Consolas"/>
              </a:rPr>
              <a:t>Radial profile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646E7A"/>
                </a:solidFill>
                <a:latin typeface="Consolas"/>
                <a:ea typeface="Consolas"/>
                <a:cs typeface="Consolas"/>
                <a:sym typeface="Consolas"/>
              </a:rPr>
              <a:t>Not Hough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646E7A"/>
                </a:solidFill>
                <a:latin typeface="Consolas"/>
                <a:ea typeface="Consolas"/>
                <a:cs typeface="Consolas"/>
                <a:sym typeface="Consolas"/>
              </a:rPr>
              <a:t>Gray step around the disk. Purple.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54282" y="9854260"/>
            <a:ext cx="10908230" cy="266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46E7A"/>
                </a:solidFill>
                <a:latin typeface="Calibri (MS)"/>
                <a:ea typeface="Calibri (MS)"/>
                <a:cs typeface="Calibri (MS)"/>
                <a:sym typeface="Calibri (MS)"/>
              </a:rPr>
              <a:t>IIT Delhi  ·  ELD411  ·  Mid-Term Review 2026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54282" y="300466"/>
            <a:ext cx="12280897" cy="321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2BA7A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STEP 2  ·  STAMP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54282" y="591807"/>
            <a:ext cx="15300779" cy="66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180E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Low-pass  ·  Gaussian blur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17706" y="1400127"/>
            <a:ext cx="17021137" cy="16469"/>
            <a:chOff x="0" y="0"/>
            <a:chExt cx="22694849" cy="2195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694900" cy="21971"/>
            </a:xfrm>
            <a:custGeom>
              <a:avLst/>
              <a:gdLst/>
              <a:ahLst/>
              <a:cxnLst/>
              <a:rect r="r" b="b" t="t" l="l"/>
              <a:pathLst>
                <a:path h="21971" w="22694900">
                  <a:moveTo>
                    <a:pt x="0" y="0"/>
                  </a:moveTo>
                  <a:lnTo>
                    <a:pt x="22694900" y="0"/>
                  </a:lnTo>
                  <a:lnTo>
                    <a:pt x="22694900" y="21971"/>
                  </a:lnTo>
                  <a:lnTo>
                    <a:pt x="0" y="21971"/>
                  </a:lnTo>
                  <a:close/>
                </a:path>
              </a:pathLst>
            </a:custGeom>
            <a:solidFill>
              <a:srgbClr val="D5DBE8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6783183" y="327917"/>
            <a:ext cx="887720" cy="349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1"/>
              </a:lnSpc>
            </a:pPr>
            <a:r>
              <a:rPr lang="en-US" sz="1801" b="true">
                <a:solidFill>
                  <a:srgbClr val="646E7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54282" y="1535868"/>
            <a:ext cx="16947985" cy="404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2BA7A0"/>
                </a:solidFill>
                <a:latin typeface="Consolas Bold"/>
                <a:ea typeface="Consolas Bold"/>
                <a:cs typeface="Consolas Bold"/>
                <a:sym typeface="Consolas Bold"/>
              </a:rPr>
              <a:t>cv2.GaussianBlur(gray, (15, 15), 4)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05790" y="2074545"/>
            <a:ext cx="8259861" cy="6269488"/>
            <a:chOff x="0" y="0"/>
            <a:chExt cx="11013148" cy="835931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013059" cy="8359267"/>
            </a:xfrm>
            <a:custGeom>
              <a:avLst/>
              <a:gdLst/>
              <a:ahLst/>
              <a:cxnLst/>
              <a:rect r="r" b="b" t="t" l="l"/>
              <a:pathLst>
                <a:path h="8359267" w="11013059">
                  <a:moveTo>
                    <a:pt x="0" y="1393190"/>
                  </a:moveTo>
                  <a:cubicBezTo>
                    <a:pt x="0" y="623824"/>
                    <a:pt x="623824" y="0"/>
                    <a:pt x="1393190" y="0"/>
                  </a:cubicBezTo>
                  <a:lnTo>
                    <a:pt x="9619869" y="0"/>
                  </a:lnTo>
                  <a:cubicBezTo>
                    <a:pt x="10389362" y="0"/>
                    <a:pt x="11013059" y="623824"/>
                    <a:pt x="11013059" y="1393190"/>
                  </a:cubicBezTo>
                  <a:lnTo>
                    <a:pt x="11013059" y="6966077"/>
                  </a:lnTo>
                  <a:cubicBezTo>
                    <a:pt x="11013059" y="7735570"/>
                    <a:pt x="10389235" y="8359267"/>
                    <a:pt x="9619869" y="8359267"/>
                  </a:cubicBezTo>
                  <a:lnTo>
                    <a:pt x="1393190" y="8359267"/>
                  </a:lnTo>
                  <a:cubicBezTo>
                    <a:pt x="623824" y="8359267"/>
                    <a:pt x="0" y="7735570"/>
                    <a:pt x="0" y="6966077"/>
                  </a:cubicBezTo>
                  <a:close/>
                </a:path>
              </a:pathLst>
            </a:custGeom>
            <a:solidFill>
              <a:srgbClr val="FFFFFF"/>
            </a:solidFill>
            <a:ln w="23831" cap="sq">
              <a:solidFill>
                <a:srgbClr val="D5DBE8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2024691" y="2251186"/>
            <a:ext cx="5422059" cy="5422059"/>
            <a:chOff x="0" y="0"/>
            <a:chExt cx="7229412" cy="7229412"/>
          </a:xfrm>
        </p:grpSpPr>
        <p:sp>
          <p:nvSpPr>
            <p:cNvPr name="Freeform 11" id="11" descr="00_before.png"/>
            <p:cNvSpPr/>
            <p:nvPr/>
          </p:nvSpPr>
          <p:spPr>
            <a:xfrm flipH="false" flipV="false" rot="0">
              <a:off x="0" y="0"/>
              <a:ext cx="7229348" cy="7229348"/>
            </a:xfrm>
            <a:custGeom>
              <a:avLst/>
              <a:gdLst/>
              <a:ahLst/>
              <a:cxnLst/>
              <a:rect r="r" b="b" t="t" l="l"/>
              <a:pathLst>
                <a:path h="7229348" w="7229348">
                  <a:moveTo>
                    <a:pt x="0" y="0"/>
                  </a:moveTo>
                  <a:lnTo>
                    <a:pt x="7229348" y="0"/>
                  </a:lnTo>
                  <a:lnTo>
                    <a:pt x="7229348" y="7229348"/>
                  </a:lnTo>
                  <a:lnTo>
                    <a:pt x="0" y="7229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654282" y="7626334"/>
            <a:ext cx="8162887" cy="339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true">
                <a:solidFill>
                  <a:srgbClr val="646E7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BEFORE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390888" y="2074545"/>
            <a:ext cx="8259861" cy="6269488"/>
            <a:chOff x="0" y="0"/>
            <a:chExt cx="11013148" cy="835931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13059" cy="8359267"/>
            </a:xfrm>
            <a:custGeom>
              <a:avLst/>
              <a:gdLst/>
              <a:ahLst/>
              <a:cxnLst/>
              <a:rect r="r" b="b" t="t" l="l"/>
              <a:pathLst>
                <a:path h="8359267" w="11013059">
                  <a:moveTo>
                    <a:pt x="0" y="1393190"/>
                  </a:moveTo>
                  <a:cubicBezTo>
                    <a:pt x="0" y="623824"/>
                    <a:pt x="623824" y="0"/>
                    <a:pt x="1393190" y="0"/>
                  </a:cubicBezTo>
                  <a:lnTo>
                    <a:pt x="9619869" y="0"/>
                  </a:lnTo>
                  <a:cubicBezTo>
                    <a:pt x="10389362" y="0"/>
                    <a:pt x="11013059" y="623824"/>
                    <a:pt x="11013059" y="1393190"/>
                  </a:cubicBezTo>
                  <a:lnTo>
                    <a:pt x="11013059" y="6966077"/>
                  </a:lnTo>
                  <a:cubicBezTo>
                    <a:pt x="11013059" y="7735570"/>
                    <a:pt x="10389235" y="8359267"/>
                    <a:pt x="9619869" y="8359267"/>
                  </a:cubicBezTo>
                  <a:lnTo>
                    <a:pt x="1393190" y="8359267"/>
                  </a:lnTo>
                  <a:cubicBezTo>
                    <a:pt x="623824" y="8359267"/>
                    <a:pt x="0" y="7735570"/>
                    <a:pt x="0" y="6966077"/>
                  </a:cubicBezTo>
                  <a:close/>
                </a:path>
              </a:pathLst>
            </a:custGeom>
            <a:solidFill>
              <a:srgbClr val="FFFFFF"/>
            </a:solidFill>
            <a:ln w="23831" cap="sq">
              <a:solidFill>
                <a:srgbClr val="D5DBE8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0809799" y="2251186"/>
            <a:ext cx="5422059" cy="5422059"/>
            <a:chOff x="0" y="0"/>
            <a:chExt cx="7229412" cy="7229412"/>
          </a:xfrm>
        </p:grpSpPr>
        <p:sp>
          <p:nvSpPr>
            <p:cNvPr name="Freeform 16" id="16" descr="01_gaussian.png"/>
            <p:cNvSpPr/>
            <p:nvPr/>
          </p:nvSpPr>
          <p:spPr>
            <a:xfrm flipH="false" flipV="false" rot="0">
              <a:off x="0" y="0"/>
              <a:ext cx="7229348" cy="7229348"/>
            </a:xfrm>
            <a:custGeom>
              <a:avLst/>
              <a:gdLst/>
              <a:ahLst/>
              <a:cxnLst/>
              <a:rect r="r" b="b" t="t" l="l"/>
              <a:pathLst>
                <a:path h="7229348" w="7229348">
                  <a:moveTo>
                    <a:pt x="0" y="0"/>
                  </a:moveTo>
                  <a:lnTo>
                    <a:pt x="7229348" y="0"/>
                  </a:lnTo>
                  <a:lnTo>
                    <a:pt x="7229348" y="7229348"/>
                  </a:lnTo>
                  <a:lnTo>
                    <a:pt x="0" y="7229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439380" y="7626334"/>
            <a:ext cx="8162887" cy="339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true">
                <a:solidFill>
                  <a:srgbClr val="646E7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AFTER  ·  GAUSSIAN BLUR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05790" y="8430016"/>
            <a:ext cx="17044968" cy="1259234"/>
            <a:chOff x="0" y="0"/>
            <a:chExt cx="22726625" cy="167897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726523" cy="1678813"/>
            </a:xfrm>
            <a:custGeom>
              <a:avLst/>
              <a:gdLst/>
              <a:ahLst/>
              <a:cxnLst/>
              <a:rect r="r" b="b" t="t" l="l"/>
              <a:pathLst>
                <a:path h="1678813" w="22726523">
                  <a:moveTo>
                    <a:pt x="0" y="279781"/>
                  </a:moveTo>
                  <a:cubicBezTo>
                    <a:pt x="0" y="125349"/>
                    <a:pt x="125349" y="0"/>
                    <a:pt x="279781" y="0"/>
                  </a:cubicBezTo>
                  <a:lnTo>
                    <a:pt x="22446742" y="0"/>
                  </a:lnTo>
                  <a:cubicBezTo>
                    <a:pt x="22601301" y="0"/>
                    <a:pt x="22726523" y="125349"/>
                    <a:pt x="22726523" y="279781"/>
                  </a:cubicBezTo>
                  <a:lnTo>
                    <a:pt x="22726523" y="1399032"/>
                  </a:lnTo>
                  <a:cubicBezTo>
                    <a:pt x="22726523" y="1553591"/>
                    <a:pt x="22601174" y="1678813"/>
                    <a:pt x="22446742" y="1678813"/>
                  </a:cubicBezTo>
                  <a:lnTo>
                    <a:pt x="279781" y="1678813"/>
                  </a:lnTo>
                  <a:cubicBezTo>
                    <a:pt x="125349" y="1678940"/>
                    <a:pt x="0" y="1553718"/>
                    <a:pt x="0" y="1399159"/>
                  </a:cubicBezTo>
                  <a:close/>
                </a:path>
              </a:pathLst>
            </a:custGeom>
            <a:solidFill>
              <a:srgbClr val="E7F6F4"/>
            </a:solidFill>
            <a:ln w="23831" cap="sq">
              <a:solidFill>
                <a:srgbClr val="2BA7A0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892235" y="8620382"/>
            <a:ext cx="16472068" cy="878510"/>
            <a:chOff x="0" y="0"/>
            <a:chExt cx="21962758" cy="117134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962759" cy="1171347"/>
            </a:xfrm>
            <a:custGeom>
              <a:avLst/>
              <a:gdLst/>
              <a:ahLst/>
              <a:cxnLst/>
              <a:rect r="r" b="b" t="t" l="l"/>
              <a:pathLst>
                <a:path h="1171347" w="21962759">
                  <a:moveTo>
                    <a:pt x="0" y="0"/>
                  </a:moveTo>
                  <a:lnTo>
                    <a:pt x="21962759" y="0"/>
                  </a:lnTo>
                  <a:lnTo>
                    <a:pt x="21962759" y="1171347"/>
                  </a:lnTo>
                  <a:lnTo>
                    <a:pt x="0" y="117134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5344" r="0" b="-31534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21962758" cy="12189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>
                  <a:solidFill>
                    <a:srgbClr val="1920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Low-pass. Agar grain and sensor noise become false edges if they reach Canny or Hough. The plate detector uses the same call at (9, 9), σ = 2.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654282" y="9854260"/>
            <a:ext cx="10908230" cy="266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46E7A"/>
                </a:solidFill>
                <a:latin typeface="Calibri (MS)"/>
                <a:ea typeface="Calibri (MS)"/>
                <a:cs typeface="Calibri (MS)"/>
                <a:sym typeface="Calibri (MS)"/>
              </a:rPr>
              <a:t>IIT Delhi  ·  ELD411  ·  Mid-Term Review 2026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54282" y="300466"/>
            <a:ext cx="12280897" cy="321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2BA7A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STEP 2  ·  STAMP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54282" y="591807"/>
            <a:ext cx="15300779" cy="66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180E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Edges  ·  Canny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17706" y="1400127"/>
            <a:ext cx="17021137" cy="16469"/>
            <a:chOff x="0" y="0"/>
            <a:chExt cx="22694849" cy="2195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694900" cy="21971"/>
            </a:xfrm>
            <a:custGeom>
              <a:avLst/>
              <a:gdLst/>
              <a:ahLst/>
              <a:cxnLst/>
              <a:rect r="r" b="b" t="t" l="l"/>
              <a:pathLst>
                <a:path h="21971" w="22694900">
                  <a:moveTo>
                    <a:pt x="0" y="0"/>
                  </a:moveTo>
                  <a:lnTo>
                    <a:pt x="22694900" y="0"/>
                  </a:lnTo>
                  <a:lnTo>
                    <a:pt x="22694900" y="21971"/>
                  </a:lnTo>
                  <a:lnTo>
                    <a:pt x="0" y="21971"/>
                  </a:lnTo>
                  <a:close/>
                </a:path>
              </a:pathLst>
            </a:custGeom>
            <a:solidFill>
              <a:srgbClr val="D5DBE8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6783183" y="327917"/>
            <a:ext cx="887720" cy="349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1"/>
              </a:lnSpc>
            </a:pPr>
            <a:r>
              <a:rPr lang="en-US" sz="1801" b="true">
                <a:solidFill>
                  <a:srgbClr val="646E7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54282" y="1535868"/>
            <a:ext cx="16947985" cy="404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2BA7A0"/>
                </a:solidFill>
                <a:latin typeface="Consolas Bold"/>
                <a:ea typeface="Consolas Bold"/>
                <a:cs typeface="Consolas Bold"/>
                <a:sym typeface="Consolas Bold"/>
              </a:rPr>
              <a:t>cv2.Canny(gray, 20, 60)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05790" y="2074545"/>
            <a:ext cx="8259861" cy="6269488"/>
            <a:chOff x="0" y="0"/>
            <a:chExt cx="11013148" cy="835931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013059" cy="8359267"/>
            </a:xfrm>
            <a:custGeom>
              <a:avLst/>
              <a:gdLst/>
              <a:ahLst/>
              <a:cxnLst/>
              <a:rect r="r" b="b" t="t" l="l"/>
              <a:pathLst>
                <a:path h="8359267" w="11013059">
                  <a:moveTo>
                    <a:pt x="0" y="1393190"/>
                  </a:moveTo>
                  <a:cubicBezTo>
                    <a:pt x="0" y="623824"/>
                    <a:pt x="623824" y="0"/>
                    <a:pt x="1393190" y="0"/>
                  </a:cubicBezTo>
                  <a:lnTo>
                    <a:pt x="9619869" y="0"/>
                  </a:lnTo>
                  <a:cubicBezTo>
                    <a:pt x="10389362" y="0"/>
                    <a:pt x="11013059" y="623824"/>
                    <a:pt x="11013059" y="1393190"/>
                  </a:cubicBezTo>
                  <a:lnTo>
                    <a:pt x="11013059" y="6966077"/>
                  </a:lnTo>
                  <a:cubicBezTo>
                    <a:pt x="11013059" y="7735570"/>
                    <a:pt x="10389235" y="8359267"/>
                    <a:pt x="9619869" y="8359267"/>
                  </a:cubicBezTo>
                  <a:lnTo>
                    <a:pt x="1393190" y="8359267"/>
                  </a:lnTo>
                  <a:cubicBezTo>
                    <a:pt x="623824" y="8359267"/>
                    <a:pt x="0" y="7735570"/>
                    <a:pt x="0" y="6966077"/>
                  </a:cubicBezTo>
                  <a:close/>
                </a:path>
              </a:pathLst>
            </a:custGeom>
            <a:solidFill>
              <a:srgbClr val="FFFFFF"/>
            </a:solidFill>
            <a:ln w="23831" cap="sq">
              <a:solidFill>
                <a:srgbClr val="D5DBE8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2024691" y="2251186"/>
            <a:ext cx="5422059" cy="5422059"/>
            <a:chOff x="0" y="0"/>
            <a:chExt cx="7229412" cy="7229412"/>
          </a:xfrm>
        </p:grpSpPr>
        <p:sp>
          <p:nvSpPr>
            <p:cNvPr name="Freeform 11" id="11" descr="00_before.png"/>
            <p:cNvSpPr/>
            <p:nvPr/>
          </p:nvSpPr>
          <p:spPr>
            <a:xfrm flipH="false" flipV="false" rot="0">
              <a:off x="0" y="0"/>
              <a:ext cx="7229348" cy="7229348"/>
            </a:xfrm>
            <a:custGeom>
              <a:avLst/>
              <a:gdLst/>
              <a:ahLst/>
              <a:cxnLst/>
              <a:rect r="r" b="b" t="t" l="l"/>
              <a:pathLst>
                <a:path h="7229348" w="7229348">
                  <a:moveTo>
                    <a:pt x="0" y="0"/>
                  </a:moveTo>
                  <a:lnTo>
                    <a:pt x="7229348" y="0"/>
                  </a:lnTo>
                  <a:lnTo>
                    <a:pt x="7229348" y="7229348"/>
                  </a:lnTo>
                  <a:lnTo>
                    <a:pt x="0" y="7229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654282" y="7626334"/>
            <a:ext cx="8162887" cy="339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true">
                <a:solidFill>
                  <a:srgbClr val="646E7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BEFORE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390888" y="2074545"/>
            <a:ext cx="8259861" cy="6269488"/>
            <a:chOff x="0" y="0"/>
            <a:chExt cx="11013148" cy="835931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13059" cy="8359267"/>
            </a:xfrm>
            <a:custGeom>
              <a:avLst/>
              <a:gdLst/>
              <a:ahLst/>
              <a:cxnLst/>
              <a:rect r="r" b="b" t="t" l="l"/>
              <a:pathLst>
                <a:path h="8359267" w="11013059">
                  <a:moveTo>
                    <a:pt x="0" y="1393190"/>
                  </a:moveTo>
                  <a:cubicBezTo>
                    <a:pt x="0" y="623824"/>
                    <a:pt x="623824" y="0"/>
                    <a:pt x="1393190" y="0"/>
                  </a:cubicBezTo>
                  <a:lnTo>
                    <a:pt x="9619869" y="0"/>
                  </a:lnTo>
                  <a:cubicBezTo>
                    <a:pt x="10389362" y="0"/>
                    <a:pt x="11013059" y="623824"/>
                    <a:pt x="11013059" y="1393190"/>
                  </a:cubicBezTo>
                  <a:lnTo>
                    <a:pt x="11013059" y="6966077"/>
                  </a:lnTo>
                  <a:cubicBezTo>
                    <a:pt x="11013059" y="7735570"/>
                    <a:pt x="10389235" y="8359267"/>
                    <a:pt x="9619869" y="8359267"/>
                  </a:cubicBezTo>
                  <a:lnTo>
                    <a:pt x="1393190" y="8359267"/>
                  </a:lnTo>
                  <a:cubicBezTo>
                    <a:pt x="623824" y="8359267"/>
                    <a:pt x="0" y="7735570"/>
                    <a:pt x="0" y="6966077"/>
                  </a:cubicBezTo>
                  <a:close/>
                </a:path>
              </a:pathLst>
            </a:custGeom>
            <a:solidFill>
              <a:srgbClr val="FFFFFF"/>
            </a:solidFill>
            <a:ln w="23831" cap="sq">
              <a:solidFill>
                <a:srgbClr val="D5DBE8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0809799" y="2251186"/>
            <a:ext cx="5422059" cy="5422059"/>
            <a:chOff x="0" y="0"/>
            <a:chExt cx="7229412" cy="7229412"/>
          </a:xfrm>
        </p:grpSpPr>
        <p:sp>
          <p:nvSpPr>
            <p:cNvPr name="Freeform 16" id="16" descr="02_canny.png"/>
            <p:cNvSpPr/>
            <p:nvPr/>
          </p:nvSpPr>
          <p:spPr>
            <a:xfrm flipH="false" flipV="false" rot="0">
              <a:off x="0" y="0"/>
              <a:ext cx="7229348" cy="7229348"/>
            </a:xfrm>
            <a:custGeom>
              <a:avLst/>
              <a:gdLst/>
              <a:ahLst/>
              <a:cxnLst/>
              <a:rect r="r" b="b" t="t" l="l"/>
              <a:pathLst>
                <a:path h="7229348" w="7229348">
                  <a:moveTo>
                    <a:pt x="0" y="0"/>
                  </a:moveTo>
                  <a:lnTo>
                    <a:pt x="7229348" y="0"/>
                  </a:lnTo>
                  <a:lnTo>
                    <a:pt x="7229348" y="7229348"/>
                  </a:lnTo>
                  <a:lnTo>
                    <a:pt x="0" y="7229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439380" y="7626334"/>
            <a:ext cx="8162887" cy="339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true">
                <a:solidFill>
                  <a:srgbClr val="646E7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AFTER  ·  CANNY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05790" y="8430016"/>
            <a:ext cx="17044968" cy="1259234"/>
            <a:chOff x="0" y="0"/>
            <a:chExt cx="22726625" cy="167897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726523" cy="1678813"/>
            </a:xfrm>
            <a:custGeom>
              <a:avLst/>
              <a:gdLst/>
              <a:ahLst/>
              <a:cxnLst/>
              <a:rect r="r" b="b" t="t" l="l"/>
              <a:pathLst>
                <a:path h="1678813" w="22726523">
                  <a:moveTo>
                    <a:pt x="0" y="279781"/>
                  </a:moveTo>
                  <a:cubicBezTo>
                    <a:pt x="0" y="125349"/>
                    <a:pt x="125349" y="0"/>
                    <a:pt x="279781" y="0"/>
                  </a:cubicBezTo>
                  <a:lnTo>
                    <a:pt x="22446742" y="0"/>
                  </a:lnTo>
                  <a:cubicBezTo>
                    <a:pt x="22601301" y="0"/>
                    <a:pt x="22726523" y="125349"/>
                    <a:pt x="22726523" y="279781"/>
                  </a:cubicBezTo>
                  <a:lnTo>
                    <a:pt x="22726523" y="1399032"/>
                  </a:lnTo>
                  <a:cubicBezTo>
                    <a:pt x="22726523" y="1553591"/>
                    <a:pt x="22601174" y="1678813"/>
                    <a:pt x="22446742" y="1678813"/>
                  </a:cubicBezTo>
                  <a:lnTo>
                    <a:pt x="279781" y="1678813"/>
                  </a:lnTo>
                  <a:cubicBezTo>
                    <a:pt x="125349" y="1678940"/>
                    <a:pt x="0" y="1553718"/>
                    <a:pt x="0" y="1399159"/>
                  </a:cubicBezTo>
                  <a:close/>
                </a:path>
              </a:pathLst>
            </a:custGeom>
            <a:solidFill>
              <a:srgbClr val="E7F6F4"/>
            </a:solidFill>
            <a:ln w="23831" cap="sq">
              <a:solidFill>
                <a:srgbClr val="2BA7A0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892235" y="8620382"/>
            <a:ext cx="16472068" cy="878510"/>
            <a:chOff x="0" y="0"/>
            <a:chExt cx="21962758" cy="117134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962759" cy="1171347"/>
            </a:xfrm>
            <a:custGeom>
              <a:avLst/>
              <a:gdLst/>
              <a:ahLst/>
              <a:cxnLst/>
              <a:rect r="r" b="b" t="t" l="l"/>
              <a:pathLst>
                <a:path h="1171347" w="21962759">
                  <a:moveTo>
                    <a:pt x="0" y="0"/>
                  </a:moveTo>
                  <a:lnTo>
                    <a:pt x="21962759" y="0"/>
                  </a:lnTo>
                  <a:lnTo>
                    <a:pt x="21962759" y="1171347"/>
                  </a:lnTo>
                  <a:lnTo>
                    <a:pt x="0" y="117134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5344" r="0" b="-31534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21962758" cy="12189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>
                  <a:solidFill>
                    <a:srgbClr val="1920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Canny edge detector: Sobel gradient, non-maximum suppression, hysteresis. It returns an edge map, not a character. Thresholds 60 / 160 drop these soft strokes.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654282" y="9854260"/>
            <a:ext cx="10908230" cy="266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46E7A"/>
                </a:solidFill>
                <a:latin typeface="Calibri (MS)"/>
                <a:ea typeface="Calibri (MS)"/>
                <a:cs typeface="Calibri (MS)"/>
                <a:sym typeface="Calibri (MS)"/>
              </a:rPr>
              <a:t>IIT Delhi  ·  ELD411  ·  Mid-Term Review 2026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54282" y="300466"/>
            <a:ext cx="12280897" cy="321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2BA7A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STEP 2  ·  STAMP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54282" y="591807"/>
            <a:ext cx="15300779" cy="66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180E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Local contrast  ·  CLAHE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17706" y="1400127"/>
            <a:ext cx="17021137" cy="16469"/>
            <a:chOff x="0" y="0"/>
            <a:chExt cx="22694849" cy="2195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694900" cy="21971"/>
            </a:xfrm>
            <a:custGeom>
              <a:avLst/>
              <a:gdLst/>
              <a:ahLst/>
              <a:cxnLst/>
              <a:rect r="r" b="b" t="t" l="l"/>
              <a:pathLst>
                <a:path h="21971" w="22694900">
                  <a:moveTo>
                    <a:pt x="0" y="0"/>
                  </a:moveTo>
                  <a:lnTo>
                    <a:pt x="22694900" y="0"/>
                  </a:lnTo>
                  <a:lnTo>
                    <a:pt x="22694900" y="21971"/>
                  </a:lnTo>
                  <a:lnTo>
                    <a:pt x="0" y="21971"/>
                  </a:lnTo>
                  <a:close/>
                </a:path>
              </a:pathLst>
            </a:custGeom>
            <a:solidFill>
              <a:srgbClr val="D5DBE8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6783183" y="327917"/>
            <a:ext cx="887720" cy="349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1"/>
              </a:lnSpc>
            </a:pPr>
            <a:r>
              <a:rPr lang="en-US" sz="1801" b="true">
                <a:solidFill>
                  <a:srgbClr val="646E7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54282" y="1535868"/>
            <a:ext cx="16947985" cy="404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2BA7A0"/>
                </a:solidFill>
                <a:latin typeface="Consolas Bold"/>
                <a:ea typeface="Consolas Bold"/>
                <a:cs typeface="Consolas Bold"/>
                <a:sym typeface="Consolas Bold"/>
              </a:rPr>
              <a:t>cv2.createCLAHE(clipLimit=2.0, tileGridSize=(8, 8)).apply(gray)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05790" y="2074545"/>
            <a:ext cx="8259861" cy="6269488"/>
            <a:chOff x="0" y="0"/>
            <a:chExt cx="11013148" cy="835931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013059" cy="8359267"/>
            </a:xfrm>
            <a:custGeom>
              <a:avLst/>
              <a:gdLst/>
              <a:ahLst/>
              <a:cxnLst/>
              <a:rect r="r" b="b" t="t" l="l"/>
              <a:pathLst>
                <a:path h="8359267" w="11013059">
                  <a:moveTo>
                    <a:pt x="0" y="1393190"/>
                  </a:moveTo>
                  <a:cubicBezTo>
                    <a:pt x="0" y="623824"/>
                    <a:pt x="623824" y="0"/>
                    <a:pt x="1393190" y="0"/>
                  </a:cubicBezTo>
                  <a:lnTo>
                    <a:pt x="9619869" y="0"/>
                  </a:lnTo>
                  <a:cubicBezTo>
                    <a:pt x="10389362" y="0"/>
                    <a:pt x="11013059" y="623824"/>
                    <a:pt x="11013059" y="1393190"/>
                  </a:cubicBezTo>
                  <a:lnTo>
                    <a:pt x="11013059" y="6966077"/>
                  </a:lnTo>
                  <a:cubicBezTo>
                    <a:pt x="11013059" y="7735570"/>
                    <a:pt x="10389235" y="8359267"/>
                    <a:pt x="9619869" y="8359267"/>
                  </a:cubicBezTo>
                  <a:lnTo>
                    <a:pt x="1393190" y="8359267"/>
                  </a:lnTo>
                  <a:cubicBezTo>
                    <a:pt x="623824" y="8359267"/>
                    <a:pt x="0" y="7735570"/>
                    <a:pt x="0" y="6966077"/>
                  </a:cubicBezTo>
                  <a:close/>
                </a:path>
              </a:pathLst>
            </a:custGeom>
            <a:solidFill>
              <a:srgbClr val="FFFFFF"/>
            </a:solidFill>
            <a:ln w="23831" cap="sq">
              <a:solidFill>
                <a:srgbClr val="D5DBE8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2024691" y="2251186"/>
            <a:ext cx="5422059" cy="5422059"/>
            <a:chOff x="0" y="0"/>
            <a:chExt cx="7229412" cy="7229412"/>
          </a:xfrm>
        </p:grpSpPr>
        <p:sp>
          <p:nvSpPr>
            <p:cNvPr name="Freeform 11" id="11" descr="00_before.png"/>
            <p:cNvSpPr/>
            <p:nvPr/>
          </p:nvSpPr>
          <p:spPr>
            <a:xfrm flipH="false" flipV="false" rot="0">
              <a:off x="0" y="0"/>
              <a:ext cx="7229348" cy="7229348"/>
            </a:xfrm>
            <a:custGeom>
              <a:avLst/>
              <a:gdLst/>
              <a:ahLst/>
              <a:cxnLst/>
              <a:rect r="r" b="b" t="t" l="l"/>
              <a:pathLst>
                <a:path h="7229348" w="7229348">
                  <a:moveTo>
                    <a:pt x="0" y="0"/>
                  </a:moveTo>
                  <a:lnTo>
                    <a:pt x="7229348" y="0"/>
                  </a:lnTo>
                  <a:lnTo>
                    <a:pt x="7229348" y="7229348"/>
                  </a:lnTo>
                  <a:lnTo>
                    <a:pt x="0" y="7229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654282" y="7626334"/>
            <a:ext cx="8162887" cy="339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true">
                <a:solidFill>
                  <a:srgbClr val="646E7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BEFORE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390888" y="2074545"/>
            <a:ext cx="8259861" cy="6269488"/>
            <a:chOff x="0" y="0"/>
            <a:chExt cx="11013148" cy="835931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13059" cy="8359267"/>
            </a:xfrm>
            <a:custGeom>
              <a:avLst/>
              <a:gdLst/>
              <a:ahLst/>
              <a:cxnLst/>
              <a:rect r="r" b="b" t="t" l="l"/>
              <a:pathLst>
                <a:path h="8359267" w="11013059">
                  <a:moveTo>
                    <a:pt x="0" y="1393190"/>
                  </a:moveTo>
                  <a:cubicBezTo>
                    <a:pt x="0" y="623824"/>
                    <a:pt x="623824" y="0"/>
                    <a:pt x="1393190" y="0"/>
                  </a:cubicBezTo>
                  <a:lnTo>
                    <a:pt x="9619869" y="0"/>
                  </a:lnTo>
                  <a:cubicBezTo>
                    <a:pt x="10389362" y="0"/>
                    <a:pt x="11013059" y="623824"/>
                    <a:pt x="11013059" y="1393190"/>
                  </a:cubicBezTo>
                  <a:lnTo>
                    <a:pt x="11013059" y="6966077"/>
                  </a:lnTo>
                  <a:cubicBezTo>
                    <a:pt x="11013059" y="7735570"/>
                    <a:pt x="10389235" y="8359267"/>
                    <a:pt x="9619869" y="8359267"/>
                  </a:cubicBezTo>
                  <a:lnTo>
                    <a:pt x="1393190" y="8359267"/>
                  </a:lnTo>
                  <a:cubicBezTo>
                    <a:pt x="623824" y="8359267"/>
                    <a:pt x="0" y="7735570"/>
                    <a:pt x="0" y="6966077"/>
                  </a:cubicBezTo>
                  <a:close/>
                </a:path>
              </a:pathLst>
            </a:custGeom>
            <a:solidFill>
              <a:srgbClr val="FFFFFF"/>
            </a:solidFill>
            <a:ln w="23831" cap="sq">
              <a:solidFill>
                <a:srgbClr val="D5DBE8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0809799" y="2251186"/>
            <a:ext cx="5422059" cy="5422059"/>
            <a:chOff x="0" y="0"/>
            <a:chExt cx="7229412" cy="7229412"/>
          </a:xfrm>
        </p:grpSpPr>
        <p:sp>
          <p:nvSpPr>
            <p:cNvPr name="Freeform 16" id="16" descr="03_clahe.png"/>
            <p:cNvSpPr/>
            <p:nvPr/>
          </p:nvSpPr>
          <p:spPr>
            <a:xfrm flipH="false" flipV="false" rot="0">
              <a:off x="0" y="0"/>
              <a:ext cx="7229348" cy="7229348"/>
            </a:xfrm>
            <a:custGeom>
              <a:avLst/>
              <a:gdLst/>
              <a:ahLst/>
              <a:cxnLst/>
              <a:rect r="r" b="b" t="t" l="l"/>
              <a:pathLst>
                <a:path h="7229348" w="7229348">
                  <a:moveTo>
                    <a:pt x="0" y="0"/>
                  </a:moveTo>
                  <a:lnTo>
                    <a:pt x="7229348" y="0"/>
                  </a:lnTo>
                  <a:lnTo>
                    <a:pt x="7229348" y="7229348"/>
                  </a:lnTo>
                  <a:lnTo>
                    <a:pt x="0" y="7229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439380" y="7626334"/>
            <a:ext cx="8162887" cy="339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true">
                <a:solidFill>
                  <a:srgbClr val="646E7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AFTER  ·  CLAHE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05790" y="8430016"/>
            <a:ext cx="17044968" cy="1259234"/>
            <a:chOff x="0" y="0"/>
            <a:chExt cx="22726625" cy="167897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726523" cy="1678813"/>
            </a:xfrm>
            <a:custGeom>
              <a:avLst/>
              <a:gdLst/>
              <a:ahLst/>
              <a:cxnLst/>
              <a:rect r="r" b="b" t="t" l="l"/>
              <a:pathLst>
                <a:path h="1678813" w="22726523">
                  <a:moveTo>
                    <a:pt x="0" y="279781"/>
                  </a:moveTo>
                  <a:cubicBezTo>
                    <a:pt x="0" y="125349"/>
                    <a:pt x="125349" y="0"/>
                    <a:pt x="279781" y="0"/>
                  </a:cubicBezTo>
                  <a:lnTo>
                    <a:pt x="22446742" y="0"/>
                  </a:lnTo>
                  <a:cubicBezTo>
                    <a:pt x="22601301" y="0"/>
                    <a:pt x="22726523" y="125349"/>
                    <a:pt x="22726523" y="279781"/>
                  </a:cubicBezTo>
                  <a:lnTo>
                    <a:pt x="22726523" y="1399032"/>
                  </a:lnTo>
                  <a:cubicBezTo>
                    <a:pt x="22726523" y="1553591"/>
                    <a:pt x="22601174" y="1678813"/>
                    <a:pt x="22446742" y="1678813"/>
                  </a:cubicBezTo>
                  <a:lnTo>
                    <a:pt x="279781" y="1678813"/>
                  </a:lnTo>
                  <a:cubicBezTo>
                    <a:pt x="125349" y="1678940"/>
                    <a:pt x="0" y="1553718"/>
                    <a:pt x="0" y="1399159"/>
                  </a:cubicBezTo>
                  <a:close/>
                </a:path>
              </a:pathLst>
            </a:custGeom>
            <a:solidFill>
              <a:srgbClr val="E7F6F4"/>
            </a:solidFill>
            <a:ln w="23831" cap="sq">
              <a:solidFill>
                <a:srgbClr val="2BA7A0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892235" y="8620382"/>
            <a:ext cx="16472068" cy="878510"/>
            <a:chOff x="0" y="0"/>
            <a:chExt cx="21962758" cy="117134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962759" cy="1171347"/>
            </a:xfrm>
            <a:custGeom>
              <a:avLst/>
              <a:gdLst/>
              <a:ahLst/>
              <a:cxnLst/>
              <a:rect r="r" b="b" t="t" l="l"/>
              <a:pathLst>
                <a:path h="1171347" w="21962759">
                  <a:moveTo>
                    <a:pt x="0" y="0"/>
                  </a:moveTo>
                  <a:lnTo>
                    <a:pt x="21962759" y="0"/>
                  </a:lnTo>
                  <a:lnTo>
                    <a:pt x="21962759" y="1171347"/>
                  </a:lnTo>
                  <a:lnTo>
                    <a:pt x="0" y="117134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5344" r="0" b="-31534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21962758" cy="12189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>
                  <a:solidFill>
                    <a:srgbClr val="1920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Contrast-limited adaptive histogram equalization. Lifts stamp-versus-paper contrast inside small tiles without blowing the whole crop.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654282" y="9854260"/>
            <a:ext cx="10908230" cy="266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46E7A"/>
                </a:solidFill>
                <a:latin typeface="Calibri (MS)"/>
                <a:ea typeface="Calibri (MS)"/>
                <a:cs typeface="Calibri (MS)"/>
                <a:sym typeface="Calibri (MS)"/>
              </a:rPr>
              <a:t>IIT Delhi  ·  ELD411  ·  Mid-Term Review 2026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54282" y="300466"/>
            <a:ext cx="12280897" cy="321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2BA7A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STEP 2  ·  STAMP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54282" y="591807"/>
            <a:ext cx="15300779" cy="66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180E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Morphology  ·  opening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17706" y="1400127"/>
            <a:ext cx="17021137" cy="16469"/>
            <a:chOff x="0" y="0"/>
            <a:chExt cx="22694849" cy="2195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694900" cy="21971"/>
            </a:xfrm>
            <a:custGeom>
              <a:avLst/>
              <a:gdLst/>
              <a:ahLst/>
              <a:cxnLst/>
              <a:rect r="r" b="b" t="t" l="l"/>
              <a:pathLst>
                <a:path h="21971" w="22694900">
                  <a:moveTo>
                    <a:pt x="0" y="0"/>
                  </a:moveTo>
                  <a:lnTo>
                    <a:pt x="22694900" y="0"/>
                  </a:lnTo>
                  <a:lnTo>
                    <a:pt x="22694900" y="21971"/>
                  </a:lnTo>
                  <a:lnTo>
                    <a:pt x="0" y="21971"/>
                  </a:lnTo>
                  <a:close/>
                </a:path>
              </a:pathLst>
            </a:custGeom>
            <a:solidFill>
              <a:srgbClr val="D5DBE8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6783183" y="327917"/>
            <a:ext cx="887720" cy="349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1"/>
              </a:lnSpc>
            </a:pPr>
            <a:r>
              <a:rPr lang="en-US" sz="1801" b="true">
                <a:solidFill>
                  <a:srgbClr val="646E7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07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54282" y="1535868"/>
            <a:ext cx="16947985" cy="404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2BA7A0"/>
                </a:solidFill>
                <a:latin typeface="Consolas Bold"/>
                <a:ea typeface="Consolas Bold"/>
                <a:cs typeface="Consolas Bold"/>
                <a:sym typeface="Consolas Bold"/>
              </a:rPr>
              <a:t>ker = cv2.getStructuringElement(cv2.MORPH_ELLIPSE, (7, 7));  cv2.morphologyEx(ink, cv2.MORPH_OPEN, ker, iterations=1)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05790" y="2074545"/>
            <a:ext cx="8259861" cy="6269488"/>
            <a:chOff x="0" y="0"/>
            <a:chExt cx="11013148" cy="835931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013059" cy="8359267"/>
            </a:xfrm>
            <a:custGeom>
              <a:avLst/>
              <a:gdLst/>
              <a:ahLst/>
              <a:cxnLst/>
              <a:rect r="r" b="b" t="t" l="l"/>
              <a:pathLst>
                <a:path h="8359267" w="11013059">
                  <a:moveTo>
                    <a:pt x="0" y="1393190"/>
                  </a:moveTo>
                  <a:cubicBezTo>
                    <a:pt x="0" y="623824"/>
                    <a:pt x="623824" y="0"/>
                    <a:pt x="1393190" y="0"/>
                  </a:cubicBezTo>
                  <a:lnTo>
                    <a:pt x="9619869" y="0"/>
                  </a:lnTo>
                  <a:cubicBezTo>
                    <a:pt x="10389362" y="0"/>
                    <a:pt x="11013059" y="623824"/>
                    <a:pt x="11013059" y="1393190"/>
                  </a:cubicBezTo>
                  <a:lnTo>
                    <a:pt x="11013059" y="6966077"/>
                  </a:lnTo>
                  <a:cubicBezTo>
                    <a:pt x="11013059" y="7735570"/>
                    <a:pt x="10389235" y="8359267"/>
                    <a:pt x="9619869" y="8359267"/>
                  </a:cubicBezTo>
                  <a:lnTo>
                    <a:pt x="1393190" y="8359267"/>
                  </a:lnTo>
                  <a:cubicBezTo>
                    <a:pt x="623824" y="8359267"/>
                    <a:pt x="0" y="7735570"/>
                    <a:pt x="0" y="6966077"/>
                  </a:cubicBezTo>
                  <a:close/>
                </a:path>
              </a:pathLst>
            </a:custGeom>
            <a:solidFill>
              <a:srgbClr val="FFFFFF"/>
            </a:solidFill>
            <a:ln w="23831" cap="sq">
              <a:solidFill>
                <a:srgbClr val="D5DBE8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2024691" y="2251186"/>
            <a:ext cx="5422059" cy="5422059"/>
            <a:chOff x="0" y="0"/>
            <a:chExt cx="7229412" cy="7229412"/>
          </a:xfrm>
        </p:grpSpPr>
        <p:sp>
          <p:nvSpPr>
            <p:cNvPr name="Freeform 11" id="11" descr="05_otsu.png"/>
            <p:cNvSpPr/>
            <p:nvPr/>
          </p:nvSpPr>
          <p:spPr>
            <a:xfrm flipH="false" flipV="false" rot="0">
              <a:off x="0" y="0"/>
              <a:ext cx="7229348" cy="7229348"/>
            </a:xfrm>
            <a:custGeom>
              <a:avLst/>
              <a:gdLst/>
              <a:ahLst/>
              <a:cxnLst/>
              <a:rect r="r" b="b" t="t" l="l"/>
              <a:pathLst>
                <a:path h="7229348" w="7229348">
                  <a:moveTo>
                    <a:pt x="0" y="0"/>
                  </a:moveTo>
                  <a:lnTo>
                    <a:pt x="7229348" y="0"/>
                  </a:lnTo>
                  <a:lnTo>
                    <a:pt x="7229348" y="7229348"/>
                  </a:lnTo>
                  <a:lnTo>
                    <a:pt x="0" y="7229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654282" y="7626334"/>
            <a:ext cx="8162887" cy="339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true">
                <a:solidFill>
                  <a:srgbClr val="646E7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BEFORE  ·  OTSU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390888" y="2074545"/>
            <a:ext cx="8259861" cy="6269488"/>
            <a:chOff x="0" y="0"/>
            <a:chExt cx="11013148" cy="835931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13059" cy="8359267"/>
            </a:xfrm>
            <a:custGeom>
              <a:avLst/>
              <a:gdLst/>
              <a:ahLst/>
              <a:cxnLst/>
              <a:rect r="r" b="b" t="t" l="l"/>
              <a:pathLst>
                <a:path h="8359267" w="11013059">
                  <a:moveTo>
                    <a:pt x="0" y="1393190"/>
                  </a:moveTo>
                  <a:cubicBezTo>
                    <a:pt x="0" y="623824"/>
                    <a:pt x="623824" y="0"/>
                    <a:pt x="1393190" y="0"/>
                  </a:cubicBezTo>
                  <a:lnTo>
                    <a:pt x="9619869" y="0"/>
                  </a:lnTo>
                  <a:cubicBezTo>
                    <a:pt x="10389362" y="0"/>
                    <a:pt x="11013059" y="623824"/>
                    <a:pt x="11013059" y="1393190"/>
                  </a:cubicBezTo>
                  <a:lnTo>
                    <a:pt x="11013059" y="6966077"/>
                  </a:lnTo>
                  <a:cubicBezTo>
                    <a:pt x="11013059" y="7735570"/>
                    <a:pt x="10389235" y="8359267"/>
                    <a:pt x="9619869" y="8359267"/>
                  </a:cubicBezTo>
                  <a:lnTo>
                    <a:pt x="1393190" y="8359267"/>
                  </a:lnTo>
                  <a:cubicBezTo>
                    <a:pt x="623824" y="8359267"/>
                    <a:pt x="0" y="7735570"/>
                    <a:pt x="0" y="6966077"/>
                  </a:cubicBezTo>
                  <a:close/>
                </a:path>
              </a:pathLst>
            </a:custGeom>
            <a:solidFill>
              <a:srgbClr val="FFFFFF"/>
            </a:solidFill>
            <a:ln w="23831" cap="sq">
              <a:solidFill>
                <a:srgbClr val="D5DBE8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0809799" y="2251186"/>
            <a:ext cx="5422059" cy="5422059"/>
            <a:chOff x="0" y="0"/>
            <a:chExt cx="7229412" cy="7229412"/>
          </a:xfrm>
        </p:grpSpPr>
        <p:sp>
          <p:nvSpPr>
            <p:cNvPr name="Freeform 16" id="16" descr="05_morph_open.png"/>
            <p:cNvSpPr/>
            <p:nvPr/>
          </p:nvSpPr>
          <p:spPr>
            <a:xfrm flipH="false" flipV="false" rot="0">
              <a:off x="0" y="0"/>
              <a:ext cx="7229348" cy="7229348"/>
            </a:xfrm>
            <a:custGeom>
              <a:avLst/>
              <a:gdLst/>
              <a:ahLst/>
              <a:cxnLst/>
              <a:rect r="r" b="b" t="t" l="l"/>
              <a:pathLst>
                <a:path h="7229348" w="7229348">
                  <a:moveTo>
                    <a:pt x="0" y="0"/>
                  </a:moveTo>
                  <a:lnTo>
                    <a:pt x="7229348" y="0"/>
                  </a:lnTo>
                  <a:lnTo>
                    <a:pt x="7229348" y="7229348"/>
                  </a:lnTo>
                  <a:lnTo>
                    <a:pt x="0" y="7229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439380" y="7626334"/>
            <a:ext cx="8162887" cy="339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true">
                <a:solidFill>
                  <a:srgbClr val="646E7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AFTER  ·  MORPH OPEN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05790" y="8430016"/>
            <a:ext cx="17044968" cy="1259234"/>
            <a:chOff x="0" y="0"/>
            <a:chExt cx="22726625" cy="167897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726523" cy="1678813"/>
            </a:xfrm>
            <a:custGeom>
              <a:avLst/>
              <a:gdLst/>
              <a:ahLst/>
              <a:cxnLst/>
              <a:rect r="r" b="b" t="t" l="l"/>
              <a:pathLst>
                <a:path h="1678813" w="22726523">
                  <a:moveTo>
                    <a:pt x="0" y="279781"/>
                  </a:moveTo>
                  <a:cubicBezTo>
                    <a:pt x="0" y="125349"/>
                    <a:pt x="125349" y="0"/>
                    <a:pt x="279781" y="0"/>
                  </a:cubicBezTo>
                  <a:lnTo>
                    <a:pt x="22446742" y="0"/>
                  </a:lnTo>
                  <a:cubicBezTo>
                    <a:pt x="22601301" y="0"/>
                    <a:pt x="22726523" y="125349"/>
                    <a:pt x="22726523" y="279781"/>
                  </a:cubicBezTo>
                  <a:lnTo>
                    <a:pt x="22726523" y="1399032"/>
                  </a:lnTo>
                  <a:cubicBezTo>
                    <a:pt x="22726523" y="1553591"/>
                    <a:pt x="22601174" y="1678813"/>
                    <a:pt x="22446742" y="1678813"/>
                  </a:cubicBezTo>
                  <a:lnTo>
                    <a:pt x="279781" y="1678813"/>
                  </a:lnTo>
                  <a:cubicBezTo>
                    <a:pt x="125349" y="1678940"/>
                    <a:pt x="0" y="1553718"/>
                    <a:pt x="0" y="1399159"/>
                  </a:cubicBezTo>
                  <a:close/>
                </a:path>
              </a:pathLst>
            </a:custGeom>
            <a:solidFill>
              <a:srgbClr val="E7F6F4"/>
            </a:solidFill>
            <a:ln w="23831" cap="sq">
              <a:solidFill>
                <a:srgbClr val="2BA7A0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892235" y="8620382"/>
            <a:ext cx="16472068" cy="878510"/>
            <a:chOff x="0" y="0"/>
            <a:chExt cx="21962758" cy="117134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962759" cy="1171347"/>
            </a:xfrm>
            <a:custGeom>
              <a:avLst/>
              <a:gdLst/>
              <a:ahLst/>
              <a:cxnLst/>
              <a:rect r="r" b="b" t="t" l="l"/>
              <a:pathLst>
                <a:path h="1171347" w="21962759">
                  <a:moveTo>
                    <a:pt x="0" y="0"/>
                  </a:moveTo>
                  <a:lnTo>
                    <a:pt x="21962759" y="0"/>
                  </a:lnTo>
                  <a:lnTo>
                    <a:pt x="21962759" y="1171347"/>
                  </a:lnTo>
                  <a:lnTo>
                    <a:pt x="0" y="117134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5344" r="0" b="-31534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21962758" cy="12189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>
                  <a:solidFill>
                    <a:srgbClr val="1920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Opening is erosion, then dilation. Thin arcs break. Thick strokes stay. The binary input is Otsu: cv2.threshold(..., THRESH_OTSU). Still not a string.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654282" y="9854260"/>
            <a:ext cx="10908230" cy="266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46E7A"/>
                </a:solidFill>
                <a:latin typeface="Calibri (MS)"/>
                <a:ea typeface="Calibri (MS)"/>
                <a:cs typeface="Calibri (MS)"/>
                <a:sym typeface="Calibri (MS)"/>
              </a:rPr>
              <a:t>IIT Delhi  ·  ELD411  ·  Mid-Term Review 2026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7706" y="1400127"/>
            <a:ext cx="17021137" cy="16469"/>
            <a:chOff x="0" y="0"/>
            <a:chExt cx="22694849" cy="219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694900" cy="21971"/>
            </a:xfrm>
            <a:custGeom>
              <a:avLst/>
              <a:gdLst/>
              <a:ahLst/>
              <a:cxnLst/>
              <a:rect r="r" b="b" t="t" l="l"/>
              <a:pathLst>
                <a:path h="21971" w="22694900">
                  <a:moveTo>
                    <a:pt x="0" y="0"/>
                  </a:moveTo>
                  <a:lnTo>
                    <a:pt x="22694900" y="0"/>
                  </a:lnTo>
                  <a:lnTo>
                    <a:pt x="22694900" y="21971"/>
                  </a:lnTo>
                  <a:lnTo>
                    <a:pt x="0" y="21971"/>
                  </a:lnTo>
                  <a:close/>
                </a:path>
              </a:pathLst>
            </a:custGeom>
            <a:solidFill>
              <a:srgbClr val="D5DBE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54282" y="1754829"/>
            <a:ext cx="8251596" cy="7522626"/>
            <a:chOff x="0" y="0"/>
            <a:chExt cx="2173260" cy="19812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73260" cy="1981268"/>
            </a:xfrm>
            <a:custGeom>
              <a:avLst/>
              <a:gdLst/>
              <a:ahLst/>
              <a:cxnLst/>
              <a:rect r="r" b="b" t="t" l="l"/>
              <a:pathLst>
                <a:path h="1981268" w="2173260">
                  <a:moveTo>
                    <a:pt x="23456" y="0"/>
                  </a:moveTo>
                  <a:lnTo>
                    <a:pt x="2149804" y="0"/>
                  </a:lnTo>
                  <a:cubicBezTo>
                    <a:pt x="2156025" y="0"/>
                    <a:pt x="2161991" y="2471"/>
                    <a:pt x="2166390" y="6870"/>
                  </a:cubicBezTo>
                  <a:cubicBezTo>
                    <a:pt x="2170789" y="11269"/>
                    <a:pt x="2173260" y="17235"/>
                    <a:pt x="2173260" y="23456"/>
                  </a:cubicBezTo>
                  <a:lnTo>
                    <a:pt x="2173260" y="1957812"/>
                  </a:lnTo>
                  <a:cubicBezTo>
                    <a:pt x="2173260" y="1964033"/>
                    <a:pt x="2170789" y="1969999"/>
                    <a:pt x="2166390" y="1974398"/>
                  </a:cubicBezTo>
                  <a:cubicBezTo>
                    <a:pt x="2161991" y="1978797"/>
                    <a:pt x="2156025" y="1981268"/>
                    <a:pt x="2149804" y="1981268"/>
                  </a:cubicBezTo>
                  <a:lnTo>
                    <a:pt x="23456" y="1981268"/>
                  </a:lnTo>
                  <a:cubicBezTo>
                    <a:pt x="17235" y="1981268"/>
                    <a:pt x="11269" y="1978797"/>
                    <a:pt x="6870" y="1974398"/>
                  </a:cubicBezTo>
                  <a:cubicBezTo>
                    <a:pt x="2471" y="1969999"/>
                    <a:pt x="0" y="1964033"/>
                    <a:pt x="0" y="1957812"/>
                  </a:cubicBezTo>
                  <a:lnTo>
                    <a:pt x="0" y="23456"/>
                  </a:lnTo>
                  <a:cubicBezTo>
                    <a:pt x="0" y="17235"/>
                    <a:pt x="2471" y="11269"/>
                    <a:pt x="6870" y="6870"/>
                  </a:cubicBezTo>
                  <a:cubicBezTo>
                    <a:pt x="11269" y="2471"/>
                    <a:pt x="17235" y="0"/>
                    <a:pt x="23456" y="0"/>
                  </a:cubicBezTo>
                  <a:close/>
                </a:path>
              </a:pathLst>
            </a:custGeom>
            <a:solidFill>
              <a:srgbClr val="F8FB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73260" cy="20193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1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0" y="1754829"/>
            <a:ext cx="8689337" cy="7503471"/>
            <a:chOff x="0" y="0"/>
            <a:chExt cx="2288550" cy="197622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88550" cy="1976223"/>
            </a:xfrm>
            <a:custGeom>
              <a:avLst/>
              <a:gdLst/>
              <a:ahLst/>
              <a:cxnLst/>
              <a:rect r="r" b="b" t="t" l="l"/>
              <a:pathLst>
                <a:path h="1976223" w="2288550">
                  <a:moveTo>
                    <a:pt x="22274" y="0"/>
                  </a:moveTo>
                  <a:lnTo>
                    <a:pt x="2266276" y="0"/>
                  </a:lnTo>
                  <a:cubicBezTo>
                    <a:pt x="2272183" y="0"/>
                    <a:pt x="2277849" y="2347"/>
                    <a:pt x="2282026" y="6524"/>
                  </a:cubicBezTo>
                  <a:cubicBezTo>
                    <a:pt x="2286203" y="10701"/>
                    <a:pt x="2288550" y="16367"/>
                    <a:pt x="2288550" y="22274"/>
                  </a:cubicBezTo>
                  <a:lnTo>
                    <a:pt x="2288550" y="1953949"/>
                  </a:lnTo>
                  <a:cubicBezTo>
                    <a:pt x="2288550" y="1966250"/>
                    <a:pt x="2278577" y="1976223"/>
                    <a:pt x="2266276" y="1976223"/>
                  </a:cubicBezTo>
                  <a:lnTo>
                    <a:pt x="22274" y="1976223"/>
                  </a:lnTo>
                  <a:cubicBezTo>
                    <a:pt x="16367" y="1976223"/>
                    <a:pt x="10701" y="1973876"/>
                    <a:pt x="6524" y="1969699"/>
                  </a:cubicBezTo>
                  <a:cubicBezTo>
                    <a:pt x="2347" y="1965522"/>
                    <a:pt x="0" y="1959856"/>
                    <a:pt x="0" y="1953949"/>
                  </a:cubicBezTo>
                  <a:lnTo>
                    <a:pt x="0" y="22274"/>
                  </a:lnTo>
                  <a:cubicBezTo>
                    <a:pt x="0" y="16367"/>
                    <a:pt x="2347" y="10701"/>
                    <a:pt x="6524" y="6524"/>
                  </a:cubicBezTo>
                  <a:cubicBezTo>
                    <a:pt x="10701" y="2347"/>
                    <a:pt x="16367" y="0"/>
                    <a:pt x="22274" y="0"/>
                  </a:cubicBezTo>
                  <a:close/>
                </a:path>
              </a:pathLst>
            </a:custGeom>
            <a:solidFill>
              <a:srgbClr val="000E6B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288550" cy="20143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1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654282" y="300466"/>
            <a:ext cx="12280897" cy="321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2BA7A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STEP 2  ·  STAMP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54282" y="591807"/>
            <a:ext cx="15300779" cy="66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180E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Filters were not the reader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783183" y="327917"/>
            <a:ext cx="887720" cy="349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1"/>
              </a:lnSpc>
            </a:pPr>
            <a:r>
              <a:rPr lang="en-US" sz="1801" b="true">
                <a:solidFill>
                  <a:srgbClr val="646E7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09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7448" y="2057486"/>
            <a:ext cx="7476544" cy="376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2BA7A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TRADITIONAL PATH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7448" y="2637092"/>
            <a:ext cx="7476544" cy="1787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180E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Another image.</a:t>
            </a:r>
          </a:p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180E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Never the code.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7448" y="4715142"/>
            <a:ext cx="7476544" cy="560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19202A"/>
                </a:solidFill>
                <a:latin typeface="Calibri (MS)"/>
                <a:ea typeface="Calibri (MS)"/>
                <a:cs typeface="Calibri (MS)"/>
                <a:sym typeface="Calibri (MS)"/>
              </a:rPr>
              <a:t>Gaussian blur  —  smoother pixels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97448" y="5374024"/>
            <a:ext cx="7476544" cy="560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19202A"/>
                </a:solidFill>
                <a:latin typeface="Calibri (MS)"/>
                <a:ea typeface="Calibri (MS)"/>
                <a:cs typeface="Calibri (MS)"/>
                <a:sym typeface="Calibri (MS)"/>
              </a:rPr>
              <a:t>Canny  —  an edge map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97448" y="6032916"/>
            <a:ext cx="7476544" cy="560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19202A"/>
                </a:solidFill>
                <a:latin typeface="Calibri (MS)"/>
                <a:ea typeface="Calibri (MS)"/>
                <a:cs typeface="Calibri (MS)"/>
                <a:sym typeface="Calibri (MS)"/>
              </a:rPr>
              <a:t>CLAHE  —  local contrast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97448" y="6691798"/>
            <a:ext cx="7476544" cy="560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19202A"/>
                </a:solidFill>
                <a:latin typeface="Calibri (MS)"/>
                <a:ea typeface="Calibri (MS)"/>
                <a:cs typeface="Calibri (MS)"/>
                <a:sym typeface="Calibri (MS)"/>
              </a:rPr>
              <a:t>Morphology  —  thinner strokes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97448" y="7350681"/>
            <a:ext cx="7476544" cy="560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19202A"/>
                </a:solidFill>
                <a:latin typeface="Calibri (MS)"/>
                <a:ea typeface="Calibri (MS)"/>
                <a:cs typeface="Calibri (MS)"/>
                <a:sym typeface="Calibri (MS)"/>
              </a:rPr>
              <a:t>convertScaleAbs  —  brighter paper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576645" y="2057486"/>
            <a:ext cx="7751083" cy="376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9FFFC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GEMMA 3 4B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576645" y="2637092"/>
            <a:ext cx="7751083" cy="1787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Reads the disk</a:t>
            </a:r>
          </a:p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 one call.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576645" y="4802829"/>
            <a:ext cx="7751083" cy="2161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CE7FF"/>
                </a:solidFill>
                <a:latin typeface="Calibri (MS)"/>
                <a:ea typeface="Calibri (MS)"/>
                <a:cs typeface="Calibri (MS)"/>
                <a:sym typeface="Calibri (MS)"/>
              </a:rPr>
              <a:t>Local model, gemma3:4b.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CE7FF"/>
                </a:solidFill>
                <a:latin typeface="Calibri (MS)"/>
                <a:ea typeface="Calibri (MS)"/>
                <a:cs typeface="Calibri (MS)"/>
                <a:sym typeface="Calibri (MS)"/>
              </a:rPr>
              <a:t>No hand-built filter chain on the stamp.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CE7FF"/>
                </a:solidFill>
                <a:latin typeface="Calibri (MS)"/>
                <a:ea typeface="Calibri (MS)"/>
                <a:cs typeface="Calibri (MS)"/>
                <a:sym typeface="Calibri (MS)"/>
              </a:rPr>
              <a:t>The model does the filtering and the read.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576645" y="7254592"/>
            <a:ext cx="7751083" cy="1356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Hough still finds the circles first.</a:t>
            </a:r>
          </a:p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Gemma does not replace that step.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54282" y="9854260"/>
            <a:ext cx="10908230" cy="266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46E7A"/>
                </a:solidFill>
                <a:latin typeface="Calibri (MS)"/>
                <a:ea typeface="Calibri (MS)"/>
                <a:cs typeface="Calibri (MS)"/>
                <a:sym typeface="Calibri (MS)"/>
              </a:rPr>
              <a:t>IIT Delhi  ·  ELD411  ·  Mid-Term Review 2026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54282" y="300466"/>
            <a:ext cx="12280897" cy="321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2BA7A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DECISION LEFT OPEN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54282" y="591807"/>
            <a:ext cx="15300779" cy="66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180E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Two readers, one circle step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17706" y="1400127"/>
            <a:ext cx="17021137" cy="16469"/>
            <a:chOff x="0" y="0"/>
            <a:chExt cx="22694849" cy="2195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694900" cy="21971"/>
            </a:xfrm>
            <a:custGeom>
              <a:avLst/>
              <a:gdLst/>
              <a:ahLst/>
              <a:cxnLst/>
              <a:rect r="r" b="b" t="t" l="l"/>
              <a:pathLst>
                <a:path h="21971" w="22694900">
                  <a:moveTo>
                    <a:pt x="0" y="0"/>
                  </a:moveTo>
                  <a:lnTo>
                    <a:pt x="22694900" y="0"/>
                  </a:lnTo>
                  <a:lnTo>
                    <a:pt x="22694900" y="21971"/>
                  </a:lnTo>
                  <a:lnTo>
                    <a:pt x="0" y="21971"/>
                  </a:lnTo>
                  <a:close/>
                </a:path>
              </a:pathLst>
            </a:custGeom>
            <a:solidFill>
              <a:srgbClr val="D5DBE8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6783183" y="327917"/>
            <a:ext cx="887720" cy="349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1"/>
              </a:lnSpc>
            </a:pPr>
            <a:r>
              <a:rPr lang="en-US" sz="1801" b="true">
                <a:solidFill>
                  <a:srgbClr val="646E7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10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54282" y="1754829"/>
            <a:ext cx="8251596" cy="7522626"/>
            <a:chOff x="0" y="0"/>
            <a:chExt cx="2173260" cy="198126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73260" cy="1981268"/>
            </a:xfrm>
            <a:custGeom>
              <a:avLst/>
              <a:gdLst/>
              <a:ahLst/>
              <a:cxnLst/>
              <a:rect r="r" b="b" t="t" l="l"/>
              <a:pathLst>
                <a:path h="1981268" w="2173260">
                  <a:moveTo>
                    <a:pt x="23456" y="0"/>
                  </a:moveTo>
                  <a:lnTo>
                    <a:pt x="2149804" y="0"/>
                  </a:lnTo>
                  <a:cubicBezTo>
                    <a:pt x="2156025" y="0"/>
                    <a:pt x="2161991" y="2471"/>
                    <a:pt x="2166390" y="6870"/>
                  </a:cubicBezTo>
                  <a:cubicBezTo>
                    <a:pt x="2170789" y="11269"/>
                    <a:pt x="2173260" y="17235"/>
                    <a:pt x="2173260" y="23456"/>
                  </a:cubicBezTo>
                  <a:lnTo>
                    <a:pt x="2173260" y="1957812"/>
                  </a:lnTo>
                  <a:cubicBezTo>
                    <a:pt x="2173260" y="1964033"/>
                    <a:pt x="2170789" y="1969999"/>
                    <a:pt x="2166390" y="1974398"/>
                  </a:cubicBezTo>
                  <a:cubicBezTo>
                    <a:pt x="2161991" y="1978797"/>
                    <a:pt x="2156025" y="1981268"/>
                    <a:pt x="2149804" y="1981268"/>
                  </a:cubicBezTo>
                  <a:lnTo>
                    <a:pt x="23456" y="1981268"/>
                  </a:lnTo>
                  <a:cubicBezTo>
                    <a:pt x="17235" y="1981268"/>
                    <a:pt x="11269" y="1978797"/>
                    <a:pt x="6870" y="1974398"/>
                  </a:cubicBezTo>
                  <a:cubicBezTo>
                    <a:pt x="2471" y="1969999"/>
                    <a:pt x="0" y="1964033"/>
                    <a:pt x="0" y="1957812"/>
                  </a:cubicBezTo>
                  <a:lnTo>
                    <a:pt x="0" y="23456"/>
                  </a:lnTo>
                  <a:cubicBezTo>
                    <a:pt x="0" y="17235"/>
                    <a:pt x="2471" y="11269"/>
                    <a:pt x="6870" y="6870"/>
                  </a:cubicBezTo>
                  <a:cubicBezTo>
                    <a:pt x="11269" y="2471"/>
                    <a:pt x="17235" y="0"/>
                    <a:pt x="23456" y="0"/>
                  </a:cubicBezTo>
                  <a:close/>
                </a:path>
              </a:pathLst>
            </a:custGeom>
            <a:solidFill>
              <a:srgbClr val="F8FB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173260" cy="20193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1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97448" y="2057486"/>
            <a:ext cx="7476544" cy="349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2BA7A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LOWER COMPUTE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7448" y="2577979"/>
            <a:ext cx="7476544" cy="679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 b="true">
                <a:solidFill>
                  <a:srgbClr val="180E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Traditional filters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7448" y="3567427"/>
            <a:ext cx="7476544" cy="1474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19202A"/>
                </a:solidFill>
                <a:latin typeface="Calibri (MS)"/>
                <a:ea typeface="Calibri (MS)"/>
                <a:cs typeface="Calibri (MS)"/>
                <a:sym typeface="Calibri (MS)"/>
              </a:rPr>
              <a:t>Gaussian, CLAHE, Canny, morphology, brightness / contrast, then an OCR engine.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7448" y="5351897"/>
            <a:ext cx="7476544" cy="2161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646E7A"/>
                </a:solidFill>
                <a:latin typeface="Calibri (MS)"/>
                <a:ea typeface="Calibri (MS)"/>
                <a:cs typeface="Calibri (MS)"/>
                <a:sym typeface="Calibri (MS)"/>
              </a:rPr>
              <a:t>Fits the Raspberry Pi.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646E7A"/>
                </a:solidFill>
                <a:latin typeface="Calibri (MS)"/>
                <a:ea typeface="Calibri (MS)"/>
                <a:cs typeface="Calibri (MS)"/>
                <a:sym typeface="Calibri (MS)"/>
              </a:rPr>
              <a:t>No large model.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646E7A"/>
                </a:solidFill>
                <a:latin typeface="Calibri (MS)"/>
                <a:ea typeface="Calibri (MS)"/>
                <a:cs typeface="Calibri (MS)"/>
                <a:sym typeface="Calibri (MS)"/>
              </a:rPr>
              <a:t>Did not read these rotated stamps.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128274" y="1754829"/>
            <a:ext cx="8689337" cy="7457270"/>
            <a:chOff x="0" y="0"/>
            <a:chExt cx="2288550" cy="196405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88550" cy="1964055"/>
            </a:xfrm>
            <a:custGeom>
              <a:avLst/>
              <a:gdLst/>
              <a:ahLst/>
              <a:cxnLst/>
              <a:rect r="r" b="b" t="t" l="l"/>
              <a:pathLst>
                <a:path h="1964055" w="2288550">
                  <a:moveTo>
                    <a:pt x="22274" y="0"/>
                  </a:moveTo>
                  <a:lnTo>
                    <a:pt x="2266276" y="0"/>
                  </a:lnTo>
                  <a:cubicBezTo>
                    <a:pt x="2272183" y="0"/>
                    <a:pt x="2277849" y="2347"/>
                    <a:pt x="2282026" y="6524"/>
                  </a:cubicBezTo>
                  <a:cubicBezTo>
                    <a:pt x="2286203" y="10701"/>
                    <a:pt x="2288550" y="16367"/>
                    <a:pt x="2288550" y="22274"/>
                  </a:cubicBezTo>
                  <a:lnTo>
                    <a:pt x="2288550" y="1941781"/>
                  </a:lnTo>
                  <a:cubicBezTo>
                    <a:pt x="2288550" y="1954082"/>
                    <a:pt x="2278577" y="1964055"/>
                    <a:pt x="2266276" y="1964055"/>
                  </a:cubicBezTo>
                  <a:lnTo>
                    <a:pt x="22274" y="1964055"/>
                  </a:lnTo>
                  <a:cubicBezTo>
                    <a:pt x="9972" y="1964055"/>
                    <a:pt x="0" y="1954082"/>
                    <a:pt x="0" y="1941781"/>
                  </a:cubicBezTo>
                  <a:lnTo>
                    <a:pt x="0" y="22274"/>
                  </a:lnTo>
                  <a:cubicBezTo>
                    <a:pt x="0" y="16367"/>
                    <a:pt x="2347" y="10701"/>
                    <a:pt x="6524" y="6524"/>
                  </a:cubicBezTo>
                  <a:cubicBezTo>
                    <a:pt x="10701" y="2347"/>
                    <a:pt x="16367" y="0"/>
                    <a:pt x="22274" y="0"/>
                  </a:cubicBezTo>
                  <a:close/>
                </a:path>
              </a:pathLst>
            </a:custGeom>
            <a:solidFill>
              <a:srgbClr val="000E6B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288550" cy="20021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1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9576645" y="2057486"/>
            <a:ext cx="7751083" cy="349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9FFFC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HIGHER COMPUTE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76645" y="2577979"/>
            <a:ext cx="7751083" cy="679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Gemma 3 4B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576645" y="3567427"/>
            <a:ext cx="7751083" cy="1612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CE7FF"/>
                </a:solidFill>
                <a:latin typeface="Calibri (MS)"/>
                <a:ea typeface="Calibri (MS)"/>
                <a:cs typeface="Calibri (MS)"/>
                <a:sym typeface="Calibri (MS)"/>
              </a:rPr>
              <a:t>One local vision-language call on the disk crop. Filtering and reading happen inside the model.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576645" y="5557799"/>
            <a:ext cx="7751083" cy="2161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Heavier than the Pi filter path.</a:t>
            </a:r>
          </a:p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12 / 12 on the upright test1.png crops.</a:t>
            </a:r>
          </a:p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Kept, not locked in.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54282" y="9854260"/>
            <a:ext cx="10908230" cy="266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46E7A"/>
                </a:solidFill>
                <a:latin typeface="Calibri (MS)"/>
                <a:ea typeface="Calibri (MS)"/>
                <a:cs typeface="Calibri (MS)"/>
                <a:sym typeface="Calibri (MS)"/>
              </a:rPr>
              <a:t>IIT Delhi  ·  ELD411  ·  Mid-Term Review 2026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76656" y="319659"/>
            <a:ext cx="10899648" cy="228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NATIVE GEMMA + RIM STRIP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76656" y="629793"/>
            <a:ext cx="15014448" cy="522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12 / 12 on this plate only</a:t>
            </a:r>
          </a:p>
        </p:txBody>
      </p:sp>
      <p:sp>
        <p:nvSpPr>
          <p:cNvPr name="AutoShape 4" id="4"/>
          <p:cNvSpPr/>
          <p:nvPr/>
        </p:nvSpPr>
        <p:spPr>
          <a:xfrm rot="3180">
            <a:off x="632136" y="1293686"/>
            <a:ext cx="17023718" cy="0"/>
          </a:xfrm>
          <a:prstGeom prst="line">
            <a:avLst/>
          </a:prstGeom>
          <a:ln cap="rnd" w="9525">
            <a:solidFill>
              <a:srgbClr val="D5DB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6952976" y="356235"/>
            <a:ext cx="658368" cy="228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59"/>
              </a:lnSpc>
            </a:pPr>
            <a:r>
              <a:rPr lang="en-US" sz="1299" b="true">
                <a:solidFill>
                  <a:srgbClr val="646E7A"/>
                </a:solidFill>
                <a:latin typeface="Poppins Bold"/>
                <a:ea typeface="Poppins Bold"/>
                <a:cs typeface="Poppins Bold"/>
                <a:sym typeface="Poppins Bold"/>
              </a:rPr>
              <a:t>10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54282" y="1592266"/>
            <a:ext cx="5849074" cy="7285358"/>
            <a:chOff x="0" y="0"/>
            <a:chExt cx="1540497" cy="191877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40497" cy="1918777"/>
            </a:xfrm>
            <a:custGeom>
              <a:avLst/>
              <a:gdLst/>
              <a:ahLst/>
              <a:cxnLst/>
              <a:rect r="r" b="b" t="t" l="l"/>
              <a:pathLst>
                <a:path h="1918777" w="1540497">
                  <a:moveTo>
                    <a:pt x="33090" y="0"/>
                  </a:moveTo>
                  <a:lnTo>
                    <a:pt x="1507407" y="0"/>
                  </a:lnTo>
                  <a:cubicBezTo>
                    <a:pt x="1525682" y="0"/>
                    <a:pt x="1540497" y="14815"/>
                    <a:pt x="1540497" y="33090"/>
                  </a:cubicBezTo>
                  <a:lnTo>
                    <a:pt x="1540497" y="1885687"/>
                  </a:lnTo>
                  <a:cubicBezTo>
                    <a:pt x="1540497" y="1894463"/>
                    <a:pt x="1537011" y="1902880"/>
                    <a:pt x="1530805" y="1909086"/>
                  </a:cubicBezTo>
                  <a:cubicBezTo>
                    <a:pt x="1524599" y="1915291"/>
                    <a:pt x="1516183" y="1918777"/>
                    <a:pt x="1507407" y="1918777"/>
                  </a:cubicBezTo>
                  <a:lnTo>
                    <a:pt x="33090" y="1918777"/>
                  </a:lnTo>
                  <a:cubicBezTo>
                    <a:pt x="24314" y="1918777"/>
                    <a:pt x="15898" y="1915291"/>
                    <a:pt x="9692" y="1909086"/>
                  </a:cubicBezTo>
                  <a:cubicBezTo>
                    <a:pt x="3486" y="1902880"/>
                    <a:pt x="0" y="1894463"/>
                    <a:pt x="0" y="1885687"/>
                  </a:cubicBezTo>
                  <a:lnTo>
                    <a:pt x="0" y="33090"/>
                  </a:lnTo>
                  <a:cubicBezTo>
                    <a:pt x="0" y="24314"/>
                    <a:pt x="3486" y="15898"/>
                    <a:pt x="9692" y="9692"/>
                  </a:cubicBezTo>
                  <a:cubicBezTo>
                    <a:pt x="15898" y="3486"/>
                    <a:pt x="24314" y="0"/>
                    <a:pt x="33090" y="0"/>
                  </a:cubicBezTo>
                  <a:close/>
                </a:path>
              </a:pathLst>
            </a:custGeom>
            <a:solidFill>
              <a:srgbClr val="000E6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540497" cy="19568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1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996696" y="1983486"/>
            <a:ext cx="2670048" cy="265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9FFFC0"/>
                </a:solidFill>
                <a:latin typeface="Poppins Bold"/>
                <a:ea typeface="Poppins Bold"/>
                <a:cs typeface="Poppins Bold"/>
                <a:sym typeface="Poppins Bold"/>
              </a:rPr>
              <a:t>TEST1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6696" y="2429256"/>
            <a:ext cx="4956048" cy="1648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84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12/12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6696" y="4580001"/>
            <a:ext cx="4956048" cy="1144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DCE7FF"/>
                </a:solidFill>
                <a:latin typeface="Poppins"/>
                <a:ea typeface="Poppins"/>
                <a:cs typeface="Poppins"/>
                <a:sym typeface="Poppins"/>
              </a:rPr>
              <a:t>Eye-read ground truth.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DCE7FF"/>
                </a:solidFill>
                <a:latin typeface="Poppins"/>
                <a:ea typeface="Poppins"/>
                <a:cs typeface="Poppins"/>
                <a:sym typeface="Poppins"/>
              </a:rPr>
              <a:t>n = 12 is not clinical accuracy.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6696" y="6692646"/>
            <a:ext cx="4956048" cy="1134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true">
                <a:solidFill>
                  <a:srgbClr val="9FFFC0"/>
                </a:solidFill>
                <a:latin typeface="Poppins Bold"/>
                <a:ea typeface="Poppins Bold"/>
                <a:cs typeface="Poppins Bold"/>
                <a:sym typeface="Poppins Bold"/>
              </a:rPr>
              <a:t>Offline after</a:t>
            </a:r>
          </a:p>
          <a:p>
            <a:pPr algn="l">
              <a:lnSpc>
                <a:spcPts val="2639"/>
              </a:lnSpc>
            </a:pPr>
            <a:r>
              <a:rPr lang="en-US" sz="2199" b="true">
                <a:solidFill>
                  <a:srgbClr val="9FFFC0"/>
                </a:solidFill>
                <a:latin typeface="Poppins Bold"/>
                <a:ea typeface="Poppins Bold"/>
                <a:cs typeface="Poppins Bold"/>
                <a:sym typeface="Poppins Bold"/>
              </a:rPr>
              <a:t>ollama pull gemma3:4b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712906" y="1592266"/>
            <a:ext cx="3490598" cy="1661798"/>
            <a:chOff x="0" y="0"/>
            <a:chExt cx="4654131" cy="221573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654169" cy="2215769"/>
            </a:xfrm>
            <a:custGeom>
              <a:avLst/>
              <a:gdLst/>
              <a:ahLst/>
              <a:cxnLst/>
              <a:rect r="r" b="b" t="t" l="l"/>
              <a:pathLst>
                <a:path h="2215769" w="4654169">
                  <a:moveTo>
                    <a:pt x="0" y="369316"/>
                  </a:moveTo>
                  <a:cubicBezTo>
                    <a:pt x="0" y="165354"/>
                    <a:pt x="165354" y="0"/>
                    <a:pt x="369316" y="0"/>
                  </a:cubicBezTo>
                  <a:lnTo>
                    <a:pt x="4284853" y="0"/>
                  </a:lnTo>
                  <a:cubicBezTo>
                    <a:pt x="4488815" y="0"/>
                    <a:pt x="4654169" y="165354"/>
                    <a:pt x="4654169" y="369316"/>
                  </a:cubicBezTo>
                  <a:lnTo>
                    <a:pt x="4654169" y="1846453"/>
                  </a:lnTo>
                  <a:cubicBezTo>
                    <a:pt x="4654169" y="2050415"/>
                    <a:pt x="4488815" y="2215769"/>
                    <a:pt x="4284853" y="2215769"/>
                  </a:cubicBezTo>
                  <a:lnTo>
                    <a:pt x="369316" y="2215769"/>
                  </a:lnTo>
                  <a:cubicBezTo>
                    <a:pt x="165354" y="2215769"/>
                    <a:pt x="0" y="2050415"/>
                    <a:pt x="0" y="1846453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5DBE8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6986016" y="1873758"/>
            <a:ext cx="658368" cy="265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986016" y="2294001"/>
            <a:ext cx="2944368" cy="549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IPM 10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416226" y="1592266"/>
            <a:ext cx="3490598" cy="1661798"/>
            <a:chOff x="0" y="0"/>
            <a:chExt cx="4654131" cy="221573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654169" cy="2215769"/>
            </a:xfrm>
            <a:custGeom>
              <a:avLst/>
              <a:gdLst/>
              <a:ahLst/>
              <a:cxnLst/>
              <a:rect r="r" b="b" t="t" l="l"/>
              <a:pathLst>
                <a:path h="2215769" w="4654169">
                  <a:moveTo>
                    <a:pt x="0" y="369316"/>
                  </a:moveTo>
                  <a:cubicBezTo>
                    <a:pt x="0" y="165354"/>
                    <a:pt x="165354" y="0"/>
                    <a:pt x="369316" y="0"/>
                  </a:cubicBezTo>
                  <a:lnTo>
                    <a:pt x="4284853" y="0"/>
                  </a:lnTo>
                  <a:cubicBezTo>
                    <a:pt x="4488815" y="0"/>
                    <a:pt x="4654169" y="165354"/>
                    <a:pt x="4654169" y="369316"/>
                  </a:cubicBezTo>
                  <a:lnTo>
                    <a:pt x="4654169" y="1846453"/>
                  </a:lnTo>
                  <a:cubicBezTo>
                    <a:pt x="4654169" y="2050415"/>
                    <a:pt x="4488815" y="2215769"/>
                    <a:pt x="4284853" y="2215769"/>
                  </a:cubicBezTo>
                  <a:lnTo>
                    <a:pt x="369316" y="2215769"/>
                  </a:lnTo>
                  <a:cubicBezTo>
                    <a:pt x="165354" y="2215769"/>
                    <a:pt x="0" y="2050415"/>
                    <a:pt x="0" y="1846453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5DBE8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10689336" y="1873758"/>
            <a:ext cx="658368" cy="265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689336" y="2294001"/>
            <a:ext cx="2944368" cy="549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TZP 110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4119546" y="1592266"/>
            <a:ext cx="3490598" cy="1661798"/>
            <a:chOff x="0" y="0"/>
            <a:chExt cx="4654131" cy="221573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654169" cy="2215769"/>
            </a:xfrm>
            <a:custGeom>
              <a:avLst/>
              <a:gdLst/>
              <a:ahLst/>
              <a:cxnLst/>
              <a:rect r="r" b="b" t="t" l="l"/>
              <a:pathLst>
                <a:path h="2215769" w="4654169">
                  <a:moveTo>
                    <a:pt x="0" y="369316"/>
                  </a:moveTo>
                  <a:cubicBezTo>
                    <a:pt x="0" y="165354"/>
                    <a:pt x="165354" y="0"/>
                    <a:pt x="369316" y="0"/>
                  </a:cubicBezTo>
                  <a:lnTo>
                    <a:pt x="4284853" y="0"/>
                  </a:lnTo>
                  <a:cubicBezTo>
                    <a:pt x="4488815" y="0"/>
                    <a:pt x="4654169" y="165354"/>
                    <a:pt x="4654169" y="369316"/>
                  </a:cubicBezTo>
                  <a:lnTo>
                    <a:pt x="4654169" y="1846453"/>
                  </a:lnTo>
                  <a:cubicBezTo>
                    <a:pt x="4654169" y="2050415"/>
                    <a:pt x="4488815" y="2215769"/>
                    <a:pt x="4284853" y="2215769"/>
                  </a:cubicBezTo>
                  <a:lnTo>
                    <a:pt x="369316" y="2215769"/>
                  </a:lnTo>
                  <a:cubicBezTo>
                    <a:pt x="165354" y="2215769"/>
                    <a:pt x="0" y="2050415"/>
                    <a:pt x="0" y="1846453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5DBE8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14392656" y="1873758"/>
            <a:ext cx="658368" cy="265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392656" y="2294001"/>
            <a:ext cx="2944368" cy="549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GM 10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6712906" y="3466786"/>
            <a:ext cx="3490598" cy="1661798"/>
            <a:chOff x="0" y="0"/>
            <a:chExt cx="4654131" cy="221573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654169" cy="2215769"/>
            </a:xfrm>
            <a:custGeom>
              <a:avLst/>
              <a:gdLst/>
              <a:ahLst/>
              <a:cxnLst/>
              <a:rect r="r" b="b" t="t" l="l"/>
              <a:pathLst>
                <a:path h="2215769" w="4654169">
                  <a:moveTo>
                    <a:pt x="0" y="369316"/>
                  </a:moveTo>
                  <a:cubicBezTo>
                    <a:pt x="0" y="165354"/>
                    <a:pt x="165354" y="0"/>
                    <a:pt x="369316" y="0"/>
                  </a:cubicBezTo>
                  <a:lnTo>
                    <a:pt x="4284853" y="0"/>
                  </a:lnTo>
                  <a:cubicBezTo>
                    <a:pt x="4488815" y="0"/>
                    <a:pt x="4654169" y="165354"/>
                    <a:pt x="4654169" y="369316"/>
                  </a:cubicBezTo>
                  <a:lnTo>
                    <a:pt x="4654169" y="1846453"/>
                  </a:lnTo>
                  <a:cubicBezTo>
                    <a:pt x="4654169" y="2050415"/>
                    <a:pt x="4488815" y="2215769"/>
                    <a:pt x="4284853" y="2215769"/>
                  </a:cubicBezTo>
                  <a:lnTo>
                    <a:pt x="369316" y="2215769"/>
                  </a:lnTo>
                  <a:cubicBezTo>
                    <a:pt x="165354" y="2215769"/>
                    <a:pt x="0" y="2050415"/>
                    <a:pt x="0" y="1846453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5DBE8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6986016" y="3748278"/>
            <a:ext cx="658368" cy="265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04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986016" y="4168521"/>
            <a:ext cx="2944368" cy="549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MEM 10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0416226" y="3466786"/>
            <a:ext cx="3490598" cy="1661798"/>
            <a:chOff x="0" y="0"/>
            <a:chExt cx="4654131" cy="221573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654169" cy="2215769"/>
            </a:xfrm>
            <a:custGeom>
              <a:avLst/>
              <a:gdLst/>
              <a:ahLst/>
              <a:cxnLst/>
              <a:rect r="r" b="b" t="t" l="l"/>
              <a:pathLst>
                <a:path h="2215769" w="4654169">
                  <a:moveTo>
                    <a:pt x="0" y="369316"/>
                  </a:moveTo>
                  <a:cubicBezTo>
                    <a:pt x="0" y="165354"/>
                    <a:pt x="165354" y="0"/>
                    <a:pt x="369316" y="0"/>
                  </a:cubicBezTo>
                  <a:lnTo>
                    <a:pt x="4284853" y="0"/>
                  </a:lnTo>
                  <a:cubicBezTo>
                    <a:pt x="4488815" y="0"/>
                    <a:pt x="4654169" y="165354"/>
                    <a:pt x="4654169" y="369316"/>
                  </a:cubicBezTo>
                  <a:lnTo>
                    <a:pt x="4654169" y="1846453"/>
                  </a:lnTo>
                  <a:cubicBezTo>
                    <a:pt x="4654169" y="2050415"/>
                    <a:pt x="4488815" y="2215769"/>
                    <a:pt x="4284853" y="2215769"/>
                  </a:cubicBezTo>
                  <a:lnTo>
                    <a:pt x="369316" y="2215769"/>
                  </a:lnTo>
                  <a:cubicBezTo>
                    <a:pt x="165354" y="2215769"/>
                    <a:pt x="0" y="2050415"/>
                    <a:pt x="0" y="1846453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5DBE8"/>
              </a:solidFill>
              <a:prstDash val="solid"/>
              <a:miter/>
            </a:ln>
          </p:spPr>
        </p:sp>
      </p:grpSp>
      <p:sp>
        <p:nvSpPr>
          <p:cNvPr name="TextBox 31" id="31"/>
          <p:cNvSpPr txBox="true"/>
          <p:nvPr/>
        </p:nvSpPr>
        <p:spPr>
          <a:xfrm rot="0">
            <a:off x="10689336" y="3748278"/>
            <a:ext cx="658368" cy="265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05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689336" y="4168521"/>
            <a:ext cx="2944368" cy="549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AN 30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4119546" y="3466786"/>
            <a:ext cx="3490598" cy="1661798"/>
            <a:chOff x="0" y="0"/>
            <a:chExt cx="4654131" cy="221573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654169" cy="2215769"/>
            </a:xfrm>
            <a:custGeom>
              <a:avLst/>
              <a:gdLst/>
              <a:ahLst/>
              <a:cxnLst/>
              <a:rect r="r" b="b" t="t" l="l"/>
              <a:pathLst>
                <a:path h="2215769" w="4654169">
                  <a:moveTo>
                    <a:pt x="0" y="369316"/>
                  </a:moveTo>
                  <a:cubicBezTo>
                    <a:pt x="0" y="165354"/>
                    <a:pt x="165354" y="0"/>
                    <a:pt x="369316" y="0"/>
                  </a:cubicBezTo>
                  <a:lnTo>
                    <a:pt x="4284853" y="0"/>
                  </a:lnTo>
                  <a:cubicBezTo>
                    <a:pt x="4488815" y="0"/>
                    <a:pt x="4654169" y="165354"/>
                    <a:pt x="4654169" y="369316"/>
                  </a:cubicBezTo>
                  <a:lnTo>
                    <a:pt x="4654169" y="1846453"/>
                  </a:lnTo>
                  <a:cubicBezTo>
                    <a:pt x="4654169" y="2050415"/>
                    <a:pt x="4488815" y="2215769"/>
                    <a:pt x="4284853" y="2215769"/>
                  </a:cubicBezTo>
                  <a:lnTo>
                    <a:pt x="369316" y="2215769"/>
                  </a:lnTo>
                  <a:cubicBezTo>
                    <a:pt x="165354" y="2215769"/>
                    <a:pt x="0" y="2050415"/>
                    <a:pt x="0" y="1846453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5DBE8"/>
              </a:solidFill>
              <a:prstDash val="solid"/>
              <a:miter/>
            </a:ln>
          </p:spPr>
        </p:sp>
      </p:grpSp>
      <p:sp>
        <p:nvSpPr>
          <p:cNvPr name="TextBox 35" id="35"/>
          <p:cNvSpPr txBox="true"/>
          <p:nvPr/>
        </p:nvSpPr>
        <p:spPr>
          <a:xfrm rot="0">
            <a:off x="14392656" y="3748278"/>
            <a:ext cx="658368" cy="265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06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392656" y="4168521"/>
            <a:ext cx="2944368" cy="549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CAZ 30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6712906" y="5341306"/>
            <a:ext cx="3490598" cy="1661798"/>
            <a:chOff x="0" y="0"/>
            <a:chExt cx="4654131" cy="221573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654169" cy="2215769"/>
            </a:xfrm>
            <a:custGeom>
              <a:avLst/>
              <a:gdLst/>
              <a:ahLst/>
              <a:cxnLst/>
              <a:rect r="r" b="b" t="t" l="l"/>
              <a:pathLst>
                <a:path h="2215769" w="4654169">
                  <a:moveTo>
                    <a:pt x="0" y="369316"/>
                  </a:moveTo>
                  <a:cubicBezTo>
                    <a:pt x="0" y="165354"/>
                    <a:pt x="165354" y="0"/>
                    <a:pt x="369316" y="0"/>
                  </a:cubicBezTo>
                  <a:lnTo>
                    <a:pt x="4284853" y="0"/>
                  </a:lnTo>
                  <a:cubicBezTo>
                    <a:pt x="4488815" y="0"/>
                    <a:pt x="4654169" y="165354"/>
                    <a:pt x="4654169" y="369316"/>
                  </a:cubicBezTo>
                  <a:lnTo>
                    <a:pt x="4654169" y="1846453"/>
                  </a:lnTo>
                  <a:cubicBezTo>
                    <a:pt x="4654169" y="2050415"/>
                    <a:pt x="4488815" y="2215769"/>
                    <a:pt x="4284853" y="2215769"/>
                  </a:cubicBezTo>
                  <a:lnTo>
                    <a:pt x="369316" y="2215769"/>
                  </a:lnTo>
                  <a:cubicBezTo>
                    <a:pt x="165354" y="2215769"/>
                    <a:pt x="0" y="2050415"/>
                    <a:pt x="0" y="1846453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5DBE8"/>
              </a:solidFill>
              <a:prstDash val="solid"/>
              <a:miter/>
            </a:ln>
          </p:spPr>
        </p:sp>
      </p:grpSp>
      <p:sp>
        <p:nvSpPr>
          <p:cNvPr name="TextBox 39" id="39"/>
          <p:cNvSpPr txBox="true"/>
          <p:nvPr/>
        </p:nvSpPr>
        <p:spPr>
          <a:xfrm rot="0">
            <a:off x="6986016" y="5622798"/>
            <a:ext cx="658368" cy="265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07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986016" y="6043041"/>
            <a:ext cx="2944368" cy="549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SXT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0416226" y="5341306"/>
            <a:ext cx="3490598" cy="1661798"/>
            <a:chOff x="0" y="0"/>
            <a:chExt cx="4654131" cy="221573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654169" cy="2215769"/>
            </a:xfrm>
            <a:custGeom>
              <a:avLst/>
              <a:gdLst/>
              <a:ahLst/>
              <a:cxnLst/>
              <a:rect r="r" b="b" t="t" l="l"/>
              <a:pathLst>
                <a:path h="2215769" w="4654169">
                  <a:moveTo>
                    <a:pt x="0" y="369316"/>
                  </a:moveTo>
                  <a:cubicBezTo>
                    <a:pt x="0" y="165354"/>
                    <a:pt x="165354" y="0"/>
                    <a:pt x="369316" y="0"/>
                  </a:cubicBezTo>
                  <a:lnTo>
                    <a:pt x="4284853" y="0"/>
                  </a:lnTo>
                  <a:cubicBezTo>
                    <a:pt x="4488815" y="0"/>
                    <a:pt x="4654169" y="165354"/>
                    <a:pt x="4654169" y="369316"/>
                  </a:cubicBezTo>
                  <a:lnTo>
                    <a:pt x="4654169" y="1846453"/>
                  </a:lnTo>
                  <a:cubicBezTo>
                    <a:pt x="4654169" y="2050415"/>
                    <a:pt x="4488815" y="2215769"/>
                    <a:pt x="4284853" y="2215769"/>
                  </a:cubicBezTo>
                  <a:lnTo>
                    <a:pt x="369316" y="2215769"/>
                  </a:lnTo>
                  <a:cubicBezTo>
                    <a:pt x="165354" y="2215769"/>
                    <a:pt x="0" y="2050415"/>
                    <a:pt x="0" y="1846453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5DBE8"/>
              </a:solidFill>
              <a:prstDash val="solid"/>
              <a:miter/>
            </a:ln>
          </p:spPr>
        </p:sp>
      </p:grpSp>
      <p:sp>
        <p:nvSpPr>
          <p:cNvPr name="TextBox 43" id="43"/>
          <p:cNvSpPr txBox="true"/>
          <p:nvPr/>
        </p:nvSpPr>
        <p:spPr>
          <a:xfrm rot="0">
            <a:off x="10689336" y="5622798"/>
            <a:ext cx="658368" cy="265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08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689336" y="6043041"/>
            <a:ext cx="2944368" cy="549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NN 10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14119546" y="5341306"/>
            <a:ext cx="3490598" cy="1661798"/>
            <a:chOff x="0" y="0"/>
            <a:chExt cx="4654131" cy="221573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654169" cy="2215769"/>
            </a:xfrm>
            <a:custGeom>
              <a:avLst/>
              <a:gdLst/>
              <a:ahLst/>
              <a:cxnLst/>
              <a:rect r="r" b="b" t="t" l="l"/>
              <a:pathLst>
                <a:path h="2215769" w="4654169">
                  <a:moveTo>
                    <a:pt x="0" y="369316"/>
                  </a:moveTo>
                  <a:cubicBezTo>
                    <a:pt x="0" y="165354"/>
                    <a:pt x="165354" y="0"/>
                    <a:pt x="369316" y="0"/>
                  </a:cubicBezTo>
                  <a:lnTo>
                    <a:pt x="4284853" y="0"/>
                  </a:lnTo>
                  <a:cubicBezTo>
                    <a:pt x="4488815" y="0"/>
                    <a:pt x="4654169" y="165354"/>
                    <a:pt x="4654169" y="369316"/>
                  </a:cubicBezTo>
                  <a:lnTo>
                    <a:pt x="4654169" y="1846453"/>
                  </a:lnTo>
                  <a:cubicBezTo>
                    <a:pt x="4654169" y="2050415"/>
                    <a:pt x="4488815" y="2215769"/>
                    <a:pt x="4284853" y="2215769"/>
                  </a:cubicBezTo>
                  <a:lnTo>
                    <a:pt x="369316" y="2215769"/>
                  </a:lnTo>
                  <a:cubicBezTo>
                    <a:pt x="165354" y="2215769"/>
                    <a:pt x="0" y="2050415"/>
                    <a:pt x="0" y="1846453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5DBE8"/>
              </a:solidFill>
              <a:prstDash val="solid"/>
              <a:miter/>
            </a:ln>
          </p:spPr>
        </p:sp>
      </p:grpSp>
      <p:sp>
        <p:nvSpPr>
          <p:cNvPr name="TextBox 47" id="47"/>
          <p:cNvSpPr txBox="true"/>
          <p:nvPr/>
        </p:nvSpPr>
        <p:spPr>
          <a:xfrm rot="0">
            <a:off x="14392656" y="5622798"/>
            <a:ext cx="658368" cy="265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09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4392656" y="6043041"/>
            <a:ext cx="2944368" cy="549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AM 10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6712906" y="7215826"/>
            <a:ext cx="3490598" cy="1661798"/>
            <a:chOff x="0" y="0"/>
            <a:chExt cx="4654131" cy="221573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654169" cy="2215769"/>
            </a:xfrm>
            <a:custGeom>
              <a:avLst/>
              <a:gdLst/>
              <a:ahLst/>
              <a:cxnLst/>
              <a:rect r="r" b="b" t="t" l="l"/>
              <a:pathLst>
                <a:path h="2215769" w="4654169">
                  <a:moveTo>
                    <a:pt x="0" y="369316"/>
                  </a:moveTo>
                  <a:cubicBezTo>
                    <a:pt x="0" y="165354"/>
                    <a:pt x="165354" y="0"/>
                    <a:pt x="369316" y="0"/>
                  </a:cubicBezTo>
                  <a:lnTo>
                    <a:pt x="4284853" y="0"/>
                  </a:lnTo>
                  <a:cubicBezTo>
                    <a:pt x="4488815" y="0"/>
                    <a:pt x="4654169" y="165354"/>
                    <a:pt x="4654169" y="369316"/>
                  </a:cubicBezTo>
                  <a:lnTo>
                    <a:pt x="4654169" y="1846453"/>
                  </a:lnTo>
                  <a:cubicBezTo>
                    <a:pt x="4654169" y="2050415"/>
                    <a:pt x="4488815" y="2215769"/>
                    <a:pt x="4284853" y="2215769"/>
                  </a:cubicBezTo>
                  <a:lnTo>
                    <a:pt x="369316" y="2215769"/>
                  </a:lnTo>
                  <a:cubicBezTo>
                    <a:pt x="165354" y="2215769"/>
                    <a:pt x="0" y="2050415"/>
                    <a:pt x="0" y="1846453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5DBE8"/>
              </a:solidFill>
              <a:prstDash val="solid"/>
              <a:miter/>
            </a:ln>
          </p:spPr>
        </p:sp>
      </p:grpSp>
      <p:sp>
        <p:nvSpPr>
          <p:cNvPr name="TextBox 51" id="51"/>
          <p:cNvSpPr txBox="true"/>
          <p:nvPr/>
        </p:nvSpPr>
        <p:spPr>
          <a:xfrm rot="0">
            <a:off x="6986016" y="7497318"/>
            <a:ext cx="658368" cy="265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10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6986016" y="7917561"/>
            <a:ext cx="2944368" cy="549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CRO 30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10416226" y="7215826"/>
            <a:ext cx="3490598" cy="1661798"/>
            <a:chOff x="0" y="0"/>
            <a:chExt cx="4654131" cy="221573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654169" cy="2215769"/>
            </a:xfrm>
            <a:custGeom>
              <a:avLst/>
              <a:gdLst/>
              <a:ahLst/>
              <a:cxnLst/>
              <a:rect r="r" b="b" t="t" l="l"/>
              <a:pathLst>
                <a:path h="2215769" w="4654169">
                  <a:moveTo>
                    <a:pt x="0" y="369316"/>
                  </a:moveTo>
                  <a:cubicBezTo>
                    <a:pt x="0" y="165354"/>
                    <a:pt x="165354" y="0"/>
                    <a:pt x="369316" y="0"/>
                  </a:cubicBezTo>
                  <a:lnTo>
                    <a:pt x="4284853" y="0"/>
                  </a:lnTo>
                  <a:cubicBezTo>
                    <a:pt x="4488815" y="0"/>
                    <a:pt x="4654169" y="165354"/>
                    <a:pt x="4654169" y="369316"/>
                  </a:cubicBezTo>
                  <a:lnTo>
                    <a:pt x="4654169" y="1846453"/>
                  </a:lnTo>
                  <a:cubicBezTo>
                    <a:pt x="4654169" y="2050415"/>
                    <a:pt x="4488815" y="2215769"/>
                    <a:pt x="4284853" y="2215769"/>
                  </a:cubicBezTo>
                  <a:lnTo>
                    <a:pt x="369316" y="2215769"/>
                  </a:lnTo>
                  <a:cubicBezTo>
                    <a:pt x="165354" y="2215769"/>
                    <a:pt x="0" y="2050415"/>
                    <a:pt x="0" y="1846453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5DBE8"/>
              </a:solidFill>
              <a:prstDash val="solid"/>
              <a:miter/>
            </a:ln>
          </p:spPr>
        </p:sp>
      </p:grpSp>
      <p:sp>
        <p:nvSpPr>
          <p:cNvPr name="TextBox 55" id="55"/>
          <p:cNvSpPr txBox="true"/>
          <p:nvPr/>
        </p:nvSpPr>
        <p:spPr>
          <a:xfrm rot="0">
            <a:off x="10689336" y="7497318"/>
            <a:ext cx="658368" cy="265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11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0689336" y="7917561"/>
            <a:ext cx="2944368" cy="549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CZ 30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14119546" y="7215826"/>
            <a:ext cx="3490598" cy="1661798"/>
            <a:chOff x="0" y="0"/>
            <a:chExt cx="4654131" cy="2215731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654169" cy="2215769"/>
            </a:xfrm>
            <a:custGeom>
              <a:avLst/>
              <a:gdLst/>
              <a:ahLst/>
              <a:cxnLst/>
              <a:rect r="r" b="b" t="t" l="l"/>
              <a:pathLst>
                <a:path h="2215769" w="4654169">
                  <a:moveTo>
                    <a:pt x="0" y="369316"/>
                  </a:moveTo>
                  <a:cubicBezTo>
                    <a:pt x="0" y="165354"/>
                    <a:pt x="165354" y="0"/>
                    <a:pt x="369316" y="0"/>
                  </a:cubicBezTo>
                  <a:lnTo>
                    <a:pt x="4284853" y="0"/>
                  </a:lnTo>
                  <a:cubicBezTo>
                    <a:pt x="4488815" y="0"/>
                    <a:pt x="4654169" y="165354"/>
                    <a:pt x="4654169" y="369316"/>
                  </a:cubicBezTo>
                  <a:lnTo>
                    <a:pt x="4654169" y="1846453"/>
                  </a:lnTo>
                  <a:cubicBezTo>
                    <a:pt x="4654169" y="2050415"/>
                    <a:pt x="4488815" y="2215769"/>
                    <a:pt x="4284853" y="2215769"/>
                  </a:cubicBezTo>
                  <a:lnTo>
                    <a:pt x="369316" y="2215769"/>
                  </a:lnTo>
                  <a:cubicBezTo>
                    <a:pt x="165354" y="2215769"/>
                    <a:pt x="0" y="2050415"/>
                    <a:pt x="0" y="1846453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5DBE8"/>
              </a:solidFill>
              <a:prstDash val="solid"/>
              <a:miter/>
            </a:ln>
          </p:spPr>
        </p:sp>
      </p:grpSp>
      <p:sp>
        <p:nvSpPr>
          <p:cNvPr name="TextBox 59" id="59"/>
          <p:cNvSpPr txBox="true"/>
          <p:nvPr/>
        </p:nvSpPr>
        <p:spPr>
          <a:xfrm rot="0">
            <a:off x="14392656" y="7497318"/>
            <a:ext cx="658368" cy="265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12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4392656" y="7917561"/>
            <a:ext cx="2944368" cy="549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CIP 5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676656" y="9911334"/>
            <a:ext cx="9070848" cy="20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IIT Delhi  ·  ELD411  ·  Mid-Term Review 2026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54282" y="300466"/>
            <a:ext cx="12280897" cy="321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2BA7A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STEP 1  ·  CIRCLES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54282" y="591807"/>
            <a:ext cx="15300779" cy="66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180E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Same detector, other plates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17706" y="1400127"/>
            <a:ext cx="17021137" cy="16469"/>
            <a:chOff x="0" y="0"/>
            <a:chExt cx="22694849" cy="2195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694900" cy="21971"/>
            </a:xfrm>
            <a:custGeom>
              <a:avLst/>
              <a:gdLst/>
              <a:ahLst/>
              <a:cxnLst/>
              <a:rect r="r" b="b" t="t" l="l"/>
              <a:pathLst>
                <a:path h="21971" w="22694900">
                  <a:moveTo>
                    <a:pt x="0" y="0"/>
                  </a:moveTo>
                  <a:lnTo>
                    <a:pt x="22694900" y="0"/>
                  </a:lnTo>
                  <a:lnTo>
                    <a:pt x="22694900" y="21971"/>
                  </a:lnTo>
                  <a:lnTo>
                    <a:pt x="0" y="21971"/>
                  </a:lnTo>
                  <a:close/>
                </a:path>
              </a:pathLst>
            </a:custGeom>
            <a:solidFill>
              <a:srgbClr val="D5DBE8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6783183" y="327917"/>
            <a:ext cx="887720" cy="349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1"/>
              </a:lnSpc>
            </a:pPr>
            <a:r>
              <a:rPr lang="en-US" sz="1801" b="true">
                <a:solidFill>
                  <a:srgbClr val="646E7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11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537153" y="1703927"/>
            <a:ext cx="5583155" cy="7367626"/>
            <a:chOff x="0" y="0"/>
            <a:chExt cx="7444207" cy="982350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444105" cy="9823450"/>
            </a:xfrm>
            <a:custGeom>
              <a:avLst/>
              <a:gdLst/>
              <a:ahLst/>
              <a:cxnLst/>
              <a:rect r="r" b="b" t="t" l="l"/>
              <a:pathLst>
                <a:path h="9823450" w="7444105">
                  <a:moveTo>
                    <a:pt x="0" y="1240663"/>
                  </a:moveTo>
                  <a:cubicBezTo>
                    <a:pt x="0" y="555498"/>
                    <a:pt x="555498" y="0"/>
                    <a:pt x="1240663" y="0"/>
                  </a:cubicBezTo>
                  <a:lnTo>
                    <a:pt x="6203442" y="0"/>
                  </a:lnTo>
                  <a:cubicBezTo>
                    <a:pt x="6888734" y="0"/>
                    <a:pt x="7444105" y="555498"/>
                    <a:pt x="7444105" y="1240663"/>
                  </a:cubicBezTo>
                  <a:lnTo>
                    <a:pt x="7444105" y="8582787"/>
                  </a:lnTo>
                  <a:cubicBezTo>
                    <a:pt x="7444105" y="9268079"/>
                    <a:pt x="6888607" y="9823450"/>
                    <a:pt x="6203442" y="9823450"/>
                  </a:cubicBezTo>
                  <a:lnTo>
                    <a:pt x="1240663" y="9823450"/>
                  </a:lnTo>
                  <a:cubicBezTo>
                    <a:pt x="555498" y="9823450"/>
                    <a:pt x="0" y="9267952"/>
                    <a:pt x="0" y="8582787"/>
                  </a:cubicBezTo>
                  <a:close/>
                </a:path>
              </a:pathLst>
            </a:custGeom>
            <a:solidFill>
              <a:srgbClr val="FFFFFF"/>
            </a:solidFill>
            <a:ln w="23831" cap="sq">
              <a:solidFill>
                <a:srgbClr val="D5DBE8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713794" y="2427713"/>
            <a:ext cx="5216157" cy="5178809"/>
            <a:chOff x="0" y="0"/>
            <a:chExt cx="6954876" cy="6905079"/>
          </a:xfrm>
        </p:grpSpPr>
        <p:sp>
          <p:nvSpPr>
            <p:cNvPr name="Freeform 10" id="10" descr="s2_detected.png"/>
            <p:cNvSpPr/>
            <p:nvPr/>
          </p:nvSpPr>
          <p:spPr>
            <a:xfrm flipH="false" flipV="false" rot="0">
              <a:off x="0" y="0"/>
              <a:ext cx="6954901" cy="6905117"/>
            </a:xfrm>
            <a:custGeom>
              <a:avLst/>
              <a:gdLst/>
              <a:ahLst/>
              <a:cxnLst/>
              <a:rect r="r" b="b" t="t" l="l"/>
              <a:pathLst>
                <a:path h="6905117" w="6954901">
                  <a:moveTo>
                    <a:pt x="469900" y="0"/>
                  </a:moveTo>
                  <a:lnTo>
                    <a:pt x="6485001" y="0"/>
                  </a:lnTo>
                  <a:cubicBezTo>
                    <a:pt x="6744519" y="0"/>
                    <a:pt x="6954901" y="210381"/>
                    <a:pt x="6954901" y="469900"/>
                  </a:cubicBezTo>
                  <a:lnTo>
                    <a:pt x="6954901" y="6435217"/>
                  </a:lnTo>
                  <a:cubicBezTo>
                    <a:pt x="6954901" y="6559842"/>
                    <a:pt x="6905394" y="6679364"/>
                    <a:pt x="6817271" y="6767487"/>
                  </a:cubicBezTo>
                  <a:cubicBezTo>
                    <a:pt x="6729147" y="6855610"/>
                    <a:pt x="6609626" y="6905117"/>
                    <a:pt x="6485001" y="6905117"/>
                  </a:cubicBezTo>
                  <a:lnTo>
                    <a:pt x="469900" y="6905117"/>
                  </a:lnTo>
                  <a:cubicBezTo>
                    <a:pt x="345275" y="6905117"/>
                    <a:pt x="225754" y="6855610"/>
                    <a:pt x="137631" y="6767487"/>
                  </a:cubicBezTo>
                  <a:cubicBezTo>
                    <a:pt x="49507" y="6679364"/>
                    <a:pt x="0" y="6559842"/>
                    <a:pt x="0" y="6435217"/>
                  </a:cubicBezTo>
                  <a:lnTo>
                    <a:pt x="0" y="469900"/>
                  </a:lnTo>
                  <a:cubicBezTo>
                    <a:pt x="0" y="210381"/>
                    <a:pt x="210381" y="0"/>
                    <a:pt x="46990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585645" y="8224990"/>
            <a:ext cx="5486171" cy="413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180E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s2  ·  AMP, E, NA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371015" y="1703927"/>
            <a:ext cx="5583155" cy="7367626"/>
            <a:chOff x="0" y="0"/>
            <a:chExt cx="7444207" cy="982350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444105" cy="9823450"/>
            </a:xfrm>
            <a:custGeom>
              <a:avLst/>
              <a:gdLst/>
              <a:ahLst/>
              <a:cxnLst/>
              <a:rect r="r" b="b" t="t" l="l"/>
              <a:pathLst>
                <a:path h="9823450" w="7444105">
                  <a:moveTo>
                    <a:pt x="0" y="1240663"/>
                  </a:moveTo>
                  <a:cubicBezTo>
                    <a:pt x="0" y="555498"/>
                    <a:pt x="555498" y="0"/>
                    <a:pt x="1240663" y="0"/>
                  </a:cubicBezTo>
                  <a:lnTo>
                    <a:pt x="6203442" y="0"/>
                  </a:lnTo>
                  <a:cubicBezTo>
                    <a:pt x="6888734" y="0"/>
                    <a:pt x="7444105" y="555498"/>
                    <a:pt x="7444105" y="1240663"/>
                  </a:cubicBezTo>
                  <a:lnTo>
                    <a:pt x="7444105" y="8582787"/>
                  </a:lnTo>
                  <a:cubicBezTo>
                    <a:pt x="7444105" y="9268079"/>
                    <a:pt x="6888607" y="9823450"/>
                    <a:pt x="6203442" y="9823450"/>
                  </a:cubicBezTo>
                  <a:lnTo>
                    <a:pt x="1240663" y="9823450"/>
                  </a:lnTo>
                  <a:cubicBezTo>
                    <a:pt x="555498" y="9823450"/>
                    <a:pt x="0" y="9267952"/>
                    <a:pt x="0" y="8582787"/>
                  </a:cubicBezTo>
                  <a:close/>
                </a:path>
              </a:pathLst>
            </a:custGeom>
            <a:solidFill>
              <a:srgbClr val="FFFFFF"/>
            </a:solidFill>
            <a:ln w="23831" cap="sq">
              <a:solidFill>
                <a:srgbClr val="D5DBE8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6547647" y="2452507"/>
            <a:ext cx="5216157" cy="5129222"/>
            <a:chOff x="0" y="0"/>
            <a:chExt cx="6954876" cy="6838963"/>
          </a:xfrm>
        </p:grpSpPr>
        <p:sp>
          <p:nvSpPr>
            <p:cNvPr name="Freeform 15" id="15" descr="s3_detected.png"/>
            <p:cNvSpPr/>
            <p:nvPr/>
          </p:nvSpPr>
          <p:spPr>
            <a:xfrm flipH="false" flipV="false" rot="0">
              <a:off x="0" y="0"/>
              <a:ext cx="6954901" cy="6838950"/>
            </a:xfrm>
            <a:custGeom>
              <a:avLst/>
              <a:gdLst/>
              <a:ahLst/>
              <a:cxnLst/>
              <a:rect r="r" b="b" t="t" l="l"/>
              <a:pathLst>
                <a:path h="6838950" w="6954901">
                  <a:moveTo>
                    <a:pt x="406400" y="0"/>
                  </a:moveTo>
                  <a:lnTo>
                    <a:pt x="6548501" y="0"/>
                  </a:lnTo>
                  <a:cubicBezTo>
                    <a:pt x="6772949" y="0"/>
                    <a:pt x="6954901" y="181951"/>
                    <a:pt x="6954901" y="406400"/>
                  </a:cubicBezTo>
                  <a:lnTo>
                    <a:pt x="6954901" y="6432550"/>
                  </a:lnTo>
                  <a:cubicBezTo>
                    <a:pt x="6954901" y="6540334"/>
                    <a:pt x="6912084" y="6643704"/>
                    <a:pt x="6835870" y="6719919"/>
                  </a:cubicBezTo>
                  <a:cubicBezTo>
                    <a:pt x="6759655" y="6796133"/>
                    <a:pt x="6656285" y="6838950"/>
                    <a:pt x="6548501" y="6838950"/>
                  </a:cubicBezTo>
                  <a:lnTo>
                    <a:pt x="406400" y="6838950"/>
                  </a:lnTo>
                  <a:cubicBezTo>
                    <a:pt x="181951" y="6838950"/>
                    <a:pt x="0" y="6656998"/>
                    <a:pt x="0" y="643255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6419507" y="8224990"/>
            <a:ext cx="5486171" cy="413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180E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s3  ·  CIP, AMX, AK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2204868" y="1703927"/>
            <a:ext cx="5583155" cy="7367626"/>
            <a:chOff x="0" y="0"/>
            <a:chExt cx="7444207" cy="982350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444105" cy="9823450"/>
            </a:xfrm>
            <a:custGeom>
              <a:avLst/>
              <a:gdLst/>
              <a:ahLst/>
              <a:cxnLst/>
              <a:rect r="r" b="b" t="t" l="l"/>
              <a:pathLst>
                <a:path h="9823450" w="7444105">
                  <a:moveTo>
                    <a:pt x="0" y="1240663"/>
                  </a:moveTo>
                  <a:cubicBezTo>
                    <a:pt x="0" y="555498"/>
                    <a:pt x="555498" y="0"/>
                    <a:pt x="1240663" y="0"/>
                  </a:cubicBezTo>
                  <a:lnTo>
                    <a:pt x="6203442" y="0"/>
                  </a:lnTo>
                  <a:cubicBezTo>
                    <a:pt x="6888734" y="0"/>
                    <a:pt x="7444105" y="555498"/>
                    <a:pt x="7444105" y="1240663"/>
                  </a:cubicBezTo>
                  <a:lnTo>
                    <a:pt x="7444105" y="8582787"/>
                  </a:lnTo>
                  <a:cubicBezTo>
                    <a:pt x="7444105" y="9268079"/>
                    <a:pt x="6888607" y="9823450"/>
                    <a:pt x="6203442" y="9823450"/>
                  </a:cubicBezTo>
                  <a:lnTo>
                    <a:pt x="1240663" y="9823450"/>
                  </a:lnTo>
                  <a:cubicBezTo>
                    <a:pt x="555498" y="9823450"/>
                    <a:pt x="0" y="9267952"/>
                    <a:pt x="0" y="8582787"/>
                  </a:cubicBezTo>
                  <a:close/>
                </a:path>
              </a:pathLst>
            </a:custGeom>
            <a:solidFill>
              <a:srgbClr val="FFFFFF"/>
            </a:solidFill>
            <a:ln w="23831" cap="sq">
              <a:solidFill>
                <a:srgbClr val="D5DBE8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2381509" y="2686088"/>
            <a:ext cx="5216157" cy="4662059"/>
            <a:chOff x="0" y="0"/>
            <a:chExt cx="6954876" cy="6216078"/>
          </a:xfrm>
        </p:grpSpPr>
        <p:sp>
          <p:nvSpPr>
            <p:cNvPr name="Freeform 20" id="20" descr="s5_detected.png"/>
            <p:cNvSpPr/>
            <p:nvPr/>
          </p:nvSpPr>
          <p:spPr>
            <a:xfrm flipH="false" flipV="false" rot="0">
              <a:off x="0" y="0"/>
              <a:ext cx="6954901" cy="6216015"/>
            </a:xfrm>
            <a:custGeom>
              <a:avLst/>
              <a:gdLst/>
              <a:ahLst/>
              <a:cxnLst/>
              <a:rect r="r" b="b" t="t" l="l"/>
              <a:pathLst>
                <a:path h="6216015" w="6954901">
                  <a:moveTo>
                    <a:pt x="355600" y="0"/>
                  </a:moveTo>
                  <a:lnTo>
                    <a:pt x="6599301" y="0"/>
                  </a:lnTo>
                  <a:cubicBezTo>
                    <a:pt x="6795694" y="0"/>
                    <a:pt x="6954901" y="159208"/>
                    <a:pt x="6954901" y="355600"/>
                  </a:cubicBezTo>
                  <a:lnTo>
                    <a:pt x="6954901" y="5860415"/>
                  </a:lnTo>
                  <a:cubicBezTo>
                    <a:pt x="6954901" y="5954726"/>
                    <a:pt x="6917436" y="6045174"/>
                    <a:pt x="6850749" y="6111862"/>
                  </a:cubicBezTo>
                  <a:cubicBezTo>
                    <a:pt x="6784060" y="6178550"/>
                    <a:pt x="6693612" y="6216015"/>
                    <a:pt x="6599301" y="6216015"/>
                  </a:cubicBezTo>
                  <a:lnTo>
                    <a:pt x="355600" y="6216015"/>
                  </a:lnTo>
                  <a:cubicBezTo>
                    <a:pt x="159208" y="6216015"/>
                    <a:pt x="0" y="6056807"/>
                    <a:pt x="0" y="5860415"/>
                  </a:cubicBezTo>
                  <a:lnTo>
                    <a:pt x="0" y="355600"/>
                  </a:lnTo>
                  <a:cubicBezTo>
                    <a:pt x="0" y="159208"/>
                    <a:pt x="159208" y="0"/>
                    <a:pt x="3556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-1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2253360" y="8224990"/>
            <a:ext cx="5486171" cy="413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180E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s5  ·  denser plate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54282" y="9854260"/>
            <a:ext cx="10908230" cy="266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46E7A"/>
                </a:solidFill>
                <a:latin typeface="Calibri (MS)"/>
                <a:ea typeface="Calibri (MS)"/>
                <a:cs typeface="Calibri (MS)"/>
                <a:sym typeface="Calibri (MS)"/>
              </a:rPr>
              <a:t>IIT Delhi  ·  ELD411  ·  Mid-Term Review 2026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54282" y="300466"/>
            <a:ext cx="12280897" cy="321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2BA7A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STEP 2  ·  STAMP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54282" y="591807"/>
            <a:ext cx="15300779" cy="66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180E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Images in front of the reader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17706" y="1400127"/>
            <a:ext cx="17021137" cy="16469"/>
            <a:chOff x="0" y="0"/>
            <a:chExt cx="22694849" cy="2195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694900" cy="21971"/>
            </a:xfrm>
            <a:custGeom>
              <a:avLst/>
              <a:gdLst/>
              <a:ahLst/>
              <a:cxnLst/>
              <a:rect r="r" b="b" t="t" l="l"/>
              <a:pathLst>
                <a:path h="21971" w="22694900">
                  <a:moveTo>
                    <a:pt x="0" y="0"/>
                  </a:moveTo>
                  <a:lnTo>
                    <a:pt x="22694900" y="0"/>
                  </a:lnTo>
                  <a:lnTo>
                    <a:pt x="22694900" y="21971"/>
                  </a:lnTo>
                  <a:lnTo>
                    <a:pt x="0" y="21971"/>
                  </a:lnTo>
                  <a:close/>
                </a:path>
              </a:pathLst>
            </a:custGeom>
            <a:solidFill>
              <a:srgbClr val="D5DBE8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6783183" y="327917"/>
            <a:ext cx="887720" cy="349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1"/>
              </a:lnSpc>
            </a:pPr>
            <a:r>
              <a:rPr lang="en-US" sz="1801" b="true">
                <a:solidFill>
                  <a:srgbClr val="646E7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12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54282" y="1754829"/>
            <a:ext cx="5692064" cy="7522626"/>
            <a:chOff x="0" y="0"/>
            <a:chExt cx="1499144" cy="198126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99144" cy="1981268"/>
            </a:xfrm>
            <a:custGeom>
              <a:avLst/>
              <a:gdLst/>
              <a:ahLst/>
              <a:cxnLst/>
              <a:rect r="r" b="b" t="t" l="l"/>
              <a:pathLst>
                <a:path h="1981268" w="1499144">
                  <a:moveTo>
                    <a:pt x="0" y="0"/>
                  </a:moveTo>
                  <a:lnTo>
                    <a:pt x="1499144" y="0"/>
                  </a:lnTo>
                  <a:lnTo>
                    <a:pt x="1499144" y="1981268"/>
                  </a:lnTo>
                  <a:lnTo>
                    <a:pt x="0" y="1981268"/>
                  </a:lnTo>
                  <a:close/>
                </a:path>
              </a:pathLst>
            </a:custGeom>
            <a:solidFill>
              <a:srgbClr val="FFFFFF"/>
            </a:solidFill>
            <a:ln w="23831" cap="sq">
              <a:solidFill>
                <a:srgbClr val="D5DBE8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499144" cy="20193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1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54971" y="2303135"/>
            <a:ext cx="5490686" cy="5575325"/>
            <a:chOff x="0" y="0"/>
            <a:chExt cx="7320915" cy="7433767"/>
          </a:xfrm>
        </p:grpSpPr>
        <p:sp>
          <p:nvSpPr>
            <p:cNvPr name="Freeform 11" id="11" descr="01_hough_annotated.png"/>
            <p:cNvSpPr/>
            <p:nvPr/>
          </p:nvSpPr>
          <p:spPr>
            <a:xfrm flipH="false" flipV="false" rot="0">
              <a:off x="0" y="0"/>
              <a:ext cx="7320915" cy="7433818"/>
            </a:xfrm>
            <a:custGeom>
              <a:avLst/>
              <a:gdLst/>
              <a:ahLst/>
              <a:cxnLst/>
              <a:rect r="r" b="b" t="t" l="l"/>
              <a:pathLst>
                <a:path h="7433818" w="7320915">
                  <a:moveTo>
                    <a:pt x="406400" y="0"/>
                  </a:moveTo>
                  <a:lnTo>
                    <a:pt x="6914515" y="0"/>
                  </a:lnTo>
                  <a:cubicBezTo>
                    <a:pt x="7022299" y="0"/>
                    <a:pt x="7125669" y="42817"/>
                    <a:pt x="7201884" y="119032"/>
                  </a:cubicBezTo>
                  <a:cubicBezTo>
                    <a:pt x="7278098" y="195247"/>
                    <a:pt x="7320915" y="298616"/>
                    <a:pt x="7320915" y="406400"/>
                  </a:cubicBezTo>
                  <a:lnTo>
                    <a:pt x="7320915" y="7027418"/>
                  </a:lnTo>
                  <a:cubicBezTo>
                    <a:pt x="7320915" y="7135202"/>
                    <a:pt x="7278098" y="7238572"/>
                    <a:pt x="7201884" y="7314787"/>
                  </a:cubicBezTo>
                  <a:cubicBezTo>
                    <a:pt x="7125669" y="7391002"/>
                    <a:pt x="7022299" y="7433818"/>
                    <a:pt x="6914515" y="7433818"/>
                  </a:cubicBezTo>
                  <a:lnTo>
                    <a:pt x="406400" y="7433818"/>
                  </a:lnTo>
                  <a:cubicBezTo>
                    <a:pt x="181951" y="7433818"/>
                    <a:pt x="0" y="7251867"/>
                    <a:pt x="0" y="7027418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517007" y="8536496"/>
            <a:ext cx="5829338" cy="349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 b="true">
                <a:solidFill>
                  <a:srgbClr val="180E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test1  ·  Hough disks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593338" y="1754829"/>
            <a:ext cx="11045504" cy="3626044"/>
            <a:chOff x="0" y="0"/>
            <a:chExt cx="2909104" cy="95500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909104" cy="955007"/>
            </a:xfrm>
            <a:custGeom>
              <a:avLst/>
              <a:gdLst/>
              <a:ahLst/>
              <a:cxnLst/>
              <a:rect r="r" b="b" t="t" l="l"/>
              <a:pathLst>
                <a:path h="955007" w="2909104">
                  <a:moveTo>
                    <a:pt x="17523" y="0"/>
                  </a:moveTo>
                  <a:lnTo>
                    <a:pt x="2891581" y="0"/>
                  </a:lnTo>
                  <a:cubicBezTo>
                    <a:pt x="2896229" y="0"/>
                    <a:pt x="2900686" y="1846"/>
                    <a:pt x="2903972" y="5132"/>
                  </a:cubicBezTo>
                  <a:cubicBezTo>
                    <a:pt x="2907258" y="8418"/>
                    <a:pt x="2909104" y="12875"/>
                    <a:pt x="2909104" y="17523"/>
                  </a:cubicBezTo>
                  <a:lnTo>
                    <a:pt x="2909104" y="937485"/>
                  </a:lnTo>
                  <a:cubicBezTo>
                    <a:pt x="2909104" y="947162"/>
                    <a:pt x="2901259" y="955007"/>
                    <a:pt x="2891581" y="955007"/>
                  </a:cubicBezTo>
                  <a:lnTo>
                    <a:pt x="17523" y="955007"/>
                  </a:lnTo>
                  <a:cubicBezTo>
                    <a:pt x="7845" y="955007"/>
                    <a:pt x="0" y="947162"/>
                    <a:pt x="0" y="937485"/>
                  </a:cubicBezTo>
                  <a:lnTo>
                    <a:pt x="0" y="17523"/>
                  </a:lnTo>
                  <a:cubicBezTo>
                    <a:pt x="0" y="7845"/>
                    <a:pt x="7845" y="0"/>
                    <a:pt x="17523" y="0"/>
                  </a:cubicBezTo>
                  <a:close/>
                </a:path>
              </a:pathLst>
            </a:custGeom>
            <a:solidFill>
              <a:srgbClr val="FFFFFF"/>
            </a:solidFill>
            <a:ln w="23831" cap="rnd">
              <a:solidFill>
                <a:srgbClr val="D5DBE8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909104" cy="9931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1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597391" y="1935470"/>
            <a:ext cx="3037399" cy="2676716"/>
            <a:chOff x="0" y="0"/>
            <a:chExt cx="4049865" cy="3568954"/>
          </a:xfrm>
        </p:grpSpPr>
        <p:sp>
          <p:nvSpPr>
            <p:cNvPr name="Freeform 17" id="17" descr="05_letters_above.png"/>
            <p:cNvSpPr/>
            <p:nvPr/>
          </p:nvSpPr>
          <p:spPr>
            <a:xfrm flipH="false" flipV="false" rot="0">
              <a:off x="0" y="0"/>
              <a:ext cx="4049903" cy="3568954"/>
            </a:xfrm>
            <a:custGeom>
              <a:avLst/>
              <a:gdLst/>
              <a:ahLst/>
              <a:cxnLst/>
              <a:rect r="r" b="b" t="t" l="l"/>
              <a:pathLst>
                <a:path h="3568954" w="4049903">
                  <a:moveTo>
                    <a:pt x="0" y="0"/>
                  </a:moveTo>
                  <a:lnTo>
                    <a:pt x="4049903" y="0"/>
                  </a:lnTo>
                  <a:lnTo>
                    <a:pt x="4049903" y="3568954"/>
                  </a:lnTo>
                  <a:lnTo>
                    <a:pt x="0" y="35689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6625400" y="4789122"/>
            <a:ext cx="11045495" cy="349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 b="true">
                <a:solidFill>
                  <a:srgbClr val="180E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Upright stamps  ·  letters above, digits below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625399" y="5582389"/>
            <a:ext cx="11045504" cy="3658399"/>
            <a:chOff x="0" y="0"/>
            <a:chExt cx="2909104" cy="96352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909104" cy="963529"/>
            </a:xfrm>
            <a:custGeom>
              <a:avLst/>
              <a:gdLst/>
              <a:ahLst/>
              <a:cxnLst/>
              <a:rect r="r" b="b" t="t" l="l"/>
              <a:pathLst>
                <a:path h="963529" w="2909104">
                  <a:moveTo>
                    <a:pt x="17523" y="0"/>
                  </a:moveTo>
                  <a:lnTo>
                    <a:pt x="2891581" y="0"/>
                  </a:lnTo>
                  <a:cubicBezTo>
                    <a:pt x="2896229" y="0"/>
                    <a:pt x="2900686" y="1846"/>
                    <a:pt x="2903972" y="5132"/>
                  </a:cubicBezTo>
                  <a:cubicBezTo>
                    <a:pt x="2907258" y="8418"/>
                    <a:pt x="2909104" y="12875"/>
                    <a:pt x="2909104" y="17523"/>
                  </a:cubicBezTo>
                  <a:lnTo>
                    <a:pt x="2909104" y="946006"/>
                  </a:lnTo>
                  <a:cubicBezTo>
                    <a:pt x="2909104" y="955684"/>
                    <a:pt x="2901259" y="963529"/>
                    <a:pt x="2891581" y="963529"/>
                  </a:cubicBezTo>
                  <a:lnTo>
                    <a:pt x="17523" y="963529"/>
                  </a:lnTo>
                  <a:cubicBezTo>
                    <a:pt x="12875" y="963529"/>
                    <a:pt x="8418" y="961683"/>
                    <a:pt x="5132" y="958397"/>
                  </a:cubicBezTo>
                  <a:cubicBezTo>
                    <a:pt x="1846" y="955110"/>
                    <a:pt x="0" y="950653"/>
                    <a:pt x="0" y="946006"/>
                  </a:cubicBezTo>
                  <a:lnTo>
                    <a:pt x="0" y="17523"/>
                  </a:lnTo>
                  <a:cubicBezTo>
                    <a:pt x="0" y="7845"/>
                    <a:pt x="7845" y="0"/>
                    <a:pt x="17523" y="0"/>
                  </a:cubicBezTo>
                  <a:close/>
                </a:path>
              </a:pathLst>
            </a:custGeom>
            <a:solidFill>
              <a:srgbClr val="FFFFFF"/>
            </a:solidFill>
            <a:ln w="23831" cap="rnd">
              <a:solidFill>
                <a:srgbClr val="D5DBE8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909104" cy="10016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1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330388" y="5761873"/>
            <a:ext cx="1635519" cy="2882608"/>
            <a:chOff x="0" y="0"/>
            <a:chExt cx="2180692" cy="3843477"/>
          </a:xfrm>
        </p:grpSpPr>
        <p:sp>
          <p:nvSpPr>
            <p:cNvPr name="Freeform 23" id="23" descr="rim_strip_compare.png"/>
            <p:cNvSpPr/>
            <p:nvPr/>
          </p:nvSpPr>
          <p:spPr>
            <a:xfrm flipH="false" flipV="false" rot="0">
              <a:off x="0" y="0"/>
              <a:ext cx="2180717" cy="3843528"/>
            </a:xfrm>
            <a:custGeom>
              <a:avLst/>
              <a:gdLst/>
              <a:ahLst/>
              <a:cxnLst/>
              <a:rect r="r" b="b" t="t" l="l"/>
              <a:pathLst>
                <a:path h="3843528" w="2180717">
                  <a:moveTo>
                    <a:pt x="0" y="0"/>
                  </a:moveTo>
                  <a:lnTo>
                    <a:pt x="2180717" y="0"/>
                  </a:lnTo>
                  <a:lnTo>
                    <a:pt x="2180717" y="3843528"/>
                  </a:lnTo>
                  <a:lnTo>
                    <a:pt x="0" y="3843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6625400" y="8768305"/>
            <a:ext cx="11045495" cy="349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 b="true">
                <a:solidFill>
                  <a:srgbClr val="180E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Rim ink stripped  ·  before / after, all 12 disks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54282" y="9854260"/>
            <a:ext cx="10908230" cy="266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46E7A"/>
                </a:solidFill>
                <a:latin typeface="Calibri (MS)"/>
                <a:ea typeface="Calibri (MS)"/>
                <a:cs typeface="Calibri (MS)"/>
                <a:sym typeface="Calibri (MS)"/>
              </a:rPr>
              <a:t>IIT Delhi  ·  ELD411  ·  Mid-Term Review 2026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344382"/>
            <a:ext cx="18288000" cy="942618"/>
            <a:chOff x="0" y="0"/>
            <a:chExt cx="4816593" cy="2482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48262"/>
            </a:xfrm>
            <a:custGeom>
              <a:avLst/>
              <a:gdLst/>
              <a:ahLst/>
              <a:cxnLst/>
              <a:rect r="r" b="b" t="t" l="l"/>
              <a:pathLst>
                <a:path h="24826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48262"/>
                  </a:lnTo>
                  <a:lnTo>
                    <a:pt x="0" y="248262"/>
                  </a:lnTo>
                  <a:close/>
                </a:path>
              </a:pathLst>
            </a:custGeom>
            <a:gradFill rotWithShape="true">
              <a:gsLst>
                <a:gs pos="0">
                  <a:srgbClr val="000E6B">
                    <a:alpha val="100000"/>
                  </a:srgbClr>
                </a:gs>
                <a:gs pos="100000">
                  <a:srgbClr val="0057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2958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615176" y="154983"/>
            <a:ext cx="15319547" cy="873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14"/>
              </a:lnSpc>
              <a:spcBef>
                <a:spcPct val="0"/>
              </a:spcBef>
            </a:pPr>
            <a:r>
              <a:rPr lang="en-US" b="true" sz="4795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Current Progress &amp; Roadmap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08865" y="1581754"/>
            <a:ext cx="8826210" cy="421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1"/>
              </a:lnSpc>
            </a:pPr>
            <a:r>
              <a:rPr lang="en-US" sz="2792" b="true">
                <a:solidFill>
                  <a:srgbClr val="19202A"/>
                </a:solidFill>
                <a:latin typeface="Aptos Bold"/>
                <a:ea typeface="Aptos Bold"/>
                <a:cs typeface="Aptos Bold"/>
                <a:sym typeface="Aptos Bold"/>
              </a:rPr>
              <a:t>MID-TERM STATUS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11523" y="2422722"/>
            <a:ext cx="8734389" cy="694468"/>
            <a:chOff x="0" y="0"/>
            <a:chExt cx="11058679" cy="8792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058622" cy="879221"/>
            </a:xfrm>
            <a:custGeom>
              <a:avLst/>
              <a:gdLst/>
              <a:ahLst/>
              <a:cxnLst/>
              <a:rect r="r" b="b" t="t" l="l"/>
              <a:pathLst>
                <a:path h="879221" w="11058622">
                  <a:moveTo>
                    <a:pt x="0" y="146558"/>
                  </a:moveTo>
                  <a:cubicBezTo>
                    <a:pt x="0" y="65659"/>
                    <a:pt x="74010" y="0"/>
                    <a:pt x="165199" y="0"/>
                  </a:cubicBezTo>
                  <a:lnTo>
                    <a:pt x="10893423" y="0"/>
                  </a:lnTo>
                  <a:cubicBezTo>
                    <a:pt x="10984612" y="0"/>
                    <a:pt x="11058622" y="65659"/>
                    <a:pt x="11058622" y="146558"/>
                  </a:cubicBezTo>
                  <a:lnTo>
                    <a:pt x="11058622" y="732663"/>
                  </a:lnTo>
                  <a:cubicBezTo>
                    <a:pt x="11058622" y="813562"/>
                    <a:pt x="10984612" y="879221"/>
                    <a:pt x="10893423" y="879221"/>
                  </a:cubicBezTo>
                  <a:lnTo>
                    <a:pt x="165199" y="879221"/>
                  </a:lnTo>
                  <a:cubicBezTo>
                    <a:pt x="74010" y="879221"/>
                    <a:pt x="0" y="813689"/>
                    <a:pt x="0" y="732663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1E4E9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7426989" y="2531134"/>
            <a:ext cx="2004874" cy="477634"/>
            <a:chOff x="0" y="0"/>
            <a:chExt cx="2538387" cy="60473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538400" cy="604774"/>
            </a:xfrm>
            <a:custGeom>
              <a:avLst/>
              <a:gdLst/>
              <a:ahLst/>
              <a:cxnLst/>
              <a:rect r="r" b="b" t="t" l="l"/>
              <a:pathLst>
                <a:path h="604774" w="2538400">
                  <a:moveTo>
                    <a:pt x="0" y="100838"/>
                  </a:moveTo>
                  <a:cubicBezTo>
                    <a:pt x="0" y="45085"/>
                    <a:pt x="50820" y="0"/>
                    <a:pt x="113664" y="0"/>
                  </a:cubicBezTo>
                  <a:lnTo>
                    <a:pt x="2424737" y="0"/>
                  </a:lnTo>
                  <a:cubicBezTo>
                    <a:pt x="2487438" y="0"/>
                    <a:pt x="2538400" y="45085"/>
                    <a:pt x="2538400" y="100838"/>
                  </a:cubicBezTo>
                  <a:lnTo>
                    <a:pt x="2538400" y="503936"/>
                  </a:lnTo>
                  <a:cubicBezTo>
                    <a:pt x="2538400" y="559562"/>
                    <a:pt x="2487581" y="604774"/>
                    <a:pt x="2424737" y="604774"/>
                  </a:cubicBezTo>
                  <a:lnTo>
                    <a:pt x="113664" y="604774"/>
                  </a:lnTo>
                  <a:cubicBezTo>
                    <a:pt x="50820" y="604774"/>
                    <a:pt x="0" y="559562"/>
                    <a:pt x="0" y="503936"/>
                  </a:cubicBezTo>
                  <a:close/>
                </a:path>
              </a:pathLst>
            </a:custGeom>
            <a:solidFill>
              <a:srgbClr val="357852"/>
            </a:solidFill>
            <a:ln w="14299" cap="sq">
              <a:solidFill>
                <a:srgbClr val="357852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254448" y="2586815"/>
            <a:ext cx="5893246" cy="310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7"/>
              </a:lnSpc>
            </a:pPr>
            <a:r>
              <a:rPr lang="en-US" sz="2081">
                <a:solidFill>
                  <a:srgbClr val="19202A"/>
                </a:solidFill>
                <a:latin typeface="Aptos"/>
                <a:ea typeface="Aptos"/>
                <a:cs typeface="Aptos"/>
                <a:sym typeface="Aptos"/>
              </a:rPr>
              <a:t>Problem &amp; system definition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609195" y="2625844"/>
            <a:ext cx="1640451" cy="230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1"/>
              </a:lnSpc>
            </a:pPr>
            <a:r>
              <a:rPr lang="en-US" sz="1559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COMPLETED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11523" y="3217778"/>
            <a:ext cx="8734389" cy="694468"/>
            <a:chOff x="0" y="0"/>
            <a:chExt cx="11058679" cy="8792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58622" cy="879221"/>
            </a:xfrm>
            <a:custGeom>
              <a:avLst/>
              <a:gdLst/>
              <a:ahLst/>
              <a:cxnLst/>
              <a:rect r="r" b="b" t="t" l="l"/>
              <a:pathLst>
                <a:path h="879221" w="11058622">
                  <a:moveTo>
                    <a:pt x="0" y="146558"/>
                  </a:moveTo>
                  <a:cubicBezTo>
                    <a:pt x="0" y="65659"/>
                    <a:pt x="74010" y="0"/>
                    <a:pt x="165199" y="0"/>
                  </a:cubicBezTo>
                  <a:lnTo>
                    <a:pt x="10893423" y="0"/>
                  </a:lnTo>
                  <a:cubicBezTo>
                    <a:pt x="10984612" y="0"/>
                    <a:pt x="11058622" y="65659"/>
                    <a:pt x="11058622" y="146558"/>
                  </a:cubicBezTo>
                  <a:lnTo>
                    <a:pt x="11058622" y="732663"/>
                  </a:lnTo>
                  <a:cubicBezTo>
                    <a:pt x="11058622" y="813562"/>
                    <a:pt x="10984612" y="879221"/>
                    <a:pt x="10893423" y="879221"/>
                  </a:cubicBezTo>
                  <a:lnTo>
                    <a:pt x="165199" y="879221"/>
                  </a:lnTo>
                  <a:cubicBezTo>
                    <a:pt x="74010" y="879221"/>
                    <a:pt x="0" y="813689"/>
                    <a:pt x="0" y="732663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1E4E9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7426989" y="3326191"/>
            <a:ext cx="2004874" cy="477634"/>
            <a:chOff x="0" y="0"/>
            <a:chExt cx="2538387" cy="6047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38400" cy="604774"/>
            </a:xfrm>
            <a:custGeom>
              <a:avLst/>
              <a:gdLst/>
              <a:ahLst/>
              <a:cxnLst/>
              <a:rect r="r" b="b" t="t" l="l"/>
              <a:pathLst>
                <a:path h="604774" w="2538400">
                  <a:moveTo>
                    <a:pt x="0" y="100838"/>
                  </a:moveTo>
                  <a:cubicBezTo>
                    <a:pt x="0" y="45085"/>
                    <a:pt x="50820" y="0"/>
                    <a:pt x="113664" y="0"/>
                  </a:cubicBezTo>
                  <a:lnTo>
                    <a:pt x="2424737" y="0"/>
                  </a:lnTo>
                  <a:cubicBezTo>
                    <a:pt x="2487438" y="0"/>
                    <a:pt x="2538400" y="45085"/>
                    <a:pt x="2538400" y="100838"/>
                  </a:cubicBezTo>
                  <a:lnTo>
                    <a:pt x="2538400" y="503936"/>
                  </a:lnTo>
                  <a:cubicBezTo>
                    <a:pt x="2538400" y="559562"/>
                    <a:pt x="2487581" y="604774"/>
                    <a:pt x="2424737" y="604774"/>
                  </a:cubicBezTo>
                  <a:lnTo>
                    <a:pt x="113664" y="604774"/>
                  </a:lnTo>
                  <a:cubicBezTo>
                    <a:pt x="50820" y="604774"/>
                    <a:pt x="0" y="559562"/>
                    <a:pt x="0" y="503936"/>
                  </a:cubicBezTo>
                  <a:close/>
                </a:path>
              </a:pathLst>
            </a:custGeom>
            <a:solidFill>
              <a:srgbClr val="357852"/>
            </a:solidFill>
            <a:ln w="14299" cap="sq">
              <a:solidFill>
                <a:srgbClr val="357852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254448" y="3381871"/>
            <a:ext cx="5893246" cy="310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7"/>
              </a:lnSpc>
            </a:pPr>
            <a:r>
              <a:rPr lang="en-US" sz="2081">
                <a:solidFill>
                  <a:srgbClr val="19202A"/>
                </a:solidFill>
                <a:latin typeface="Aptos"/>
                <a:ea typeface="Aptos"/>
                <a:cs typeface="Aptos"/>
                <a:sym typeface="Aptos"/>
              </a:rPr>
              <a:t>Hardware architecture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09195" y="3420901"/>
            <a:ext cx="1640451" cy="230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1"/>
              </a:lnSpc>
            </a:pPr>
            <a:r>
              <a:rPr lang="en-US" sz="1559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COMPLETED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11523" y="4012835"/>
            <a:ext cx="8734389" cy="694468"/>
            <a:chOff x="0" y="0"/>
            <a:chExt cx="11058679" cy="87927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058622" cy="879221"/>
            </a:xfrm>
            <a:custGeom>
              <a:avLst/>
              <a:gdLst/>
              <a:ahLst/>
              <a:cxnLst/>
              <a:rect r="r" b="b" t="t" l="l"/>
              <a:pathLst>
                <a:path h="879221" w="11058622">
                  <a:moveTo>
                    <a:pt x="0" y="146558"/>
                  </a:moveTo>
                  <a:cubicBezTo>
                    <a:pt x="0" y="65659"/>
                    <a:pt x="74010" y="0"/>
                    <a:pt x="165199" y="0"/>
                  </a:cubicBezTo>
                  <a:lnTo>
                    <a:pt x="10893423" y="0"/>
                  </a:lnTo>
                  <a:cubicBezTo>
                    <a:pt x="10984612" y="0"/>
                    <a:pt x="11058622" y="65659"/>
                    <a:pt x="11058622" y="146558"/>
                  </a:cubicBezTo>
                  <a:lnTo>
                    <a:pt x="11058622" y="732663"/>
                  </a:lnTo>
                  <a:cubicBezTo>
                    <a:pt x="11058622" y="813562"/>
                    <a:pt x="10984612" y="879221"/>
                    <a:pt x="10893423" y="879221"/>
                  </a:cubicBezTo>
                  <a:lnTo>
                    <a:pt x="165199" y="879221"/>
                  </a:lnTo>
                  <a:cubicBezTo>
                    <a:pt x="74010" y="879221"/>
                    <a:pt x="0" y="813689"/>
                    <a:pt x="0" y="732663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1E4E9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7426989" y="4121247"/>
            <a:ext cx="2004874" cy="477634"/>
            <a:chOff x="0" y="0"/>
            <a:chExt cx="2538387" cy="60473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538400" cy="604774"/>
            </a:xfrm>
            <a:custGeom>
              <a:avLst/>
              <a:gdLst/>
              <a:ahLst/>
              <a:cxnLst/>
              <a:rect r="r" b="b" t="t" l="l"/>
              <a:pathLst>
                <a:path h="604774" w="2538400">
                  <a:moveTo>
                    <a:pt x="0" y="100838"/>
                  </a:moveTo>
                  <a:cubicBezTo>
                    <a:pt x="0" y="45085"/>
                    <a:pt x="50820" y="0"/>
                    <a:pt x="113664" y="0"/>
                  </a:cubicBezTo>
                  <a:lnTo>
                    <a:pt x="2424737" y="0"/>
                  </a:lnTo>
                  <a:cubicBezTo>
                    <a:pt x="2487438" y="0"/>
                    <a:pt x="2538400" y="45085"/>
                    <a:pt x="2538400" y="100838"/>
                  </a:cubicBezTo>
                  <a:lnTo>
                    <a:pt x="2538400" y="503936"/>
                  </a:lnTo>
                  <a:cubicBezTo>
                    <a:pt x="2538400" y="559562"/>
                    <a:pt x="2487581" y="604774"/>
                    <a:pt x="2424737" y="604774"/>
                  </a:cubicBezTo>
                  <a:lnTo>
                    <a:pt x="113664" y="604774"/>
                  </a:lnTo>
                  <a:cubicBezTo>
                    <a:pt x="50820" y="604774"/>
                    <a:pt x="0" y="559562"/>
                    <a:pt x="0" y="503936"/>
                  </a:cubicBezTo>
                  <a:close/>
                </a:path>
              </a:pathLst>
            </a:custGeom>
            <a:solidFill>
              <a:srgbClr val="357852"/>
            </a:solidFill>
            <a:ln w="14299" cap="sq">
              <a:solidFill>
                <a:srgbClr val="357852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1254448" y="4176928"/>
            <a:ext cx="5893246" cy="310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7"/>
              </a:lnSpc>
            </a:pPr>
            <a:r>
              <a:rPr lang="en-US" sz="2081">
                <a:solidFill>
                  <a:srgbClr val="19202A"/>
                </a:solidFill>
                <a:latin typeface="Aptos"/>
                <a:ea typeface="Aptos"/>
                <a:cs typeface="Aptos"/>
                <a:sym typeface="Aptos"/>
              </a:rPr>
              <a:t>Raspberry Pi + camera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609195" y="4215957"/>
            <a:ext cx="1640451" cy="230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1"/>
              </a:lnSpc>
            </a:pPr>
            <a:r>
              <a:rPr lang="en-US" sz="1559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COMPLETED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811523" y="4807891"/>
            <a:ext cx="8734389" cy="694468"/>
            <a:chOff x="0" y="0"/>
            <a:chExt cx="11058679" cy="87927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058622" cy="879221"/>
            </a:xfrm>
            <a:custGeom>
              <a:avLst/>
              <a:gdLst/>
              <a:ahLst/>
              <a:cxnLst/>
              <a:rect r="r" b="b" t="t" l="l"/>
              <a:pathLst>
                <a:path h="879221" w="11058622">
                  <a:moveTo>
                    <a:pt x="0" y="146558"/>
                  </a:moveTo>
                  <a:cubicBezTo>
                    <a:pt x="0" y="65659"/>
                    <a:pt x="74010" y="0"/>
                    <a:pt x="165199" y="0"/>
                  </a:cubicBezTo>
                  <a:lnTo>
                    <a:pt x="10893423" y="0"/>
                  </a:lnTo>
                  <a:cubicBezTo>
                    <a:pt x="10984612" y="0"/>
                    <a:pt x="11058622" y="65659"/>
                    <a:pt x="11058622" y="146558"/>
                  </a:cubicBezTo>
                  <a:lnTo>
                    <a:pt x="11058622" y="732663"/>
                  </a:lnTo>
                  <a:cubicBezTo>
                    <a:pt x="11058622" y="813562"/>
                    <a:pt x="10984612" y="879221"/>
                    <a:pt x="10893423" y="879221"/>
                  </a:cubicBezTo>
                  <a:lnTo>
                    <a:pt x="165199" y="879221"/>
                  </a:lnTo>
                  <a:cubicBezTo>
                    <a:pt x="74010" y="879221"/>
                    <a:pt x="0" y="813689"/>
                    <a:pt x="0" y="732663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1E4E9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7426989" y="4916304"/>
            <a:ext cx="2004874" cy="477634"/>
            <a:chOff x="0" y="0"/>
            <a:chExt cx="2538387" cy="60473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538476" cy="604774"/>
            </a:xfrm>
            <a:custGeom>
              <a:avLst/>
              <a:gdLst/>
              <a:ahLst/>
              <a:cxnLst/>
              <a:rect r="r" b="b" t="t" l="l"/>
              <a:pathLst>
                <a:path h="604774" w="2538476">
                  <a:moveTo>
                    <a:pt x="0" y="100838"/>
                  </a:moveTo>
                  <a:cubicBezTo>
                    <a:pt x="0" y="45085"/>
                    <a:pt x="45963" y="0"/>
                    <a:pt x="102803" y="0"/>
                  </a:cubicBezTo>
                  <a:lnTo>
                    <a:pt x="2435675" y="0"/>
                  </a:lnTo>
                  <a:cubicBezTo>
                    <a:pt x="2492384" y="0"/>
                    <a:pt x="2538476" y="45085"/>
                    <a:pt x="2538476" y="100838"/>
                  </a:cubicBezTo>
                  <a:lnTo>
                    <a:pt x="2538476" y="503936"/>
                  </a:lnTo>
                  <a:cubicBezTo>
                    <a:pt x="2538476" y="559562"/>
                    <a:pt x="2492514" y="604774"/>
                    <a:pt x="2435675" y="604774"/>
                  </a:cubicBezTo>
                  <a:lnTo>
                    <a:pt x="102803" y="604774"/>
                  </a:lnTo>
                  <a:cubicBezTo>
                    <a:pt x="45963" y="604774"/>
                    <a:pt x="0" y="559562"/>
                    <a:pt x="0" y="503936"/>
                  </a:cubicBezTo>
                  <a:close/>
                </a:path>
              </a:pathLst>
            </a:custGeom>
            <a:solidFill>
              <a:srgbClr val="C48723"/>
            </a:solidFill>
            <a:ln w="14299" cap="sq">
              <a:solidFill>
                <a:srgbClr val="C48723"/>
              </a:solidFill>
              <a:prstDash val="solid"/>
              <a:miter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1254448" y="4971984"/>
            <a:ext cx="5893246" cy="310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7"/>
              </a:lnSpc>
            </a:pPr>
            <a:r>
              <a:rPr lang="en-US" sz="2081">
                <a:solidFill>
                  <a:srgbClr val="19202A"/>
                </a:solidFill>
                <a:latin typeface="Aptos"/>
                <a:ea typeface="Aptos"/>
                <a:cs typeface="Aptos"/>
                <a:sym typeface="Aptos"/>
              </a:rPr>
              <a:t>Computer vision pipeline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609195" y="5011014"/>
            <a:ext cx="1852280" cy="230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1"/>
              </a:lnSpc>
            </a:pPr>
            <a:r>
              <a:rPr lang="en-US" sz="1559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IN PROGRESS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811523" y="5602948"/>
            <a:ext cx="8734389" cy="694468"/>
            <a:chOff x="0" y="0"/>
            <a:chExt cx="11058679" cy="87927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058622" cy="879221"/>
            </a:xfrm>
            <a:custGeom>
              <a:avLst/>
              <a:gdLst/>
              <a:ahLst/>
              <a:cxnLst/>
              <a:rect r="r" b="b" t="t" l="l"/>
              <a:pathLst>
                <a:path h="879221" w="11058622">
                  <a:moveTo>
                    <a:pt x="0" y="146558"/>
                  </a:moveTo>
                  <a:cubicBezTo>
                    <a:pt x="0" y="65659"/>
                    <a:pt x="74010" y="0"/>
                    <a:pt x="165199" y="0"/>
                  </a:cubicBezTo>
                  <a:lnTo>
                    <a:pt x="10893423" y="0"/>
                  </a:lnTo>
                  <a:cubicBezTo>
                    <a:pt x="10984612" y="0"/>
                    <a:pt x="11058622" y="65659"/>
                    <a:pt x="11058622" y="146558"/>
                  </a:cubicBezTo>
                  <a:lnTo>
                    <a:pt x="11058622" y="732663"/>
                  </a:lnTo>
                  <a:cubicBezTo>
                    <a:pt x="11058622" y="813562"/>
                    <a:pt x="10984612" y="879221"/>
                    <a:pt x="10893423" y="879221"/>
                  </a:cubicBezTo>
                  <a:lnTo>
                    <a:pt x="165199" y="879221"/>
                  </a:lnTo>
                  <a:cubicBezTo>
                    <a:pt x="74010" y="879221"/>
                    <a:pt x="0" y="813689"/>
                    <a:pt x="0" y="732663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1E4E9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7426989" y="5711360"/>
            <a:ext cx="2034486" cy="438374"/>
            <a:chOff x="0" y="0"/>
            <a:chExt cx="2806571" cy="60473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806660" cy="604774"/>
            </a:xfrm>
            <a:custGeom>
              <a:avLst/>
              <a:gdLst/>
              <a:ahLst/>
              <a:cxnLst/>
              <a:rect r="r" b="b" t="t" l="l"/>
              <a:pathLst>
                <a:path h="604774" w="2806660">
                  <a:moveTo>
                    <a:pt x="0" y="100838"/>
                  </a:moveTo>
                  <a:cubicBezTo>
                    <a:pt x="0" y="45085"/>
                    <a:pt x="50820" y="0"/>
                    <a:pt x="113664" y="0"/>
                  </a:cubicBezTo>
                  <a:lnTo>
                    <a:pt x="2693007" y="0"/>
                  </a:lnTo>
                  <a:cubicBezTo>
                    <a:pt x="2755708" y="0"/>
                    <a:pt x="2806660" y="45085"/>
                    <a:pt x="2806660" y="100838"/>
                  </a:cubicBezTo>
                  <a:lnTo>
                    <a:pt x="2806660" y="503936"/>
                  </a:lnTo>
                  <a:cubicBezTo>
                    <a:pt x="2806660" y="559562"/>
                    <a:pt x="2755851" y="604774"/>
                    <a:pt x="2693007" y="604774"/>
                  </a:cubicBezTo>
                  <a:lnTo>
                    <a:pt x="113664" y="604774"/>
                  </a:lnTo>
                  <a:cubicBezTo>
                    <a:pt x="50820" y="604774"/>
                    <a:pt x="0" y="559562"/>
                    <a:pt x="0" y="503936"/>
                  </a:cubicBezTo>
                  <a:close/>
                </a:path>
              </a:pathLst>
            </a:custGeom>
            <a:solidFill>
              <a:srgbClr val="C48723"/>
            </a:solidFill>
            <a:ln w="14299" cap="sq">
              <a:solidFill>
                <a:srgbClr val="C48723"/>
              </a:solidFill>
              <a:prstDash val="solid"/>
              <a:miter/>
            </a:ln>
          </p:spPr>
        </p:sp>
      </p:grpSp>
      <p:sp>
        <p:nvSpPr>
          <p:cNvPr name="TextBox 35" id="35"/>
          <p:cNvSpPr txBox="true"/>
          <p:nvPr/>
        </p:nvSpPr>
        <p:spPr>
          <a:xfrm rot="0">
            <a:off x="1254448" y="5767041"/>
            <a:ext cx="5893246" cy="310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7"/>
              </a:lnSpc>
            </a:pPr>
            <a:r>
              <a:rPr lang="en-US" sz="2081">
                <a:solidFill>
                  <a:srgbClr val="19202A"/>
                </a:solidFill>
                <a:latin typeface="Aptos"/>
                <a:ea typeface="Aptos"/>
                <a:cs typeface="Aptos"/>
                <a:sym typeface="Aptos"/>
              </a:rPr>
              <a:t>ESP32 + Zephyr RTOS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609195" y="5806071"/>
            <a:ext cx="1852280" cy="230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1"/>
              </a:lnSpc>
            </a:pPr>
            <a:r>
              <a:rPr lang="en-US" sz="1559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IN PROGRESS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811523" y="6398005"/>
            <a:ext cx="8734389" cy="694468"/>
            <a:chOff x="0" y="0"/>
            <a:chExt cx="11058679" cy="87927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1058622" cy="879221"/>
            </a:xfrm>
            <a:custGeom>
              <a:avLst/>
              <a:gdLst/>
              <a:ahLst/>
              <a:cxnLst/>
              <a:rect r="r" b="b" t="t" l="l"/>
              <a:pathLst>
                <a:path h="879221" w="11058622">
                  <a:moveTo>
                    <a:pt x="0" y="146558"/>
                  </a:moveTo>
                  <a:cubicBezTo>
                    <a:pt x="0" y="65659"/>
                    <a:pt x="74010" y="0"/>
                    <a:pt x="165199" y="0"/>
                  </a:cubicBezTo>
                  <a:lnTo>
                    <a:pt x="10893423" y="0"/>
                  </a:lnTo>
                  <a:cubicBezTo>
                    <a:pt x="10984612" y="0"/>
                    <a:pt x="11058622" y="65659"/>
                    <a:pt x="11058622" y="146558"/>
                  </a:cubicBezTo>
                  <a:lnTo>
                    <a:pt x="11058622" y="732663"/>
                  </a:lnTo>
                  <a:cubicBezTo>
                    <a:pt x="11058622" y="813562"/>
                    <a:pt x="10984612" y="879221"/>
                    <a:pt x="10893423" y="879221"/>
                  </a:cubicBezTo>
                  <a:lnTo>
                    <a:pt x="165199" y="879221"/>
                  </a:lnTo>
                  <a:cubicBezTo>
                    <a:pt x="74010" y="879221"/>
                    <a:pt x="0" y="813689"/>
                    <a:pt x="0" y="732663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1E4E9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7426989" y="6506417"/>
            <a:ext cx="1994795" cy="429821"/>
            <a:chOff x="0" y="0"/>
            <a:chExt cx="2806571" cy="60473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806660" cy="604774"/>
            </a:xfrm>
            <a:custGeom>
              <a:avLst/>
              <a:gdLst/>
              <a:ahLst/>
              <a:cxnLst/>
              <a:rect r="r" b="b" t="t" l="l"/>
              <a:pathLst>
                <a:path h="604774" w="2806660">
                  <a:moveTo>
                    <a:pt x="0" y="100838"/>
                  </a:moveTo>
                  <a:cubicBezTo>
                    <a:pt x="0" y="45085"/>
                    <a:pt x="50820" y="0"/>
                    <a:pt x="113664" y="0"/>
                  </a:cubicBezTo>
                  <a:lnTo>
                    <a:pt x="2693007" y="0"/>
                  </a:lnTo>
                  <a:cubicBezTo>
                    <a:pt x="2755708" y="0"/>
                    <a:pt x="2806660" y="45085"/>
                    <a:pt x="2806660" y="100838"/>
                  </a:cubicBezTo>
                  <a:lnTo>
                    <a:pt x="2806660" y="503936"/>
                  </a:lnTo>
                  <a:cubicBezTo>
                    <a:pt x="2806660" y="559562"/>
                    <a:pt x="2755851" y="604774"/>
                    <a:pt x="2693007" y="604774"/>
                  </a:cubicBezTo>
                  <a:lnTo>
                    <a:pt x="113664" y="604774"/>
                  </a:lnTo>
                  <a:cubicBezTo>
                    <a:pt x="50820" y="604774"/>
                    <a:pt x="0" y="559562"/>
                    <a:pt x="0" y="503936"/>
                  </a:cubicBezTo>
                  <a:close/>
                </a:path>
              </a:pathLst>
            </a:custGeom>
            <a:solidFill>
              <a:srgbClr val="C48723"/>
            </a:solidFill>
            <a:ln w="14299" cap="sq">
              <a:solidFill>
                <a:srgbClr val="C48723"/>
              </a:solidFill>
              <a:prstDash val="solid"/>
              <a:miter/>
            </a:ln>
          </p:spPr>
        </p:sp>
      </p:grpSp>
      <p:sp>
        <p:nvSpPr>
          <p:cNvPr name="TextBox 41" id="41"/>
          <p:cNvSpPr txBox="true"/>
          <p:nvPr/>
        </p:nvSpPr>
        <p:spPr>
          <a:xfrm rot="0">
            <a:off x="1254448" y="6562098"/>
            <a:ext cx="5893246" cy="310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7"/>
              </a:lnSpc>
            </a:pPr>
            <a:r>
              <a:rPr lang="en-US" sz="2081">
                <a:solidFill>
                  <a:srgbClr val="19202A"/>
                </a:solidFill>
                <a:latin typeface="Aptos"/>
                <a:ea typeface="Aptos"/>
                <a:cs typeface="Aptos"/>
                <a:sym typeface="Aptos"/>
              </a:rPr>
              <a:t>Manipulator procurement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609195" y="6601127"/>
            <a:ext cx="1852280" cy="230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1"/>
              </a:lnSpc>
            </a:pPr>
            <a:r>
              <a:rPr lang="en-US" sz="1559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IN PROGRESS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811523" y="7193051"/>
            <a:ext cx="8734389" cy="694468"/>
            <a:chOff x="0" y="0"/>
            <a:chExt cx="11058679" cy="87927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1058622" cy="879221"/>
            </a:xfrm>
            <a:custGeom>
              <a:avLst/>
              <a:gdLst/>
              <a:ahLst/>
              <a:cxnLst/>
              <a:rect r="r" b="b" t="t" l="l"/>
              <a:pathLst>
                <a:path h="879221" w="11058622">
                  <a:moveTo>
                    <a:pt x="0" y="146558"/>
                  </a:moveTo>
                  <a:cubicBezTo>
                    <a:pt x="0" y="65659"/>
                    <a:pt x="74010" y="0"/>
                    <a:pt x="165199" y="0"/>
                  </a:cubicBezTo>
                  <a:lnTo>
                    <a:pt x="10893423" y="0"/>
                  </a:lnTo>
                  <a:cubicBezTo>
                    <a:pt x="10984612" y="0"/>
                    <a:pt x="11058622" y="65659"/>
                    <a:pt x="11058622" y="146558"/>
                  </a:cubicBezTo>
                  <a:lnTo>
                    <a:pt x="11058622" y="732663"/>
                  </a:lnTo>
                  <a:cubicBezTo>
                    <a:pt x="11058622" y="813562"/>
                    <a:pt x="10984612" y="879221"/>
                    <a:pt x="10893423" y="879221"/>
                  </a:cubicBezTo>
                  <a:lnTo>
                    <a:pt x="165199" y="879221"/>
                  </a:lnTo>
                  <a:cubicBezTo>
                    <a:pt x="74010" y="879221"/>
                    <a:pt x="0" y="813689"/>
                    <a:pt x="0" y="732663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1E4E9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7426989" y="7301473"/>
            <a:ext cx="2034486" cy="438374"/>
            <a:chOff x="0" y="0"/>
            <a:chExt cx="2806571" cy="60473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806660" cy="604774"/>
            </a:xfrm>
            <a:custGeom>
              <a:avLst/>
              <a:gdLst/>
              <a:ahLst/>
              <a:cxnLst/>
              <a:rect r="r" b="b" t="t" l="l"/>
              <a:pathLst>
                <a:path h="604774" w="2806660">
                  <a:moveTo>
                    <a:pt x="0" y="100838"/>
                  </a:moveTo>
                  <a:cubicBezTo>
                    <a:pt x="0" y="45085"/>
                    <a:pt x="50820" y="0"/>
                    <a:pt x="113664" y="0"/>
                  </a:cubicBezTo>
                  <a:lnTo>
                    <a:pt x="2693007" y="0"/>
                  </a:lnTo>
                  <a:cubicBezTo>
                    <a:pt x="2755708" y="0"/>
                    <a:pt x="2806660" y="45085"/>
                    <a:pt x="2806660" y="100838"/>
                  </a:cubicBezTo>
                  <a:lnTo>
                    <a:pt x="2806660" y="503936"/>
                  </a:lnTo>
                  <a:cubicBezTo>
                    <a:pt x="2806660" y="559562"/>
                    <a:pt x="2755851" y="604774"/>
                    <a:pt x="2693007" y="604774"/>
                  </a:cubicBezTo>
                  <a:lnTo>
                    <a:pt x="113664" y="604774"/>
                  </a:lnTo>
                  <a:cubicBezTo>
                    <a:pt x="50820" y="604774"/>
                    <a:pt x="0" y="559562"/>
                    <a:pt x="0" y="503936"/>
                  </a:cubicBezTo>
                  <a:close/>
                </a:path>
              </a:pathLst>
            </a:custGeom>
            <a:solidFill>
              <a:srgbClr val="C48723"/>
            </a:solidFill>
            <a:ln w="14299" cap="sq">
              <a:solidFill>
                <a:srgbClr val="C48723"/>
              </a:solidFill>
              <a:prstDash val="solid"/>
              <a:miter/>
            </a:ln>
          </p:spPr>
        </p:sp>
      </p:grpSp>
      <p:sp>
        <p:nvSpPr>
          <p:cNvPr name="TextBox 47" id="47"/>
          <p:cNvSpPr txBox="true"/>
          <p:nvPr/>
        </p:nvSpPr>
        <p:spPr>
          <a:xfrm rot="0">
            <a:off x="1254448" y="7357144"/>
            <a:ext cx="5893246" cy="310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7"/>
              </a:lnSpc>
            </a:pPr>
            <a:r>
              <a:rPr lang="en-US" sz="2081">
                <a:solidFill>
                  <a:srgbClr val="19202A"/>
                </a:solidFill>
                <a:latin typeface="Aptos"/>
                <a:ea typeface="Aptos"/>
                <a:cs typeface="Aptos"/>
                <a:sym typeface="Aptos"/>
              </a:rPr>
              <a:t>Gazebo simulation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7609195" y="7396184"/>
            <a:ext cx="1852280" cy="230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1"/>
              </a:lnSpc>
            </a:pPr>
            <a:r>
              <a:rPr lang="en-US" sz="1559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IN PROGRESS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811523" y="7988108"/>
            <a:ext cx="8734389" cy="694468"/>
            <a:chOff x="0" y="0"/>
            <a:chExt cx="11058679" cy="87927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1058622" cy="879221"/>
            </a:xfrm>
            <a:custGeom>
              <a:avLst/>
              <a:gdLst/>
              <a:ahLst/>
              <a:cxnLst/>
              <a:rect r="r" b="b" t="t" l="l"/>
              <a:pathLst>
                <a:path h="879221" w="11058622">
                  <a:moveTo>
                    <a:pt x="0" y="146558"/>
                  </a:moveTo>
                  <a:cubicBezTo>
                    <a:pt x="0" y="65659"/>
                    <a:pt x="74010" y="0"/>
                    <a:pt x="165199" y="0"/>
                  </a:cubicBezTo>
                  <a:lnTo>
                    <a:pt x="10893423" y="0"/>
                  </a:lnTo>
                  <a:cubicBezTo>
                    <a:pt x="10984612" y="0"/>
                    <a:pt x="11058622" y="65659"/>
                    <a:pt x="11058622" y="146558"/>
                  </a:cubicBezTo>
                  <a:lnTo>
                    <a:pt x="11058622" y="732663"/>
                  </a:lnTo>
                  <a:cubicBezTo>
                    <a:pt x="11058622" y="813562"/>
                    <a:pt x="10984612" y="879221"/>
                    <a:pt x="10893423" y="879221"/>
                  </a:cubicBezTo>
                  <a:lnTo>
                    <a:pt x="165199" y="879221"/>
                  </a:lnTo>
                  <a:cubicBezTo>
                    <a:pt x="74010" y="879221"/>
                    <a:pt x="0" y="813689"/>
                    <a:pt x="0" y="732663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1E4E9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7426989" y="8096530"/>
            <a:ext cx="1994795" cy="477634"/>
            <a:chOff x="0" y="0"/>
            <a:chExt cx="2525626" cy="60473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525639" cy="604774"/>
            </a:xfrm>
            <a:custGeom>
              <a:avLst/>
              <a:gdLst/>
              <a:ahLst/>
              <a:cxnLst/>
              <a:rect r="r" b="b" t="t" l="l"/>
              <a:pathLst>
                <a:path h="604774" w="2525639">
                  <a:moveTo>
                    <a:pt x="0" y="100838"/>
                  </a:moveTo>
                  <a:cubicBezTo>
                    <a:pt x="0" y="45085"/>
                    <a:pt x="58671" y="0"/>
                    <a:pt x="131224" y="0"/>
                  </a:cubicBezTo>
                  <a:lnTo>
                    <a:pt x="2394419" y="0"/>
                  </a:lnTo>
                  <a:cubicBezTo>
                    <a:pt x="2466807" y="0"/>
                    <a:pt x="2525639" y="45085"/>
                    <a:pt x="2525639" y="100838"/>
                  </a:cubicBezTo>
                  <a:lnTo>
                    <a:pt x="2525639" y="503936"/>
                  </a:lnTo>
                  <a:cubicBezTo>
                    <a:pt x="2525639" y="559562"/>
                    <a:pt x="2466972" y="604774"/>
                    <a:pt x="2394419" y="604774"/>
                  </a:cubicBezTo>
                  <a:lnTo>
                    <a:pt x="131224" y="604774"/>
                  </a:lnTo>
                  <a:cubicBezTo>
                    <a:pt x="58671" y="604774"/>
                    <a:pt x="0" y="559562"/>
                    <a:pt x="0" y="503936"/>
                  </a:cubicBezTo>
                  <a:close/>
                </a:path>
              </a:pathLst>
            </a:custGeom>
            <a:solidFill>
              <a:srgbClr val="828A92"/>
            </a:solidFill>
            <a:ln w="14299" cap="sq">
              <a:solidFill>
                <a:srgbClr val="828A92"/>
              </a:solidFill>
              <a:prstDash val="solid"/>
              <a:miter/>
            </a:ln>
          </p:spPr>
        </p:sp>
      </p:grpSp>
      <p:sp>
        <p:nvSpPr>
          <p:cNvPr name="TextBox 53" id="53"/>
          <p:cNvSpPr txBox="true"/>
          <p:nvPr/>
        </p:nvSpPr>
        <p:spPr>
          <a:xfrm rot="0">
            <a:off x="1254448" y="8152201"/>
            <a:ext cx="5893246" cy="310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7"/>
              </a:lnSpc>
            </a:pPr>
            <a:r>
              <a:rPr lang="en-US" sz="2081">
                <a:solidFill>
                  <a:srgbClr val="19202A"/>
                </a:solidFill>
                <a:latin typeface="Aptos"/>
                <a:ea typeface="Aptos"/>
                <a:cs typeface="Aptos"/>
                <a:sym typeface="Aptos"/>
              </a:rPr>
              <a:t>Autonomous pick &amp; place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7609195" y="8191230"/>
            <a:ext cx="1363451" cy="230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1"/>
              </a:lnSpc>
            </a:pPr>
            <a:r>
              <a:rPr lang="en-US" sz="1559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UPCOMING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1259064" y="1912258"/>
            <a:ext cx="7773919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19202A"/>
                </a:solidFill>
                <a:latin typeface="Aptos Bold"/>
                <a:ea typeface="Aptos Bold"/>
                <a:cs typeface="Aptos Bold"/>
                <a:sym typeface="Aptos Bold"/>
              </a:rPr>
              <a:t>NEXT PHASE ROADMAP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11694521" y="2648960"/>
            <a:ext cx="51061" cy="5422059"/>
            <a:chOff x="0" y="0"/>
            <a:chExt cx="68081" cy="722941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8027" cy="7229348"/>
            </a:xfrm>
            <a:custGeom>
              <a:avLst/>
              <a:gdLst/>
              <a:ahLst/>
              <a:cxnLst/>
              <a:rect r="r" b="b" t="t" l="l"/>
              <a:pathLst>
                <a:path h="7229348" w="68027">
                  <a:moveTo>
                    <a:pt x="0" y="0"/>
                  </a:moveTo>
                  <a:lnTo>
                    <a:pt x="68027" y="0"/>
                  </a:lnTo>
                  <a:lnTo>
                    <a:pt x="68027" y="7229348"/>
                  </a:lnTo>
                  <a:lnTo>
                    <a:pt x="0" y="7229348"/>
                  </a:lnTo>
                  <a:close/>
                </a:path>
              </a:pathLst>
            </a:custGeom>
            <a:solidFill>
              <a:srgbClr val="B4B9C1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1382198" y="2504551"/>
            <a:ext cx="656931" cy="645728"/>
            <a:chOff x="0" y="0"/>
            <a:chExt cx="875907" cy="860971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75996" cy="861060"/>
            </a:xfrm>
            <a:custGeom>
              <a:avLst/>
              <a:gdLst/>
              <a:ahLst/>
              <a:cxnLst/>
              <a:rect r="r" b="b" t="t" l="l"/>
              <a:pathLst>
                <a:path h="861060" w="875996">
                  <a:moveTo>
                    <a:pt x="0" y="430530"/>
                  </a:moveTo>
                  <a:cubicBezTo>
                    <a:pt x="0" y="192786"/>
                    <a:pt x="196131" y="0"/>
                    <a:pt x="437999" y="0"/>
                  </a:cubicBezTo>
                  <a:cubicBezTo>
                    <a:pt x="679867" y="0"/>
                    <a:pt x="875996" y="192786"/>
                    <a:pt x="875996" y="430530"/>
                  </a:cubicBezTo>
                  <a:cubicBezTo>
                    <a:pt x="875996" y="668274"/>
                    <a:pt x="679867" y="861060"/>
                    <a:pt x="437999" y="861060"/>
                  </a:cubicBezTo>
                  <a:cubicBezTo>
                    <a:pt x="196131" y="861060"/>
                    <a:pt x="0" y="668274"/>
                    <a:pt x="0" y="430530"/>
                  </a:cubicBezTo>
                  <a:close/>
                </a:path>
              </a:pathLst>
            </a:custGeom>
            <a:solidFill>
              <a:srgbClr val="222A35"/>
            </a:solidFill>
            <a:ln w="14299" cap="sq">
              <a:solidFill>
                <a:srgbClr val="222A35"/>
              </a:solidFill>
              <a:prstDash val="solid"/>
              <a:miter/>
            </a:ln>
          </p:spPr>
        </p:sp>
      </p:grpSp>
      <p:sp>
        <p:nvSpPr>
          <p:cNvPr name="TextBox 60" id="60"/>
          <p:cNvSpPr txBox="true"/>
          <p:nvPr/>
        </p:nvSpPr>
        <p:spPr>
          <a:xfrm rot="0">
            <a:off x="11559306" y="2694680"/>
            <a:ext cx="302713" cy="17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1"/>
              </a:lnSpc>
            </a:pPr>
            <a:r>
              <a:rPr lang="en-US" sz="1125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01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2418143" y="2550557"/>
            <a:ext cx="6167956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 b="true">
                <a:solidFill>
                  <a:srgbClr val="19202A"/>
                </a:solidFill>
                <a:latin typeface="Aptos Bold"/>
                <a:ea typeface="Aptos Bold"/>
                <a:cs typeface="Aptos Bold"/>
                <a:sym typeface="Aptos Bold"/>
              </a:rPr>
              <a:t>Finalize manipulator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2418143" y="2918517"/>
            <a:ext cx="6377430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5B6573"/>
                </a:solidFill>
                <a:latin typeface="Aptos"/>
                <a:ea typeface="Aptos"/>
                <a:cs typeface="Aptos"/>
                <a:sym typeface="Aptos"/>
              </a:rPr>
              <a:t>Procurement + end-effector integration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11382198" y="3506600"/>
            <a:ext cx="656931" cy="645728"/>
            <a:chOff x="0" y="0"/>
            <a:chExt cx="875907" cy="860971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875996" cy="861060"/>
            </a:xfrm>
            <a:custGeom>
              <a:avLst/>
              <a:gdLst/>
              <a:ahLst/>
              <a:cxnLst/>
              <a:rect r="r" b="b" t="t" l="l"/>
              <a:pathLst>
                <a:path h="861060" w="875996">
                  <a:moveTo>
                    <a:pt x="0" y="430530"/>
                  </a:moveTo>
                  <a:cubicBezTo>
                    <a:pt x="0" y="192786"/>
                    <a:pt x="196131" y="0"/>
                    <a:pt x="437999" y="0"/>
                  </a:cubicBezTo>
                  <a:cubicBezTo>
                    <a:pt x="679867" y="0"/>
                    <a:pt x="875996" y="192786"/>
                    <a:pt x="875996" y="430530"/>
                  </a:cubicBezTo>
                  <a:cubicBezTo>
                    <a:pt x="875996" y="668274"/>
                    <a:pt x="679867" y="861060"/>
                    <a:pt x="437999" y="861060"/>
                  </a:cubicBezTo>
                  <a:cubicBezTo>
                    <a:pt x="196131" y="861060"/>
                    <a:pt x="0" y="668274"/>
                    <a:pt x="0" y="430530"/>
                  </a:cubicBezTo>
                  <a:close/>
                </a:path>
              </a:pathLst>
            </a:custGeom>
            <a:solidFill>
              <a:srgbClr val="222A35"/>
            </a:solidFill>
            <a:ln w="14299" cap="sq">
              <a:solidFill>
                <a:srgbClr val="222A35"/>
              </a:solidFill>
              <a:prstDash val="solid"/>
              <a:miter/>
            </a:ln>
          </p:spPr>
        </p:sp>
      </p:grpSp>
      <p:sp>
        <p:nvSpPr>
          <p:cNvPr name="TextBox 65" id="65"/>
          <p:cNvSpPr txBox="true"/>
          <p:nvPr/>
        </p:nvSpPr>
        <p:spPr>
          <a:xfrm rot="0">
            <a:off x="11559306" y="3696738"/>
            <a:ext cx="302713" cy="17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1"/>
              </a:lnSpc>
            </a:pPr>
            <a:r>
              <a:rPr lang="en-US" sz="1125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02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2418143" y="3552606"/>
            <a:ext cx="6167956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 b="true">
                <a:solidFill>
                  <a:srgbClr val="19202A"/>
                </a:solidFill>
                <a:latin typeface="Aptos Bold"/>
                <a:ea typeface="Aptos Bold"/>
                <a:cs typeface="Aptos Bold"/>
                <a:sym typeface="Aptos Bold"/>
              </a:rPr>
              <a:t>Complete perception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2418143" y="3920566"/>
            <a:ext cx="6377430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5B6573"/>
                </a:solidFill>
                <a:latin typeface="Aptos"/>
                <a:ea typeface="Aptos"/>
                <a:cs typeface="Aptos"/>
                <a:sym typeface="Aptos"/>
              </a:rPr>
              <a:t>Dish localization + feature detection</a:t>
            </a:r>
          </a:p>
        </p:txBody>
      </p:sp>
      <p:grpSp>
        <p:nvGrpSpPr>
          <p:cNvPr name="Group 68" id="68"/>
          <p:cNvGrpSpPr/>
          <p:nvPr/>
        </p:nvGrpSpPr>
        <p:grpSpPr>
          <a:xfrm rot="0">
            <a:off x="11382198" y="4508649"/>
            <a:ext cx="656931" cy="645728"/>
            <a:chOff x="0" y="0"/>
            <a:chExt cx="875907" cy="860971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875996" cy="861060"/>
            </a:xfrm>
            <a:custGeom>
              <a:avLst/>
              <a:gdLst/>
              <a:ahLst/>
              <a:cxnLst/>
              <a:rect r="r" b="b" t="t" l="l"/>
              <a:pathLst>
                <a:path h="861060" w="875996">
                  <a:moveTo>
                    <a:pt x="0" y="430530"/>
                  </a:moveTo>
                  <a:cubicBezTo>
                    <a:pt x="0" y="192786"/>
                    <a:pt x="196131" y="0"/>
                    <a:pt x="437999" y="0"/>
                  </a:cubicBezTo>
                  <a:cubicBezTo>
                    <a:pt x="679867" y="0"/>
                    <a:pt x="875996" y="192786"/>
                    <a:pt x="875996" y="430530"/>
                  </a:cubicBezTo>
                  <a:cubicBezTo>
                    <a:pt x="875996" y="668274"/>
                    <a:pt x="679867" y="861060"/>
                    <a:pt x="437999" y="861060"/>
                  </a:cubicBezTo>
                  <a:cubicBezTo>
                    <a:pt x="196131" y="861060"/>
                    <a:pt x="0" y="668274"/>
                    <a:pt x="0" y="430530"/>
                  </a:cubicBezTo>
                  <a:close/>
                </a:path>
              </a:pathLst>
            </a:custGeom>
            <a:solidFill>
              <a:srgbClr val="222A35"/>
            </a:solidFill>
            <a:ln w="14299" cap="sq">
              <a:solidFill>
                <a:srgbClr val="222A35"/>
              </a:solidFill>
              <a:prstDash val="solid"/>
              <a:miter/>
            </a:ln>
          </p:spPr>
        </p:sp>
      </p:grpSp>
      <p:sp>
        <p:nvSpPr>
          <p:cNvPr name="TextBox 70" id="70"/>
          <p:cNvSpPr txBox="true"/>
          <p:nvPr/>
        </p:nvSpPr>
        <p:spPr>
          <a:xfrm rot="0">
            <a:off x="11559306" y="4698787"/>
            <a:ext cx="302713" cy="17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1"/>
              </a:lnSpc>
            </a:pPr>
            <a:r>
              <a:rPr lang="en-US" sz="1125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03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2418143" y="4554655"/>
            <a:ext cx="6167956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 b="true">
                <a:solidFill>
                  <a:srgbClr val="19202A"/>
                </a:solidFill>
                <a:latin typeface="Aptos Bold"/>
                <a:ea typeface="Aptos Bold"/>
                <a:cs typeface="Aptos Bold"/>
                <a:sym typeface="Aptos Bold"/>
              </a:rPr>
              <a:t>Implement robot control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2418143" y="4922615"/>
            <a:ext cx="6377430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5B6573"/>
                </a:solidFill>
                <a:latin typeface="Aptos"/>
                <a:ea typeface="Aptos"/>
                <a:cs typeface="Aptos"/>
                <a:sym typeface="Aptos"/>
              </a:rPr>
              <a:t>ESP32 / Zephyr + motor interface</a:t>
            </a:r>
          </a:p>
        </p:txBody>
      </p:sp>
      <p:grpSp>
        <p:nvGrpSpPr>
          <p:cNvPr name="Group 73" id="73"/>
          <p:cNvGrpSpPr/>
          <p:nvPr/>
        </p:nvGrpSpPr>
        <p:grpSpPr>
          <a:xfrm rot="0">
            <a:off x="11382198" y="5510698"/>
            <a:ext cx="656931" cy="645728"/>
            <a:chOff x="0" y="0"/>
            <a:chExt cx="875907" cy="860971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875996" cy="861060"/>
            </a:xfrm>
            <a:custGeom>
              <a:avLst/>
              <a:gdLst/>
              <a:ahLst/>
              <a:cxnLst/>
              <a:rect r="r" b="b" t="t" l="l"/>
              <a:pathLst>
                <a:path h="861060" w="875996">
                  <a:moveTo>
                    <a:pt x="0" y="430530"/>
                  </a:moveTo>
                  <a:cubicBezTo>
                    <a:pt x="0" y="192786"/>
                    <a:pt x="196131" y="0"/>
                    <a:pt x="437999" y="0"/>
                  </a:cubicBezTo>
                  <a:cubicBezTo>
                    <a:pt x="679867" y="0"/>
                    <a:pt x="875996" y="192786"/>
                    <a:pt x="875996" y="430530"/>
                  </a:cubicBezTo>
                  <a:cubicBezTo>
                    <a:pt x="875996" y="668274"/>
                    <a:pt x="679867" y="861060"/>
                    <a:pt x="437999" y="861060"/>
                  </a:cubicBezTo>
                  <a:cubicBezTo>
                    <a:pt x="196131" y="861060"/>
                    <a:pt x="0" y="668274"/>
                    <a:pt x="0" y="430530"/>
                  </a:cubicBezTo>
                  <a:close/>
                </a:path>
              </a:pathLst>
            </a:custGeom>
            <a:solidFill>
              <a:srgbClr val="222A35"/>
            </a:solidFill>
            <a:ln w="14299" cap="sq">
              <a:solidFill>
                <a:srgbClr val="222A35"/>
              </a:solidFill>
              <a:prstDash val="solid"/>
              <a:miter/>
            </a:ln>
          </p:spPr>
        </p:sp>
      </p:grpSp>
      <p:sp>
        <p:nvSpPr>
          <p:cNvPr name="TextBox 75" id="75"/>
          <p:cNvSpPr txBox="true"/>
          <p:nvPr/>
        </p:nvSpPr>
        <p:spPr>
          <a:xfrm rot="0">
            <a:off x="11559306" y="5700836"/>
            <a:ext cx="302713" cy="17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1"/>
              </a:lnSpc>
            </a:pPr>
            <a:r>
              <a:rPr lang="en-US" sz="1125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04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2418143" y="5556704"/>
            <a:ext cx="6167956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 b="true">
                <a:solidFill>
                  <a:srgbClr val="19202A"/>
                </a:solidFill>
                <a:latin typeface="Aptos Bold"/>
                <a:ea typeface="Aptos Bold"/>
                <a:cs typeface="Aptos Bold"/>
                <a:sym typeface="Aptos Bold"/>
              </a:rPr>
              <a:t>Validate in Gazebo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2418143" y="5924664"/>
            <a:ext cx="6377430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5B6573"/>
                </a:solidFill>
                <a:latin typeface="Aptos"/>
                <a:ea typeface="Aptos"/>
                <a:cs typeface="Aptos"/>
                <a:sym typeface="Aptos"/>
              </a:rPr>
              <a:t>ROS 2 + trajectories + pick/place</a:t>
            </a:r>
          </a:p>
        </p:txBody>
      </p:sp>
      <p:grpSp>
        <p:nvGrpSpPr>
          <p:cNvPr name="Group 78" id="78"/>
          <p:cNvGrpSpPr/>
          <p:nvPr/>
        </p:nvGrpSpPr>
        <p:grpSpPr>
          <a:xfrm rot="0">
            <a:off x="11382198" y="6512747"/>
            <a:ext cx="656931" cy="645728"/>
            <a:chOff x="0" y="0"/>
            <a:chExt cx="875907" cy="860971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875996" cy="861060"/>
            </a:xfrm>
            <a:custGeom>
              <a:avLst/>
              <a:gdLst/>
              <a:ahLst/>
              <a:cxnLst/>
              <a:rect r="r" b="b" t="t" l="l"/>
              <a:pathLst>
                <a:path h="861060" w="875996">
                  <a:moveTo>
                    <a:pt x="0" y="430530"/>
                  </a:moveTo>
                  <a:cubicBezTo>
                    <a:pt x="0" y="192786"/>
                    <a:pt x="196131" y="0"/>
                    <a:pt x="437999" y="0"/>
                  </a:cubicBezTo>
                  <a:cubicBezTo>
                    <a:pt x="679867" y="0"/>
                    <a:pt x="875996" y="192786"/>
                    <a:pt x="875996" y="430530"/>
                  </a:cubicBezTo>
                  <a:cubicBezTo>
                    <a:pt x="875996" y="668274"/>
                    <a:pt x="679867" y="861060"/>
                    <a:pt x="437999" y="861060"/>
                  </a:cubicBezTo>
                  <a:cubicBezTo>
                    <a:pt x="196131" y="861060"/>
                    <a:pt x="0" y="668274"/>
                    <a:pt x="0" y="430530"/>
                  </a:cubicBezTo>
                  <a:close/>
                </a:path>
              </a:pathLst>
            </a:custGeom>
            <a:solidFill>
              <a:srgbClr val="222A35"/>
            </a:solidFill>
            <a:ln w="14299" cap="sq">
              <a:solidFill>
                <a:srgbClr val="222A35"/>
              </a:solidFill>
              <a:prstDash val="solid"/>
              <a:miter/>
            </a:ln>
          </p:spPr>
        </p:sp>
      </p:grpSp>
      <p:sp>
        <p:nvSpPr>
          <p:cNvPr name="TextBox 80" id="80"/>
          <p:cNvSpPr txBox="true"/>
          <p:nvPr/>
        </p:nvSpPr>
        <p:spPr>
          <a:xfrm rot="0">
            <a:off x="11559306" y="6702885"/>
            <a:ext cx="302713" cy="17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1"/>
              </a:lnSpc>
            </a:pPr>
            <a:r>
              <a:rPr lang="en-US" sz="1125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05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2418143" y="6558753"/>
            <a:ext cx="6167956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 b="true">
                <a:solidFill>
                  <a:srgbClr val="19202A"/>
                </a:solidFill>
                <a:latin typeface="Aptos Bold"/>
                <a:ea typeface="Aptos Bold"/>
                <a:cs typeface="Aptos Bold"/>
                <a:sym typeface="Aptos Bold"/>
              </a:rPr>
              <a:t>System integration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2418143" y="6926713"/>
            <a:ext cx="6377430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5B6573"/>
                </a:solidFill>
                <a:latin typeface="Aptos"/>
                <a:ea typeface="Aptos"/>
                <a:cs typeface="Aptos"/>
                <a:sym typeface="Aptos"/>
              </a:rPr>
              <a:t>Vision → coordinates → manipulation</a:t>
            </a:r>
          </a:p>
        </p:txBody>
      </p:sp>
      <p:grpSp>
        <p:nvGrpSpPr>
          <p:cNvPr name="Group 83" id="83"/>
          <p:cNvGrpSpPr/>
          <p:nvPr/>
        </p:nvGrpSpPr>
        <p:grpSpPr>
          <a:xfrm rot="0">
            <a:off x="11382198" y="7514806"/>
            <a:ext cx="656931" cy="645728"/>
            <a:chOff x="0" y="0"/>
            <a:chExt cx="875907" cy="860971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875996" cy="861060"/>
            </a:xfrm>
            <a:custGeom>
              <a:avLst/>
              <a:gdLst/>
              <a:ahLst/>
              <a:cxnLst/>
              <a:rect r="r" b="b" t="t" l="l"/>
              <a:pathLst>
                <a:path h="861060" w="875996">
                  <a:moveTo>
                    <a:pt x="0" y="430530"/>
                  </a:moveTo>
                  <a:cubicBezTo>
                    <a:pt x="0" y="192786"/>
                    <a:pt x="196131" y="0"/>
                    <a:pt x="437999" y="0"/>
                  </a:cubicBezTo>
                  <a:cubicBezTo>
                    <a:pt x="679867" y="0"/>
                    <a:pt x="875996" y="192786"/>
                    <a:pt x="875996" y="430530"/>
                  </a:cubicBezTo>
                  <a:cubicBezTo>
                    <a:pt x="875996" y="668274"/>
                    <a:pt x="679867" y="861060"/>
                    <a:pt x="437999" y="861060"/>
                  </a:cubicBezTo>
                  <a:cubicBezTo>
                    <a:pt x="196131" y="861060"/>
                    <a:pt x="0" y="668274"/>
                    <a:pt x="0" y="430530"/>
                  </a:cubicBezTo>
                  <a:close/>
                </a:path>
              </a:pathLst>
            </a:custGeom>
            <a:solidFill>
              <a:srgbClr val="222A35"/>
            </a:solidFill>
            <a:ln w="14299" cap="sq">
              <a:solidFill>
                <a:srgbClr val="222A35"/>
              </a:solidFill>
              <a:prstDash val="solid"/>
              <a:miter/>
            </a:ln>
          </p:spPr>
        </p:sp>
      </p:grpSp>
      <p:sp>
        <p:nvSpPr>
          <p:cNvPr name="TextBox 85" id="85"/>
          <p:cNvSpPr txBox="true"/>
          <p:nvPr/>
        </p:nvSpPr>
        <p:spPr>
          <a:xfrm rot="0">
            <a:off x="11559306" y="7704934"/>
            <a:ext cx="302713" cy="17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1"/>
              </a:lnSpc>
            </a:pPr>
            <a:r>
              <a:rPr lang="en-US" sz="1125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06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2418143" y="7560812"/>
            <a:ext cx="6167956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 b="true">
                <a:solidFill>
                  <a:srgbClr val="19202A"/>
                </a:solidFill>
                <a:latin typeface="Aptos Bold"/>
                <a:ea typeface="Aptos Bold"/>
                <a:cs typeface="Aptos Bold"/>
                <a:sym typeface="Aptos Bold"/>
              </a:rPr>
              <a:t>Throughput testing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12418143" y="7928772"/>
            <a:ext cx="6377430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5B6573"/>
                </a:solidFill>
                <a:latin typeface="Aptos"/>
                <a:ea typeface="Aptos"/>
                <a:cs typeface="Aptos"/>
                <a:sym typeface="Aptos"/>
              </a:rPr>
              <a:t>Target: ~100 dishes/day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D5DBFF">
                <a:alpha val="100000"/>
              </a:srgbClr>
            </a:gs>
            <a:gs pos="100000">
              <a:srgbClr val="9FBD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7639433"/>
            <a:ext cx="18288000" cy="2647567"/>
            <a:chOff x="0" y="0"/>
            <a:chExt cx="4816593" cy="6973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697302"/>
            </a:xfrm>
            <a:custGeom>
              <a:avLst/>
              <a:gdLst/>
              <a:ahLst/>
              <a:cxnLst/>
              <a:rect r="r" b="b" t="t" l="l"/>
              <a:pathLst>
                <a:path h="69730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97302"/>
                  </a:lnTo>
                  <a:lnTo>
                    <a:pt x="0" y="697302"/>
                  </a:lnTo>
                  <a:close/>
                </a:path>
              </a:pathLst>
            </a:custGeom>
            <a:gradFill rotWithShape="true">
              <a:gsLst>
                <a:gs pos="0">
                  <a:srgbClr val="000E6B">
                    <a:alpha val="100000"/>
                  </a:srgbClr>
                </a:gs>
                <a:gs pos="100000">
                  <a:srgbClr val="0057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7449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256205" y="1796162"/>
            <a:ext cx="14194690" cy="7113776"/>
            <a:chOff x="0" y="0"/>
            <a:chExt cx="3738519" cy="187358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38519" cy="1873587"/>
            </a:xfrm>
            <a:custGeom>
              <a:avLst/>
              <a:gdLst/>
              <a:ahLst/>
              <a:cxnLst/>
              <a:rect r="r" b="b" t="t" l="l"/>
              <a:pathLst>
                <a:path h="1873587" w="3738519">
                  <a:moveTo>
                    <a:pt x="43633" y="0"/>
                  </a:moveTo>
                  <a:lnTo>
                    <a:pt x="3694886" y="0"/>
                  </a:lnTo>
                  <a:cubicBezTo>
                    <a:pt x="3718984" y="0"/>
                    <a:pt x="3738519" y="19535"/>
                    <a:pt x="3738519" y="43633"/>
                  </a:cubicBezTo>
                  <a:lnTo>
                    <a:pt x="3738519" y="1829954"/>
                  </a:lnTo>
                  <a:cubicBezTo>
                    <a:pt x="3738519" y="1854052"/>
                    <a:pt x="3718984" y="1873587"/>
                    <a:pt x="3694886" y="1873587"/>
                  </a:cubicBezTo>
                  <a:lnTo>
                    <a:pt x="43633" y="1873587"/>
                  </a:lnTo>
                  <a:cubicBezTo>
                    <a:pt x="32061" y="1873587"/>
                    <a:pt x="20962" y="1868990"/>
                    <a:pt x="12780" y="1860807"/>
                  </a:cubicBezTo>
                  <a:cubicBezTo>
                    <a:pt x="4597" y="1852625"/>
                    <a:pt x="0" y="1841526"/>
                    <a:pt x="0" y="1829954"/>
                  </a:cubicBezTo>
                  <a:lnTo>
                    <a:pt x="0" y="43633"/>
                  </a:lnTo>
                  <a:cubicBezTo>
                    <a:pt x="0" y="32061"/>
                    <a:pt x="4597" y="20962"/>
                    <a:pt x="12780" y="12780"/>
                  </a:cubicBezTo>
                  <a:cubicBezTo>
                    <a:pt x="20962" y="4597"/>
                    <a:pt x="32061" y="0"/>
                    <a:pt x="43633" y="0"/>
                  </a:cubicBezTo>
                  <a:close/>
                </a:path>
              </a:pathLst>
            </a:custGeom>
            <a:solidFill>
              <a:srgbClr val="64646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3738519" cy="19212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046655" y="1586612"/>
            <a:ext cx="14194690" cy="7113776"/>
            <a:chOff x="0" y="0"/>
            <a:chExt cx="3738519" cy="1873587"/>
          </a:xfrm>
        </p:grpSpPr>
        <p:sp>
          <p:nvSpPr>
            <p:cNvPr name="Freeform 9" id="9">
              <a:hlinkClick r:id="rId2" tooltip="https://chat.whatsapp.com/I9lyLp4iAsn1qEpl1PTXJ2"/>
            </p:cNvPr>
            <p:cNvSpPr/>
            <p:nvPr/>
          </p:nvSpPr>
          <p:spPr>
            <a:xfrm flipH="false" flipV="false" rot="0">
              <a:off x="0" y="0"/>
              <a:ext cx="3738519" cy="1873587"/>
            </a:xfrm>
            <a:custGeom>
              <a:avLst/>
              <a:gdLst/>
              <a:ahLst/>
              <a:cxnLst/>
              <a:rect r="r" b="b" t="t" l="l"/>
              <a:pathLst>
                <a:path h="1873587" w="3738519">
                  <a:moveTo>
                    <a:pt x="43633" y="0"/>
                  </a:moveTo>
                  <a:lnTo>
                    <a:pt x="3694886" y="0"/>
                  </a:lnTo>
                  <a:cubicBezTo>
                    <a:pt x="3718984" y="0"/>
                    <a:pt x="3738519" y="19535"/>
                    <a:pt x="3738519" y="43633"/>
                  </a:cubicBezTo>
                  <a:lnTo>
                    <a:pt x="3738519" y="1829954"/>
                  </a:lnTo>
                  <a:cubicBezTo>
                    <a:pt x="3738519" y="1854052"/>
                    <a:pt x="3718984" y="1873587"/>
                    <a:pt x="3694886" y="1873587"/>
                  </a:cubicBezTo>
                  <a:lnTo>
                    <a:pt x="43633" y="1873587"/>
                  </a:lnTo>
                  <a:cubicBezTo>
                    <a:pt x="32061" y="1873587"/>
                    <a:pt x="20962" y="1868990"/>
                    <a:pt x="12780" y="1860807"/>
                  </a:cubicBezTo>
                  <a:cubicBezTo>
                    <a:pt x="4597" y="1852625"/>
                    <a:pt x="0" y="1841526"/>
                    <a:pt x="0" y="1829954"/>
                  </a:cubicBezTo>
                  <a:lnTo>
                    <a:pt x="0" y="43633"/>
                  </a:lnTo>
                  <a:cubicBezTo>
                    <a:pt x="0" y="32061"/>
                    <a:pt x="4597" y="20962"/>
                    <a:pt x="12780" y="12780"/>
                  </a:cubicBezTo>
                  <a:cubicBezTo>
                    <a:pt x="20962" y="4597"/>
                    <a:pt x="32061" y="0"/>
                    <a:pt x="43633" y="0"/>
                  </a:cubicBezTo>
                  <a:close/>
                </a:path>
              </a:pathLst>
            </a:custGeom>
            <a:solidFill>
              <a:srgbClr val="F0F7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3738519" cy="19212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689942" y="660153"/>
            <a:ext cx="2713427" cy="2730492"/>
          </a:xfrm>
          <a:custGeom>
            <a:avLst/>
            <a:gdLst/>
            <a:ahLst/>
            <a:cxnLst/>
            <a:rect r="r" b="b" t="t" l="l"/>
            <a:pathLst>
              <a:path h="2730492" w="2713427">
                <a:moveTo>
                  <a:pt x="0" y="0"/>
                </a:moveTo>
                <a:lnTo>
                  <a:pt x="2713427" y="0"/>
                </a:lnTo>
                <a:lnTo>
                  <a:pt x="2713427" y="2730492"/>
                </a:lnTo>
                <a:lnTo>
                  <a:pt x="0" y="27304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884631" y="7146243"/>
            <a:ext cx="2713427" cy="2730492"/>
          </a:xfrm>
          <a:custGeom>
            <a:avLst/>
            <a:gdLst/>
            <a:ahLst/>
            <a:cxnLst/>
            <a:rect r="r" b="b" t="t" l="l"/>
            <a:pathLst>
              <a:path h="2730492" w="2713427">
                <a:moveTo>
                  <a:pt x="0" y="0"/>
                </a:moveTo>
                <a:lnTo>
                  <a:pt x="2713427" y="0"/>
                </a:lnTo>
                <a:lnTo>
                  <a:pt x="2713427" y="2730492"/>
                </a:lnTo>
                <a:lnTo>
                  <a:pt x="0" y="27304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256205" y="3646136"/>
            <a:ext cx="13898581" cy="2832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066"/>
              </a:lnSpc>
            </a:pPr>
            <a:r>
              <a:rPr lang="en-US" b="true" sz="17555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D5DBFF">
                <a:alpha val="100000"/>
              </a:srgbClr>
            </a:gs>
            <a:gs pos="100000">
              <a:srgbClr val="9FBD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81787" y="-198150"/>
            <a:ext cx="9061955" cy="6216123"/>
          </a:xfrm>
          <a:custGeom>
            <a:avLst/>
            <a:gdLst/>
            <a:ahLst/>
            <a:cxnLst/>
            <a:rect r="r" b="b" t="t" l="l"/>
            <a:pathLst>
              <a:path h="6216123" w="9061955">
                <a:moveTo>
                  <a:pt x="0" y="0"/>
                </a:moveTo>
                <a:lnTo>
                  <a:pt x="9061955" y="0"/>
                </a:lnTo>
                <a:lnTo>
                  <a:pt x="9061955" y="6216123"/>
                </a:lnTo>
                <a:lnTo>
                  <a:pt x="0" y="62161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447622" y="2294365"/>
            <a:ext cx="10192607" cy="6233073"/>
          </a:xfrm>
          <a:custGeom>
            <a:avLst/>
            <a:gdLst/>
            <a:ahLst/>
            <a:cxnLst/>
            <a:rect r="r" b="b" t="t" l="l"/>
            <a:pathLst>
              <a:path h="6233073" w="10192607">
                <a:moveTo>
                  <a:pt x="0" y="0"/>
                </a:moveTo>
                <a:lnTo>
                  <a:pt x="10192607" y="0"/>
                </a:lnTo>
                <a:lnTo>
                  <a:pt x="10192607" y="6233073"/>
                </a:lnTo>
                <a:lnTo>
                  <a:pt x="0" y="62330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61252" y="4720145"/>
            <a:ext cx="7610928" cy="5722855"/>
          </a:xfrm>
          <a:custGeom>
            <a:avLst/>
            <a:gdLst/>
            <a:ahLst/>
            <a:cxnLst/>
            <a:rect r="r" b="b" t="t" l="l"/>
            <a:pathLst>
              <a:path h="5722855" w="7610928">
                <a:moveTo>
                  <a:pt x="0" y="0"/>
                </a:moveTo>
                <a:lnTo>
                  <a:pt x="7610928" y="0"/>
                </a:lnTo>
                <a:lnTo>
                  <a:pt x="7610928" y="5722855"/>
                </a:lnTo>
                <a:lnTo>
                  <a:pt x="0" y="57228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275501" y="-445011"/>
            <a:ext cx="5219532" cy="6154773"/>
          </a:xfrm>
          <a:custGeom>
            <a:avLst/>
            <a:gdLst/>
            <a:ahLst/>
            <a:cxnLst/>
            <a:rect r="r" b="b" t="t" l="l"/>
            <a:pathLst>
              <a:path h="6154773" w="5219532">
                <a:moveTo>
                  <a:pt x="0" y="0"/>
                </a:moveTo>
                <a:lnTo>
                  <a:pt x="5219532" y="0"/>
                </a:lnTo>
                <a:lnTo>
                  <a:pt x="5219532" y="6154773"/>
                </a:lnTo>
                <a:lnTo>
                  <a:pt x="0" y="61547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D5DBFF">
                <a:alpha val="100000"/>
              </a:srgbClr>
            </a:gs>
            <a:gs pos="100000">
              <a:srgbClr val="9FBD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19594" y="2639391"/>
            <a:ext cx="9029047" cy="6172200"/>
          </a:xfrm>
          <a:custGeom>
            <a:avLst/>
            <a:gdLst/>
            <a:ahLst/>
            <a:cxnLst/>
            <a:rect r="r" b="b" t="t" l="l"/>
            <a:pathLst>
              <a:path h="6172200" w="9029047">
                <a:moveTo>
                  <a:pt x="0" y="0"/>
                </a:moveTo>
                <a:lnTo>
                  <a:pt x="9029047" y="0"/>
                </a:lnTo>
                <a:lnTo>
                  <a:pt x="9029047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DAHVRa7o4BI</dc:identifier>
  <dcterms:modified xsi:type="dcterms:W3CDTF">2011-08-01T06:04:30Z</dcterms:modified>
  <cp:revision>1</cp:revision>
  <dc:title>ELD411 mid term </dc:title>
</cp:coreProperties>
</file>
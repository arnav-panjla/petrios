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oppins Bold" charset="1" panose="00000800000000000000"/>
      <p:regular r:id="rId13"/>
    </p:embeddedFont>
    <p:embeddedFont>
      <p:font typeface="Poppins" charset="1" panose="00000500000000000000"/>
      <p:regular r:id="rId14"/>
    </p:embeddedFont>
    <p:embeddedFont>
      <p:font typeface="Aptos Bold" charset="1" panose="020B0004020202020204"/>
      <p:regular r:id="rId21"/>
    </p:embeddedFont>
    <p:embeddedFont>
      <p:font typeface="Aptos" charset="1" panose="020B000402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notesSlides/notesSlide2.xml" Type="http://schemas.openxmlformats.org/officeDocument/2006/relationships/notesSlide"/><Relationship Id="rId19" Target="notesSlides/notesSlide3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4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mention accuracy and data, </a:t>
            </a:r>
          </a:p>
          <a:p>
            <a:r>
              <a:rPr lang="en-US"/>
              <a:t>simple openCV models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cahnge image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cahnge image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+ market analyis</a:t>
            </a:r>
          </a:p>
          <a:p>
            <a:r>
              <a:rPr lang="en-US"/>
              <a:t>+ Hardware testing</a:t>
            </a:r>
          </a:p>
          <a:p>
            <a:r>
              <a:rPr lang="en-US"/>
              <a:t>+ failed iterations</a:t>
            </a:r>
          </a:p>
          <a:p>
            <a:r>
              <a:rPr lang="en-US"/>
              <a:t>+ </a:t>
            </a:r>
          </a:p>
          <a:p>
            <a:r>
              <a:rPr lang="en-US"/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1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1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2537" y="497957"/>
            <a:ext cx="7888348" cy="3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VISION PIPELINE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2537" y="945623"/>
            <a:ext cx="16261652" cy="816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Image Processing Has Two Independent Tasks</a:t>
            </a:r>
          </a:p>
        </p:txBody>
      </p:sp>
      <p:sp>
        <p:nvSpPr>
          <p:cNvPr name="AutoShape 4" id="4"/>
          <p:cNvSpPr/>
          <p:nvPr/>
        </p:nvSpPr>
        <p:spPr>
          <a:xfrm rot="3960">
            <a:off x="896426" y="1916982"/>
            <a:ext cx="16504872" cy="0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810634" y="566595"/>
            <a:ext cx="544554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10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96436" y="2351465"/>
            <a:ext cx="7898206" cy="6690255"/>
            <a:chOff x="0" y="0"/>
            <a:chExt cx="10530942" cy="89203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530967" cy="8920353"/>
            </a:xfrm>
            <a:custGeom>
              <a:avLst/>
              <a:gdLst/>
              <a:ahLst/>
              <a:cxnLst/>
              <a:rect r="r" b="b" t="t" l="l"/>
              <a:pathLst>
                <a:path h="8920353" w="10530967">
                  <a:moveTo>
                    <a:pt x="0" y="1486789"/>
                  </a:moveTo>
                  <a:cubicBezTo>
                    <a:pt x="0" y="665607"/>
                    <a:pt x="665607" y="0"/>
                    <a:pt x="1486789" y="0"/>
                  </a:cubicBezTo>
                  <a:lnTo>
                    <a:pt x="9044178" y="0"/>
                  </a:lnTo>
                  <a:cubicBezTo>
                    <a:pt x="9865360" y="0"/>
                    <a:pt x="10530967" y="665607"/>
                    <a:pt x="10530967" y="1486789"/>
                  </a:cubicBezTo>
                  <a:lnTo>
                    <a:pt x="10530967" y="7433564"/>
                  </a:lnTo>
                  <a:cubicBezTo>
                    <a:pt x="10530967" y="8254619"/>
                    <a:pt x="9865361" y="8920353"/>
                    <a:pt x="9044178" y="8920353"/>
                  </a:cubicBezTo>
                  <a:lnTo>
                    <a:pt x="1486789" y="8920353"/>
                  </a:lnTo>
                  <a:cubicBezTo>
                    <a:pt x="665607" y="8920353"/>
                    <a:pt x="0" y="8254746"/>
                    <a:pt x="0" y="743356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38072" y="2765650"/>
            <a:ext cx="1194797" cy="481003"/>
            <a:chOff x="0" y="0"/>
            <a:chExt cx="1593063" cy="6413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93088" cy="641350"/>
            </a:xfrm>
            <a:custGeom>
              <a:avLst/>
              <a:gdLst/>
              <a:ahLst/>
              <a:cxnLst/>
              <a:rect r="r" b="b" t="t" l="l"/>
              <a:pathLst>
                <a:path h="641350" w="1593088">
                  <a:moveTo>
                    <a:pt x="0" y="106934"/>
                  </a:moveTo>
                  <a:cubicBezTo>
                    <a:pt x="0" y="47879"/>
                    <a:pt x="47879" y="0"/>
                    <a:pt x="106934" y="0"/>
                  </a:cubicBezTo>
                  <a:lnTo>
                    <a:pt x="1486154" y="0"/>
                  </a:lnTo>
                  <a:cubicBezTo>
                    <a:pt x="1545209" y="0"/>
                    <a:pt x="1593088" y="47879"/>
                    <a:pt x="1593088" y="106934"/>
                  </a:cubicBezTo>
                  <a:lnTo>
                    <a:pt x="1593088" y="534416"/>
                  </a:lnTo>
                  <a:cubicBezTo>
                    <a:pt x="1593088" y="593471"/>
                    <a:pt x="1545209" y="641350"/>
                    <a:pt x="1486154" y="641350"/>
                  </a:cubicBezTo>
                  <a:lnTo>
                    <a:pt x="106934" y="641350"/>
                  </a:lnTo>
                  <a:cubicBezTo>
                    <a:pt x="47879" y="641350"/>
                    <a:pt x="0" y="593471"/>
                    <a:pt x="0" y="534416"/>
                  </a:cubicBezTo>
                  <a:close/>
                </a:path>
              </a:pathLst>
            </a:custGeom>
            <a:solidFill>
              <a:srgbClr val="2459D3"/>
            </a:solidFill>
            <a:ln w="14299" cap="sq">
              <a:solidFill>
                <a:srgbClr val="2459D3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45216" y="2786520"/>
            <a:ext cx="1180500" cy="384353"/>
            <a:chOff x="0" y="0"/>
            <a:chExt cx="1574000" cy="5124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73998" cy="512464"/>
            </a:xfrm>
            <a:custGeom>
              <a:avLst/>
              <a:gdLst/>
              <a:ahLst/>
              <a:cxnLst/>
              <a:rect r="r" b="b" t="t" l="l"/>
              <a:pathLst>
                <a:path h="512464" w="1573998">
                  <a:moveTo>
                    <a:pt x="0" y="0"/>
                  </a:moveTo>
                  <a:lnTo>
                    <a:pt x="1573998" y="0"/>
                  </a:lnTo>
                  <a:lnTo>
                    <a:pt x="1573998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46" r="0" b="-984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574000" cy="5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PART A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81792" y="3457613"/>
            <a:ext cx="6515671" cy="514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Circle detection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1792" y="4373099"/>
            <a:ext cx="4429211" cy="1547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9202A"/>
                </a:solidFill>
                <a:latin typeface="Poppins Bold"/>
                <a:ea typeface="Poppins Bold"/>
                <a:cs typeface="Poppins Bold"/>
                <a:sym typeface="Poppins Bold"/>
              </a:rPr>
              <a:t>Locate dish boundary</a:t>
            </a:r>
          </a:p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9202A"/>
                </a:solidFill>
                <a:latin typeface="Poppins Bold"/>
                <a:ea typeface="Poppins Bold"/>
                <a:cs typeface="Poppins Bold"/>
                <a:sym typeface="Poppins Bold"/>
              </a:rPr>
              <a:t>Measure inhibition-zone diameter</a:t>
            </a:r>
          </a:p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9202A"/>
                </a:solidFill>
                <a:latin typeface="Poppins Bold"/>
                <a:ea typeface="Poppins Bold"/>
                <a:cs typeface="Poppins Bold"/>
                <a:sym typeface="Poppins Bold"/>
              </a:rPr>
              <a:t>Return center + internal radius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915644" y="4172350"/>
            <a:ext cx="2362143" cy="3734810"/>
            <a:chOff x="0" y="0"/>
            <a:chExt cx="3149524" cy="497974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49473" cy="4979670"/>
            </a:xfrm>
            <a:custGeom>
              <a:avLst/>
              <a:gdLst/>
              <a:ahLst/>
              <a:cxnLst/>
              <a:rect r="r" b="b" t="t" l="l"/>
              <a:pathLst>
                <a:path h="4979670" w="3149473">
                  <a:moveTo>
                    <a:pt x="0" y="524891"/>
                  </a:moveTo>
                  <a:cubicBezTo>
                    <a:pt x="0" y="235077"/>
                    <a:pt x="235077" y="0"/>
                    <a:pt x="524891" y="0"/>
                  </a:cubicBezTo>
                  <a:lnTo>
                    <a:pt x="2624582" y="0"/>
                  </a:lnTo>
                  <a:cubicBezTo>
                    <a:pt x="2914523" y="0"/>
                    <a:pt x="3149473" y="235077"/>
                    <a:pt x="3149473" y="524891"/>
                  </a:cubicBezTo>
                  <a:lnTo>
                    <a:pt x="3149473" y="4454779"/>
                  </a:lnTo>
                  <a:cubicBezTo>
                    <a:pt x="3149473" y="4744720"/>
                    <a:pt x="2914396" y="4979670"/>
                    <a:pt x="2624582" y="4979670"/>
                  </a:cubicBezTo>
                  <a:lnTo>
                    <a:pt x="524891" y="4979670"/>
                  </a:lnTo>
                  <a:cubicBezTo>
                    <a:pt x="235077" y="4979797"/>
                    <a:pt x="0" y="4744720"/>
                    <a:pt x="0" y="4454779"/>
                  </a:cubicBezTo>
                  <a:close/>
                </a:path>
              </a:pathLst>
            </a:custGeom>
            <a:solidFill>
              <a:srgbClr val="F8FBFF"/>
            </a:solidFill>
            <a:ln w="28597" cap="sq">
              <a:solidFill>
                <a:srgbClr val="2BA7A0"/>
              </a:solidFill>
              <a:prstDash val="dash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489357" y="2351465"/>
            <a:ext cx="7898206" cy="6690255"/>
            <a:chOff x="0" y="0"/>
            <a:chExt cx="10530942" cy="89203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530967" cy="8920353"/>
            </a:xfrm>
            <a:custGeom>
              <a:avLst/>
              <a:gdLst/>
              <a:ahLst/>
              <a:cxnLst/>
              <a:rect r="r" b="b" t="t" l="l"/>
              <a:pathLst>
                <a:path h="8920353" w="10530967">
                  <a:moveTo>
                    <a:pt x="0" y="1486789"/>
                  </a:moveTo>
                  <a:cubicBezTo>
                    <a:pt x="0" y="665607"/>
                    <a:pt x="665607" y="0"/>
                    <a:pt x="1486789" y="0"/>
                  </a:cubicBezTo>
                  <a:lnTo>
                    <a:pt x="9044178" y="0"/>
                  </a:lnTo>
                  <a:cubicBezTo>
                    <a:pt x="9865360" y="0"/>
                    <a:pt x="10530967" y="665607"/>
                    <a:pt x="10530967" y="1486789"/>
                  </a:cubicBezTo>
                  <a:lnTo>
                    <a:pt x="10530967" y="7433564"/>
                  </a:lnTo>
                  <a:cubicBezTo>
                    <a:pt x="10530967" y="8254619"/>
                    <a:pt x="9865361" y="8920353"/>
                    <a:pt x="9044178" y="8920353"/>
                  </a:cubicBezTo>
                  <a:lnTo>
                    <a:pt x="1486789" y="8920353"/>
                  </a:lnTo>
                  <a:cubicBezTo>
                    <a:pt x="665607" y="8920353"/>
                    <a:pt x="0" y="8254746"/>
                    <a:pt x="0" y="7433564"/>
                  </a:cubicBezTo>
                  <a:close/>
                </a:path>
              </a:pathLst>
            </a:custGeom>
            <a:solidFill>
              <a:srgbClr val="180E66"/>
            </a:solidFill>
            <a:ln w="19065" cap="sq">
              <a:solidFill>
                <a:srgbClr val="180E66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931003" y="2765650"/>
            <a:ext cx="1194797" cy="481003"/>
            <a:chOff x="0" y="0"/>
            <a:chExt cx="1593063" cy="6413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93088" cy="641350"/>
            </a:xfrm>
            <a:custGeom>
              <a:avLst/>
              <a:gdLst/>
              <a:ahLst/>
              <a:cxnLst/>
              <a:rect r="r" b="b" t="t" l="l"/>
              <a:pathLst>
                <a:path h="641350" w="1593088">
                  <a:moveTo>
                    <a:pt x="0" y="106934"/>
                  </a:moveTo>
                  <a:cubicBezTo>
                    <a:pt x="0" y="47879"/>
                    <a:pt x="47879" y="0"/>
                    <a:pt x="106934" y="0"/>
                  </a:cubicBezTo>
                  <a:lnTo>
                    <a:pt x="1486154" y="0"/>
                  </a:lnTo>
                  <a:cubicBezTo>
                    <a:pt x="1545209" y="0"/>
                    <a:pt x="1593088" y="47879"/>
                    <a:pt x="1593088" y="106934"/>
                  </a:cubicBezTo>
                  <a:lnTo>
                    <a:pt x="1593088" y="534416"/>
                  </a:lnTo>
                  <a:cubicBezTo>
                    <a:pt x="1593088" y="593471"/>
                    <a:pt x="1545209" y="641350"/>
                    <a:pt x="1486154" y="641350"/>
                  </a:cubicBezTo>
                  <a:lnTo>
                    <a:pt x="106934" y="641350"/>
                  </a:lnTo>
                  <a:cubicBezTo>
                    <a:pt x="47879" y="641350"/>
                    <a:pt x="0" y="593471"/>
                    <a:pt x="0" y="534416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938147" y="2786520"/>
            <a:ext cx="1180500" cy="384353"/>
            <a:chOff x="0" y="0"/>
            <a:chExt cx="1574000" cy="5124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73998" cy="512464"/>
            </a:xfrm>
            <a:custGeom>
              <a:avLst/>
              <a:gdLst/>
              <a:ahLst/>
              <a:cxnLst/>
              <a:rect r="r" b="b" t="t" l="l"/>
              <a:pathLst>
                <a:path h="512464" w="1573998">
                  <a:moveTo>
                    <a:pt x="0" y="0"/>
                  </a:moveTo>
                  <a:lnTo>
                    <a:pt x="1573998" y="0"/>
                  </a:lnTo>
                  <a:lnTo>
                    <a:pt x="1573998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46" r="0" b="-984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574000" cy="5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PART B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974723" y="3457613"/>
            <a:ext cx="6515671" cy="514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Antibiotic code reading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74723" y="4373099"/>
            <a:ext cx="4484122" cy="1547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Crop circular antibiotic disc</a:t>
            </a:r>
          </a:p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Resolve rotation / orientation</a:t>
            </a:r>
          </a:p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Read printed character code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4563487" y="4172350"/>
            <a:ext cx="2362143" cy="3734810"/>
            <a:chOff x="0" y="0"/>
            <a:chExt cx="3149524" cy="497974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49473" cy="4979670"/>
            </a:xfrm>
            <a:custGeom>
              <a:avLst/>
              <a:gdLst/>
              <a:ahLst/>
              <a:cxnLst/>
              <a:rect r="r" b="b" t="t" l="l"/>
              <a:pathLst>
                <a:path h="4979670" w="3149473">
                  <a:moveTo>
                    <a:pt x="0" y="524891"/>
                  </a:moveTo>
                  <a:cubicBezTo>
                    <a:pt x="0" y="235077"/>
                    <a:pt x="235077" y="0"/>
                    <a:pt x="524891" y="0"/>
                  </a:cubicBezTo>
                  <a:lnTo>
                    <a:pt x="2624582" y="0"/>
                  </a:lnTo>
                  <a:cubicBezTo>
                    <a:pt x="2914523" y="0"/>
                    <a:pt x="3149473" y="235077"/>
                    <a:pt x="3149473" y="524891"/>
                  </a:cubicBezTo>
                  <a:lnTo>
                    <a:pt x="3149473" y="4454779"/>
                  </a:lnTo>
                  <a:cubicBezTo>
                    <a:pt x="3149473" y="4744720"/>
                    <a:pt x="2914396" y="4979670"/>
                    <a:pt x="2624582" y="4979670"/>
                  </a:cubicBezTo>
                  <a:lnTo>
                    <a:pt x="524891" y="4979670"/>
                  </a:lnTo>
                  <a:cubicBezTo>
                    <a:pt x="235077" y="4979797"/>
                    <a:pt x="0" y="4744720"/>
                    <a:pt x="0" y="4454779"/>
                  </a:cubicBezTo>
                  <a:close/>
                </a:path>
              </a:pathLst>
            </a:custGeom>
            <a:solidFill>
              <a:srgbClr val="F8FBFF"/>
            </a:solidFill>
            <a:ln w="28597" cap="sq">
              <a:solidFill>
                <a:srgbClr val="2BA7A0"/>
              </a:solidFill>
              <a:prstDash val="dash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942537" y="9800482"/>
            <a:ext cx="109082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2537" y="497957"/>
            <a:ext cx="7888348" cy="3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CURRENT EVIDENCE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2537" y="945623"/>
            <a:ext cx="1626165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Phase1 : </a:t>
            </a: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Computer Vision for Petri-Dish Analysis</a:t>
            </a:r>
          </a:p>
        </p:txBody>
      </p:sp>
      <p:sp>
        <p:nvSpPr>
          <p:cNvPr name="AutoShape 4" id="4"/>
          <p:cNvSpPr/>
          <p:nvPr/>
        </p:nvSpPr>
        <p:spPr>
          <a:xfrm rot="3960">
            <a:off x="896426" y="1916982"/>
            <a:ext cx="16504872" cy="0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810634" y="566595"/>
            <a:ext cx="544554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09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96436" y="2351465"/>
            <a:ext cx="3642922" cy="3615471"/>
            <a:chOff x="0" y="0"/>
            <a:chExt cx="4857229" cy="48206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57115" cy="4820539"/>
            </a:xfrm>
            <a:custGeom>
              <a:avLst/>
              <a:gdLst/>
              <a:ahLst/>
              <a:cxnLst/>
              <a:rect r="r" b="b" t="t" l="l"/>
              <a:pathLst>
                <a:path h="4820539" w="4857115">
                  <a:moveTo>
                    <a:pt x="0" y="803402"/>
                  </a:moveTo>
                  <a:cubicBezTo>
                    <a:pt x="0" y="359664"/>
                    <a:pt x="359664" y="0"/>
                    <a:pt x="803402" y="0"/>
                  </a:cubicBezTo>
                  <a:lnTo>
                    <a:pt x="4053713" y="0"/>
                  </a:lnTo>
                  <a:cubicBezTo>
                    <a:pt x="4497451" y="0"/>
                    <a:pt x="4857115" y="359664"/>
                    <a:pt x="4857115" y="803402"/>
                  </a:cubicBezTo>
                  <a:lnTo>
                    <a:pt x="4857115" y="4017137"/>
                  </a:lnTo>
                  <a:cubicBezTo>
                    <a:pt x="4857115" y="4460875"/>
                    <a:pt x="4497451" y="4820539"/>
                    <a:pt x="4053713" y="4820539"/>
                  </a:cubicBezTo>
                  <a:lnTo>
                    <a:pt x="803402" y="4820539"/>
                  </a:lnTo>
                  <a:cubicBezTo>
                    <a:pt x="359664" y="4820666"/>
                    <a:pt x="0" y="4460875"/>
                    <a:pt x="0" y="401713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98137" y="2553167"/>
            <a:ext cx="3239510" cy="2951245"/>
            <a:chOff x="0" y="0"/>
            <a:chExt cx="4319346" cy="3934993"/>
          </a:xfrm>
        </p:grpSpPr>
        <p:sp>
          <p:nvSpPr>
            <p:cNvPr name="Freeform 9" id="9" descr="s1.png"/>
            <p:cNvSpPr/>
            <p:nvPr/>
          </p:nvSpPr>
          <p:spPr>
            <a:xfrm flipH="false" flipV="false" rot="0">
              <a:off x="0" y="0"/>
              <a:ext cx="4319397" cy="3934968"/>
            </a:xfrm>
            <a:custGeom>
              <a:avLst/>
              <a:gdLst/>
              <a:ahLst/>
              <a:cxnLst/>
              <a:rect r="r" b="b" t="t" l="l"/>
              <a:pathLst>
                <a:path h="3934968" w="4319397">
                  <a:moveTo>
                    <a:pt x="0" y="0"/>
                  </a:moveTo>
                  <a:lnTo>
                    <a:pt x="4319397" y="0"/>
                  </a:lnTo>
                  <a:lnTo>
                    <a:pt x="4319397" y="3934968"/>
                  </a:lnTo>
                  <a:lnTo>
                    <a:pt x="0" y="3934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406" r="0" b="-540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30248" y="5593356"/>
            <a:ext cx="2375297" cy="481003"/>
            <a:chOff x="0" y="0"/>
            <a:chExt cx="3167062" cy="64133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67126" cy="641350"/>
            </a:xfrm>
            <a:custGeom>
              <a:avLst/>
              <a:gdLst/>
              <a:ahLst/>
              <a:cxnLst/>
              <a:rect r="r" b="b" t="t" l="l"/>
              <a:pathLst>
                <a:path h="641350" w="3167126">
                  <a:moveTo>
                    <a:pt x="0" y="106934"/>
                  </a:moveTo>
                  <a:cubicBezTo>
                    <a:pt x="0" y="47879"/>
                    <a:pt x="47879" y="0"/>
                    <a:pt x="106934" y="0"/>
                  </a:cubicBezTo>
                  <a:lnTo>
                    <a:pt x="3060192" y="0"/>
                  </a:lnTo>
                  <a:cubicBezTo>
                    <a:pt x="3119247" y="0"/>
                    <a:pt x="3167126" y="47879"/>
                    <a:pt x="3167126" y="106934"/>
                  </a:cubicBezTo>
                  <a:lnTo>
                    <a:pt x="3167126" y="534416"/>
                  </a:lnTo>
                  <a:cubicBezTo>
                    <a:pt x="3167126" y="593471"/>
                    <a:pt x="3119247" y="641350"/>
                    <a:pt x="3060192" y="641350"/>
                  </a:cubicBezTo>
                  <a:lnTo>
                    <a:pt x="106934" y="641350"/>
                  </a:lnTo>
                  <a:cubicBezTo>
                    <a:pt x="47879" y="641350"/>
                    <a:pt x="0" y="593471"/>
                    <a:pt x="0" y="534416"/>
                  </a:cubicBezTo>
                  <a:close/>
                </a:path>
              </a:pathLst>
            </a:custGeom>
            <a:solidFill>
              <a:srgbClr val="180E66"/>
            </a:solidFill>
            <a:ln w="14299" cap="sq">
              <a:solidFill>
                <a:srgbClr val="180E6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537392" y="5614225"/>
            <a:ext cx="2361000" cy="384353"/>
            <a:chOff x="0" y="0"/>
            <a:chExt cx="3148000" cy="5124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47995" cy="512464"/>
            </a:xfrm>
            <a:custGeom>
              <a:avLst/>
              <a:gdLst/>
              <a:ahLst/>
              <a:cxnLst/>
              <a:rect r="r" b="b" t="t" l="l"/>
              <a:pathLst>
                <a:path h="512464" w="3147995">
                  <a:moveTo>
                    <a:pt x="0" y="0"/>
                  </a:moveTo>
                  <a:lnTo>
                    <a:pt x="3147995" y="0"/>
                  </a:lnTo>
                  <a:lnTo>
                    <a:pt x="3147995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693" r="0" b="-6969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3148000" cy="5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  RAW IMAGE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822279" y="2351465"/>
            <a:ext cx="3642922" cy="3615471"/>
            <a:chOff x="0" y="0"/>
            <a:chExt cx="4857229" cy="48206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57115" cy="4820539"/>
            </a:xfrm>
            <a:custGeom>
              <a:avLst/>
              <a:gdLst/>
              <a:ahLst/>
              <a:cxnLst/>
              <a:rect r="r" b="b" t="t" l="l"/>
              <a:pathLst>
                <a:path h="4820539" w="4857115">
                  <a:moveTo>
                    <a:pt x="0" y="803402"/>
                  </a:moveTo>
                  <a:cubicBezTo>
                    <a:pt x="0" y="359664"/>
                    <a:pt x="359664" y="0"/>
                    <a:pt x="803402" y="0"/>
                  </a:cubicBezTo>
                  <a:lnTo>
                    <a:pt x="4053713" y="0"/>
                  </a:lnTo>
                  <a:cubicBezTo>
                    <a:pt x="4497451" y="0"/>
                    <a:pt x="4857115" y="359664"/>
                    <a:pt x="4857115" y="803402"/>
                  </a:cubicBezTo>
                  <a:lnTo>
                    <a:pt x="4857115" y="4017137"/>
                  </a:lnTo>
                  <a:cubicBezTo>
                    <a:pt x="4857115" y="4460875"/>
                    <a:pt x="4497451" y="4820539"/>
                    <a:pt x="4053713" y="4820539"/>
                  </a:cubicBezTo>
                  <a:lnTo>
                    <a:pt x="803402" y="4820539"/>
                  </a:lnTo>
                  <a:cubicBezTo>
                    <a:pt x="359664" y="4820666"/>
                    <a:pt x="0" y="4460875"/>
                    <a:pt x="0" y="401713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5023980" y="2553167"/>
            <a:ext cx="3239510" cy="2951245"/>
            <a:chOff x="0" y="0"/>
            <a:chExt cx="4319346" cy="3934993"/>
          </a:xfrm>
        </p:grpSpPr>
        <p:sp>
          <p:nvSpPr>
            <p:cNvPr name="Freeform 18" id="18" descr="s1.png"/>
            <p:cNvSpPr/>
            <p:nvPr/>
          </p:nvSpPr>
          <p:spPr>
            <a:xfrm flipH="false" flipV="false" rot="0">
              <a:off x="0" y="0"/>
              <a:ext cx="4319397" cy="3934968"/>
            </a:xfrm>
            <a:custGeom>
              <a:avLst/>
              <a:gdLst/>
              <a:ahLst/>
              <a:cxnLst/>
              <a:rect r="r" b="b" t="t" l="l"/>
              <a:pathLst>
                <a:path h="3934968" w="4319397">
                  <a:moveTo>
                    <a:pt x="0" y="0"/>
                  </a:moveTo>
                  <a:lnTo>
                    <a:pt x="4319397" y="0"/>
                  </a:lnTo>
                  <a:lnTo>
                    <a:pt x="4319397" y="3934968"/>
                  </a:lnTo>
                  <a:lnTo>
                    <a:pt x="0" y="3934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406" r="0" b="-5407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279450" y="2781186"/>
            <a:ext cx="2728570" cy="2728570"/>
            <a:chOff x="0" y="0"/>
            <a:chExt cx="3638093" cy="363809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38042" cy="3638042"/>
            </a:xfrm>
            <a:custGeom>
              <a:avLst/>
              <a:gdLst/>
              <a:ahLst/>
              <a:cxnLst/>
              <a:rect r="r" b="b" t="t" l="l"/>
              <a:pathLst>
                <a:path h="3638042" w="3638042">
                  <a:moveTo>
                    <a:pt x="0" y="1819021"/>
                  </a:moveTo>
                  <a:cubicBezTo>
                    <a:pt x="0" y="814451"/>
                    <a:pt x="814451" y="0"/>
                    <a:pt x="1819021" y="0"/>
                  </a:cubicBezTo>
                  <a:cubicBezTo>
                    <a:pt x="2823591" y="0"/>
                    <a:pt x="3638042" y="814451"/>
                    <a:pt x="3638042" y="1819021"/>
                  </a:cubicBezTo>
                  <a:cubicBezTo>
                    <a:pt x="3638042" y="2823591"/>
                    <a:pt x="2823718" y="3638042"/>
                    <a:pt x="1819021" y="3638042"/>
                  </a:cubicBezTo>
                  <a:cubicBezTo>
                    <a:pt x="814324" y="3638042"/>
                    <a:pt x="0" y="2823718"/>
                    <a:pt x="0" y="1819021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4" t="0" r="-78306" b="-1"/>
              </a:stretch>
            </a:blipFill>
            <a:ln w="38130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5401180" y="5593356"/>
            <a:ext cx="2485111" cy="481003"/>
            <a:chOff x="0" y="0"/>
            <a:chExt cx="3313481" cy="64133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313557" cy="641350"/>
            </a:xfrm>
            <a:custGeom>
              <a:avLst/>
              <a:gdLst/>
              <a:ahLst/>
              <a:cxnLst/>
              <a:rect r="r" b="b" t="t" l="l"/>
              <a:pathLst>
                <a:path h="641350" w="3313557">
                  <a:moveTo>
                    <a:pt x="0" y="106934"/>
                  </a:moveTo>
                  <a:cubicBezTo>
                    <a:pt x="0" y="47879"/>
                    <a:pt x="47879" y="0"/>
                    <a:pt x="106934" y="0"/>
                  </a:cubicBezTo>
                  <a:lnTo>
                    <a:pt x="3206623" y="0"/>
                  </a:lnTo>
                  <a:cubicBezTo>
                    <a:pt x="3265678" y="0"/>
                    <a:pt x="3313557" y="47879"/>
                    <a:pt x="3313557" y="106934"/>
                  </a:cubicBezTo>
                  <a:lnTo>
                    <a:pt x="3313557" y="534416"/>
                  </a:lnTo>
                  <a:cubicBezTo>
                    <a:pt x="3313557" y="593471"/>
                    <a:pt x="3265678" y="641350"/>
                    <a:pt x="3206623" y="641350"/>
                  </a:cubicBezTo>
                  <a:lnTo>
                    <a:pt x="106934" y="641350"/>
                  </a:lnTo>
                  <a:cubicBezTo>
                    <a:pt x="47879" y="641350"/>
                    <a:pt x="0" y="593471"/>
                    <a:pt x="0" y="534416"/>
                  </a:cubicBezTo>
                  <a:close/>
                </a:path>
              </a:pathLst>
            </a:custGeom>
            <a:solidFill>
              <a:srgbClr val="2459D3"/>
            </a:solidFill>
            <a:ln w="14299" cap="sq">
              <a:solidFill>
                <a:srgbClr val="2459D3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5408333" y="5614225"/>
            <a:ext cx="2470814" cy="384353"/>
            <a:chOff x="0" y="0"/>
            <a:chExt cx="3294418" cy="51247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94414" cy="512464"/>
            </a:xfrm>
            <a:custGeom>
              <a:avLst/>
              <a:gdLst/>
              <a:ahLst/>
              <a:cxnLst/>
              <a:rect r="r" b="b" t="t" l="l"/>
              <a:pathLst>
                <a:path h="512464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5260" r="0" b="-7526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3294418" cy="5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  CIRCULAR ROI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748122" y="2351465"/>
            <a:ext cx="3642922" cy="3615471"/>
            <a:chOff x="0" y="0"/>
            <a:chExt cx="4857229" cy="48206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57115" cy="4820539"/>
            </a:xfrm>
            <a:custGeom>
              <a:avLst/>
              <a:gdLst/>
              <a:ahLst/>
              <a:cxnLst/>
              <a:rect r="r" b="b" t="t" l="l"/>
              <a:pathLst>
                <a:path h="4820539" w="4857115">
                  <a:moveTo>
                    <a:pt x="0" y="803402"/>
                  </a:moveTo>
                  <a:cubicBezTo>
                    <a:pt x="0" y="359664"/>
                    <a:pt x="359664" y="0"/>
                    <a:pt x="803402" y="0"/>
                  </a:cubicBezTo>
                  <a:lnTo>
                    <a:pt x="4053713" y="0"/>
                  </a:lnTo>
                  <a:cubicBezTo>
                    <a:pt x="4497451" y="0"/>
                    <a:pt x="4857115" y="359664"/>
                    <a:pt x="4857115" y="803402"/>
                  </a:cubicBezTo>
                  <a:lnTo>
                    <a:pt x="4857115" y="4017137"/>
                  </a:lnTo>
                  <a:cubicBezTo>
                    <a:pt x="4857115" y="4460875"/>
                    <a:pt x="4497451" y="4820539"/>
                    <a:pt x="4053713" y="4820539"/>
                  </a:cubicBezTo>
                  <a:lnTo>
                    <a:pt x="803402" y="4820539"/>
                  </a:lnTo>
                  <a:cubicBezTo>
                    <a:pt x="359664" y="4820666"/>
                    <a:pt x="0" y="4460875"/>
                    <a:pt x="0" y="401713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8949823" y="2553167"/>
            <a:ext cx="3239510" cy="2951245"/>
            <a:chOff x="0" y="0"/>
            <a:chExt cx="4319346" cy="3934993"/>
          </a:xfrm>
        </p:grpSpPr>
        <p:sp>
          <p:nvSpPr>
            <p:cNvPr name="Freeform 29" id="29" descr="s1_detected.png"/>
            <p:cNvSpPr/>
            <p:nvPr/>
          </p:nvSpPr>
          <p:spPr>
            <a:xfrm flipH="false" flipV="false" rot="0">
              <a:off x="0" y="0"/>
              <a:ext cx="4319397" cy="3934968"/>
            </a:xfrm>
            <a:custGeom>
              <a:avLst/>
              <a:gdLst/>
              <a:ahLst/>
              <a:cxnLst/>
              <a:rect r="r" b="b" t="t" l="l"/>
              <a:pathLst>
                <a:path h="3934968" w="4319397">
                  <a:moveTo>
                    <a:pt x="0" y="0"/>
                  </a:moveTo>
                  <a:lnTo>
                    <a:pt x="4319397" y="0"/>
                  </a:lnTo>
                  <a:lnTo>
                    <a:pt x="4319397" y="3934968"/>
                  </a:lnTo>
                  <a:lnTo>
                    <a:pt x="0" y="3934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406" r="0" b="-5407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409386" y="5593356"/>
            <a:ext cx="2320385" cy="481003"/>
            <a:chOff x="0" y="0"/>
            <a:chExt cx="3093847" cy="64133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093847" cy="641350"/>
            </a:xfrm>
            <a:custGeom>
              <a:avLst/>
              <a:gdLst/>
              <a:ahLst/>
              <a:cxnLst/>
              <a:rect r="r" b="b" t="t" l="l"/>
              <a:pathLst>
                <a:path h="641350" w="3093847">
                  <a:moveTo>
                    <a:pt x="0" y="106934"/>
                  </a:moveTo>
                  <a:cubicBezTo>
                    <a:pt x="0" y="47879"/>
                    <a:pt x="47879" y="0"/>
                    <a:pt x="106934" y="0"/>
                  </a:cubicBezTo>
                  <a:lnTo>
                    <a:pt x="2986913" y="0"/>
                  </a:lnTo>
                  <a:cubicBezTo>
                    <a:pt x="3045968" y="0"/>
                    <a:pt x="3093847" y="47879"/>
                    <a:pt x="3093847" y="106934"/>
                  </a:cubicBezTo>
                  <a:lnTo>
                    <a:pt x="3093847" y="534416"/>
                  </a:lnTo>
                  <a:cubicBezTo>
                    <a:pt x="3093847" y="593471"/>
                    <a:pt x="3045968" y="641350"/>
                    <a:pt x="2986913" y="641350"/>
                  </a:cubicBezTo>
                  <a:lnTo>
                    <a:pt x="106934" y="641350"/>
                  </a:lnTo>
                  <a:cubicBezTo>
                    <a:pt x="47879" y="641350"/>
                    <a:pt x="0" y="593471"/>
                    <a:pt x="0" y="534416"/>
                  </a:cubicBezTo>
                  <a:close/>
                </a:path>
              </a:pathLst>
            </a:custGeom>
            <a:solidFill>
              <a:srgbClr val="357852"/>
            </a:solidFill>
            <a:ln w="14299" cap="sq">
              <a:solidFill>
                <a:srgbClr val="357852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416529" y="5614225"/>
            <a:ext cx="2306088" cy="384353"/>
            <a:chOff x="0" y="0"/>
            <a:chExt cx="3074784" cy="51247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074786" cy="512464"/>
            </a:xfrm>
            <a:custGeom>
              <a:avLst/>
              <a:gdLst/>
              <a:ahLst/>
              <a:cxnLst/>
              <a:rect r="r" b="b" t="t" l="l"/>
              <a:pathLst>
                <a:path h="512464" w="3074786">
                  <a:moveTo>
                    <a:pt x="0" y="0"/>
                  </a:moveTo>
                  <a:lnTo>
                    <a:pt x="3074786" y="0"/>
                  </a:lnTo>
                  <a:lnTo>
                    <a:pt x="3074786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09" r="0" b="-6691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3074784" cy="5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  DETECTION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673965" y="2351465"/>
            <a:ext cx="4713608" cy="3615471"/>
            <a:chOff x="0" y="0"/>
            <a:chExt cx="6284811" cy="48206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284722" cy="4820539"/>
            </a:xfrm>
            <a:custGeom>
              <a:avLst/>
              <a:gdLst/>
              <a:ahLst/>
              <a:cxnLst/>
              <a:rect r="r" b="b" t="t" l="l"/>
              <a:pathLst>
                <a:path h="4820539" w="6284722">
                  <a:moveTo>
                    <a:pt x="0" y="803402"/>
                  </a:moveTo>
                  <a:cubicBezTo>
                    <a:pt x="0" y="359664"/>
                    <a:pt x="359664" y="0"/>
                    <a:pt x="803402" y="0"/>
                  </a:cubicBezTo>
                  <a:lnTo>
                    <a:pt x="5481320" y="0"/>
                  </a:lnTo>
                  <a:cubicBezTo>
                    <a:pt x="5925058" y="0"/>
                    <a:pt x="6284722" y="359664"/>
                    <a:pt x="6284722" y="803402"/>
                  </a:cubicBezTo>
                  <a:lnTo>
                    <a:pt x="6284722" y="4017137"/>
                  </a:lnTo>
                  <a:cubicBezTo>
                    <a:pt x="6284722" y="4460875"/>
                    <a:pt x="5925058" y="4820539"/>
                    <a:pt x="5481320" y="4820539"/>
                  </a:cubicBezTo>
                  <a:lnTo>
                    <a:pt x="803402" y="4820539"/>
                  </a:lnTo>
                  <a:cubicBezTo>
                    <a:pt x="359664" y="4820666"/>
                    <a:pt x="0" y="4460875"/>
                    <a:pt x="0" y="4017137"/>
                  </a:cubicBezTo>
                  <a:close/>
                </a:path>
              </a:pathLst>
            </a:custGeom>
            <a:solidFill>
              <a:srgbClr val="180E66"/>
            </a:solidFill>
            <a:ln w="19065" cap="sq">
              <a:solidFill>
                <a:srgbClr val="180E66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3131870" y="2831506"/>
            <a:ext cx="3660515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9FFFC0"/>
                </a:solidFill>
                <a:latin typeface="Poppins Bold"/>
                <a:ea typeface="Poppins Bold"/>
                <a:cs typeface="Poppins Bold"/>
                <a:sym typeface="Poppins Bold"/>
              </a:rPr>
              <a:t>MEASURE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131870" y="3494589"/>
            <a:ext cx="3660515" cy="1492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Dish radius</a:t>
            </a:r>
          </a:p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Inhibition-zone radius</a:t>
            </a:r>
          </a:p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 location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131870" y="5316045"/>
            <a:ext cx="3660515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DCE7FF"/>
                </a:solidFill>
                <a:latin typeface="Poppins"/>
                <a:ea typeface="Poppins"/>
                <a:cs typeface="Poppins"/>
                <a:sym typeface="Poppins"/>
              </a:rPr>
              <a:t>OpenCV baseline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96436" y="6936191"/>
            <a:ext cx="2352608" cy="979932"/>
            <a:chOff x="0" y="0"/>
            <a:chExt cx="3136811" cy="130657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136900" cy="1306576"/>
            </a:xfrm>
            <a:custGeom>
              <a:avLst/>
              <a:gdLst/>
              <a:ahLst/>
              <a:cxnLst/>
              <a:rect r="r" b="b" t="t" l="l"/>
              <a:pathLst>
                <a:path h="1306576" w="3136900">
                  <a:moveTo>
                    <a:pt x="0" y="217805"/>
                  </a:moveTo>
                  <a:cubicBezTo>
                    <a:pt x="0" y="97536"/>
                    <a:pt x="97536" y="0"/>
                    <a:pt x="217805" y="0"/>
                  </a:cubicBezTo>
                  <a:lnTo>
                    <a:pt x="2919095" y="0"/>
                  </a:lnTo>
                  <a:cubicBezTo>
                    <a:pt x="3039364" y="0"/>
                    <a:pt x="3136900" y="97536"/>
                    <a:pt x="3136900" y="217805"/>
                  </a:cubicBezTo>
                  <a:lnTo>
                    <a:pt x="3136900" y="1088771"/>
                  </a:lnTo>
                  <a:cubicBezTo>
                    <a:pt x="3136900" y="1209040"/>
                    <a:pt x="3039364" y="1306576"/>
                    <a:pt x="2919095" y="1306576"/>
                  </a:cubicBezTo>
                  <a:lnTo>
                    <a:pt x="217805" y="1306576"/>
                  </a:lnTo>
                  <a:cubicBezTo>
                    <a:pt x="97536" y="1306576"/>
                    <a:pt x="0" y="1209040"/>
                    <a:pt x="0" y="108877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1052351" y="7251506"/>
            <a:ext cx="2040760" cy="24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PREPROCESS</a:t>
            </a:r>
          </a:p>
        </p:txBody>
      </p:sp>
      <p:sp>
        <p:nvSpPr>
          <p:cNvPr name="AutoShape 43" id="43"/>
          <p:cNvSpPr/>
          <p:nvPr/>
        </p:nvSpPr>
        <p:spPr>
          <a:xfrm rot="383820">
            <a:off x="3246834" y="7416632"/>
            <a:ext cx="342252" cy="0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4" id="44"/>
          <p:cNvGrpSpPr/>
          <p:nvPr/>
        </p:nvGrpSpPr>
        <p:grpSpPr>
          <a:xfrm rot="0">
            <a:off x="3506895" y="7364101"/>
            <a:ext cx="124111" cy="124111"/>
            <a:chOff x="0" y="0"/>
            <a:chExt cx="165481" cy="16548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65608" cy="165608"/>
            </a:xfrm>
            <a:custGeom>
              <a:avLst/>
              <a:gdLst/>
              <a:ahLst/>
              <a:cxnLst/>
              <a:rect r="r" b="b" t="t" l="l"/>
              <a:pathLst>
                <a:path h="165608" w="165608">
                  <a:moveTo>
                    <a:pt x="0" y="82804"/>
                  </a:moveTo>
                  <a:cubicBezTo>
                    <a:pt x="0" y="37084"/>
                    <a:pt x="37084" y="0"/>
                    <a:pt x="82804" y="0"/>
                  </a:cubicBezTo>
                  <a:cubicBezTo>
                    <a:pt x="128524" y="0"/>
                    <a:pt x="165608" y="37084"/>
                    <a:pt x="165608" y="82804"/>
                  </a:cubicBezTo>
                  <a:cubicBezTo>
                    <a:pt x="165608" y="128524"/>
                    <a:pt x="128524" y="165608"/>
                    <a:pt x="82804" y="165608"/>
                  </a:cubicBezTo>
                  <a:cubicBezTo>
                    <a:pt x="37084" y="165608"/>
                    <a:pt x="0" y="128397"/>
                    <a:pt x="0" y="82804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3669230" y="6936191"/>
            <a:ext cx="2352608" cy="979932"/>
            <a:chOff x="0" y="0"/>
            <a:chExt cx="3136811" cy="130657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136900" cy="1306576"/>
            </a:xfrm>
            <a:custGeom>
              <a:avLst/>
              <a:gdLst/>
              <a:ahLst/>
              <a:cxnLst/>
              <a:rect r="r" b="b" t="t" l="l"/>
              <a:pathLst>
                <a:path h="1306576" w="3136900">
                  <a:moveTo>
                    <a:pt x="0" y="217805"/>
                  </a:moveTo>
                  <a:cubicBezTo>
                    <a:pt x="0" y="97536"/>
                    <a:pt x="97536" y="0"/>
                    <a:pt x="217805" y="0"/>
                  </a:cubicBezTo>
                  <a:lnTo>
                    <a:pt x="2919095" y="0"/>
                  </a:lnTo>
                  <a:cubicBezTo>
                    <a:pt x="3039364" y="0"/>
                    <a:pt x="3136900" y="97536"/>
                    <a:pt x="3136900" y="217805"/>
                  </a:cubicBezTo>
                  <a:lnTo>
                    <a:pt x="3136900" y="1088771"/>
                  </a:lnTo>
                  <a:cubicBezTo>
                    <a:pt x="3136900" y="1209040"/>
                    <a:pt x="3039364" y="1306576"/>
                    <a:pt x="2919095" y="1306576"/>
                  </a:cubicBezTo>
                  <a:lnTo>
                    <a:pt x="217805" y="1306576"/>
                  </a:lnTo>
                  <a:cubicBezTo>
                    <a:pt x="97536" y="1306576"/>
                    <a:pt x="0" y="1209040"/>
                    <a:pt x="0" y="108877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48" id="48"/>
          <p:cNvSpPr txBox="true"/>
          <p:nvPr/>
        </p:nvSpPr>
        <p:spPr>
          <a:xfrm rot="0">
            <a:off x="3825154" y="7251506"/>
            <a:ext cx="2040760" cy="24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DISH DETECT</a:t>
            </a:r>
          </a:p>
        </p:txBody>
      </p:sp>
      <p:sp>
        <p:nvSpPr>
          <p:cNvPr name="AutoShape 49" id="49"/>
          <p:cNvSpPr/>
          <p:nvPr/>
        </p:nvSpPr>
        <p:spPr>
          <a:xfrm rot="383820">
            <a:off x="6019629" y="7416632"/>
            <a:ext cx="342252" cy="0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0" id="50"/>
          <p:cNvGrpSpPr/>
          <p:nvPr/>
        </p:nvGrpSpPr>
        <p:grpSpPr>
          <a:xfrm rot="0">
            <a:off x="6279690" y="7364101"/>
            <a:ext cx="124111" cy="124111"/>
            <a:chOff x="0" y="0"/>
            <a:chExt cx="165481" cy="16548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65608" cy="165608"/>
            </a:xfrm>
            <a:custGeom>
              <a:avLst/>
              <a:gdLst/>
              <a:ahLst/>
              <a:cxnLst/>
              <a:rect r="r" b="b" t="t" l="l"/>
              <a:pathLst>
                <a:path h="165608" w="165608">
                  <a:moveTo>
                    <a:pt x="0" y="82804"/>
                  </a:moveTo>
                  <a:cubicBezTo>
                    <a:pt x="0" y="37084"/>
                    <a:pt x="37084" y="0"/>
                    <a:pt x="82804" y="0"/>
                  </a:cubicBezTo>
                  <a:cubicBezTo>
                    <a:pt x="128524" y="0"/>
                    <a:pt x="165608" y="37084"/>
                    <a:pt x="165608" y="82804"/>
                  </a:cubicBezTo>
                  <a:cubicBezTo>
                    <a:pt x="165608" y="128524"/>
                    <a:pt x="128524" y="165608"/>
                    <a:pt x="82804" y="165608"/>
                  </a:cubicBezTo>
                  <a:cubicBezTo>
                    <a:pt x="37084" y="165608"/>
                    <a:pt x="0" y="128397"/>
                    <a:pt x="0" y="82804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6442024" y="6936191"/>
            <a:ext cx="2352608" cy="979932"/>
            <a:chOff x="0" y="0"/>
            <a:chExt cx="3136811" cy="130657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136900" cy="1306576"/>
            </a:xfrm>
            <a:custGeom>
              <a:avLst/>
              <a:gdLst/>
              <a:ahLst/>
              <a:cxnLst/>
              <a:rect r="r" b="b" t="t" l="l"/>
              <a:pathLst>
                <a:path h="1306576" w="3136900">
                  <a:moveTo>
                    <a:pt x="0" y="217805"/>
                  </a:moveTo>
                  <a:cubicBezTo>
                    <a:pt x="0" y="97536"/>
                    <a:pt x="97536" y="0"/>
                    <a:pt x="217805" y="0"/>
                  </a:cubicBezTo>
                  <a:lnTo>
                    <a:pt x="2919095" y="0"/>
                  </a:lnTo>
                  <a:cubicBezTo>
                    <a:pt x="3039364" y="0"/>
                    <a:pt x="3136900" y="97536"/>
                    <a:pt x="3136900" y="217805"/>
                  </a:cubicBezTo>
                  <a:lnTo>
                    <a:pt x="3136900" y="1088771"/>
                  </a:lnTo>
                  <a:cubicBezTo>
                    <a:pt x="3136900" y="1209040"/>
                    <a:pt x="3039364" y="1306576"/>
                    <a:pt x="2919095" y="1306576"/>
                  </a:cubicBezTo>
                  <a:lnTo>
                    <a:pt x="217805" y="1306576"/>
                  </a:lnTo>
                  <a:cubicBezTo>
                    <a:pt x="97536" y="1306576"/>
                    <a:pt x="0" y="1209040"/>
                    <a:pt x="0" y="108877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54" id="54"/>
          <p:cNvSpPr txBox="true"/>
          <p:nvPr/>
        </p:nvSpPr>
        <p:spPr>
          <a:xfrm rot="0">
            <a:off x="6597948" y="7251506"/>
            <a:ext cx="2040760" cy="24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ROI</a:t>
            </a:r>
          </a:p>
        </p:txBody>
      </p:sp>
      <p:sp>
        <p:nvSpPr>
          <p:cNvPr name="AutoShape 55" id="55"/>
          <p:cNvSpPr/>
          <p:nvPr/>
        </p:nvSpPr>
        <p:spPr>
          <a:xfrm rot="383820">
            <a:off x="8792423" y="7416632"/>
            <a:ext cx="342252" cy="0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6" id="56"/>
          <p:cNvGrpSpPr/>
          <p:nvPr/>
        </p:nvGrpSpPr>
        <p:grpSpPr>
          <a:xfrm rot="0">
            <a:off x="9052484" y="7364101"/>
            <a:ext cx="124111" cy="124111"/>
            <a:chOff x="0" y="0"/>
            <a:chExt cx="165481" cy="16548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65608" cy="165608"/>
            </a:xfrm>
            <a:custGeom>
              <a:avLst/>
              <a:gdLst/>
              <a:ahLst/>
              <a:cxnLst/>
              <a:rect r="r" b="b" t="t" l="l"/>
              <a:pathLst>
                <a:path h="165608" w="165608">
                  <a:moveTo>
                    <a:pt x="0" y="82804"/>
                  </a:moveTo>
                  <a:cubicBezTo>
                    <a:pt x="0" y="37084"/>
                    <a:pt x="37084" y="0"/>
                    <a:pt x="82804" y="0"/>
                  </a:cubicBezTo>
                  <a:cubicBezTo>
                    <a:pt x="128524" y="0"/>
                    <a:pt x="165608" y="37084"/>
                    <a:pt x="165608" y="82804"/>
                  </a:cubicBezTo>
                  <a:cubicBezTo>
                    <a:pt x="165608" y="128524"/>
                    <a:pt x="128524" y="165608"/>
                    <a:pt x="82804" y="165608"/>
                  </a:cubicBezTo>
                  <a:cubicBezTo>
                    <a:pt x="37084" y="165608"/>
                    <a:pt x="0" y="128397"/>
                    <a:pt x="0" y="82804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9214828" y="6936191"/>
            <a:ext cx="2352608" cy="979932"/>
            <a:chOff x="0" y="0"/>
            <a:chExt cx="3136811" cy="130657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136900" cy="1306576"/>
            </a:xfrm>
            <a:custGeom>
              <a:avLst/>
              <a:gdLst/>
              <a:ahLst/>
              <a:cxnLst/>
              <a:rect r="r" b="b" t="t" l="l"/>
              <a:pathLst>
                <a:path h="1306576" w="3136900">
                  <a:moveTo>
                    <a:pt x="0" y="217805"/>
                  </a:moveTo>
                  <a:cubicBezTo>
                    <a:pt x="0" y="97536"/>
                    <a:pt x="97536" y="0"/>
                    <a:pt x="217805" y="0"/>
                  </a:cubicBezTo>
                  <a:lnTo>
                    <a:pt x="2919095" y="0"/>
                  </a:lnTo>
                  <a:cubicBezTo>
                    <a:pt x="3039364" y="0"/>
                    <a:pt x="3136900" y="97536"/>
                    <a:pt x="3136900" y="217805"/>
                  </a:cubicBezTo>
                  <a:lnTo>
                    <a:pt x="3136900" y="1088771"/>
                  </a:lnTo>
                  <a:cubicBezTo>
                    <a:pt x="3136900" y="1209040"/>
                    <a:pt x="3039364" y="1306576"/>
                    <a:pt x="2919095" y="1306576"/>
                  </a:cubicBezTo>
                  <a:lnTo>
                    <a:pt x="217805" y="1306576"/>
                  </a:lnTo>
                  <a:cubicBezTo>
                    <a:pt x="97536" y="1306576"/>
                    <a:pt x="0" y="1209040"/>
                    <a:pt x="0" y="108877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60" id="60"/>
          <p:cNvSpPr txBox="true"/>
          <p:nvPr/>
        </p:nvSpPr>
        <p:spPr>
          <a:xfrm rot="0">
            <a:off x="9370752" y="7251506"/>
            <a:ext cx="2040760" cy="24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ZONE DETECT</a:t>
            </a:r>
          </a:p>
        </p:txBody>
      </p:sp>
      <p:sp>
        <p:nvSpPr>
          <p:cNvPr name="AutoShape 61" id="61"/>
          <p:cNvSpPr/>
          <p:nvPr/>
        </p:nvSpPr>
        <p:spPr>
          <a:xfrm rot="383820">
            <a:off x="11565226" y="7416632"/>
            <a:ext cx="342252" cy="0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2" id="62"/>
          <p:cNvGrpSpPr/>
          <p:nvPr/>
        </p:nvGrpSpPr>
        <p:grpSpPr>
          <a:xfrm rot="0">
            <a:off x="11825288" y="7364101"/>
            <a:ext cx="124111" cy="124111"/>
            <a:chOff x="0" y="0"/>
            <a:chExt cx="165481" cy="16548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65608" cy="165608"/>
            </a:xfrm>
            <a:custGeom>
              <a:avLst/>
              <a:gdLst/>
              <a:ahLst/>
              <a:cxnLst/>
              <a:rect r="r" b="b" t="t" l="l"/>
              <a:pathLst>
                <a:path h="165608" w="165608">
                  <a:moveTo>
                    <a:pt x="0" y="82804"/>
                  </a:moveTo>
                  <a:cubicBezTo>
                    <a:pt x="0" y="37084"/>
                    <a:pt x="37084" y="0"/>
                    <a:pt x="82804" y="0"/>
                  </a:cubicBezTo>
                  <a:cubicBezTo>
                    <a:pt x="128524" y="0"/>
                    <a:pt x="165608" y="37084"/>
                    <a:pt x="165608" y="82804"/>
                  </a:cubicBezTo>
                  <a:cubicBezTo>
                    <a:pt x="165608" y="128524"/>
                    <a:pt x="128524" y="165608"/>
                    <a:pt x="82804" y="165608"/>
                  </a:cubicBezTo>
                  <a:cubicBezTo>
                    <a:pt x="37084" y="165608"/>
                    <a:pt x="0" y="128397"/>
                    <a:pt x="0" y="82804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1987622" y="6936191"/>
            <a:ext cx="2352608" cy="979932"/>
            <a:chOff x="0" y="0"/>
            <a:chExt cx="3136811" cy="130657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136900" cy="1306576"/>
            </a:xfrm>
            <a:custGeom>
              <a:avLst/>
              <a:gdLst/>
              <a:ahLst/>
              <a:cxnLst/>
              <a:rect r="r" b="b" t="t" l="l"/>
              <a:pathLst>
                <a:path h="1306576" w="3136900">
                  <a:moveTo>
                    <a:pt x="0" y="217805"/>
                  </a:moveTo>
                  <a:cubicBezTo>
                    <a:pt x="0" y="97536"/>
                    <a:pt x="97536" y="0"/>
                    <a:pt x="217805" y="0"/>
                  </a:cubicBezTo>
                  <a:lnTo>
                    <a:pt x="2919095" y="0"/>
                  </a:lnTo>
                  <a:cubicBezTo>
                    <a:pt x="3039364" y="0"/>
                    <a:pt x="3136900" y="97536"/>
                    <a:pt x="3136900" y="217805"/>
                  </a:cubicBezTo>
                  <a:lnTo>
                    <a:pt x="3136900" y="1088771"/>
                  </a:lnTo>
                  <a:cubicBezTo>
                    <a:pt x="3136900" y="1209040"/>
                    <a:pt x="3039364" y="1306576"/>
                    <a:pt x="2919095" y="1306576"/>
                  </a:cubicBezTo>
                  <a:lnTo>
                    <a:pt x="217805" y="1306576"/>
                  </a:lnTo>
                  <a:cubicBezTo>
                    <a:pt x="97536" y="1306576"/>
                    <a:pt x="0" y="1209040"/>
                    <a:pt x="0" y="108877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66" id="66"/>
          <p:cNvSpPr txBox="true"/>
          <p:nvPr/>
        </p:nvSpPr>
        <p:spPr>
          <a:xfrm rot="0">
            <a:off x="12143546" y="7251506"/>
            <a:ext cx="2040760" cy="24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MEASURE</a:t>
            </a:r>
          </a:p>
        </p:txBody>
      </p:sp>
      <p:sp>
        <p:nvSpPr>
          <p:cNvPr name="AutoShape 67" id="67"/>
          <p:cNvSpPr/>
          <p:nvPr/>
        </p:nvSpPr>
        <p:spPr>
          <a:xfrm rot="383820">
            <a:off x="14338021" y="7416632"/>
            <a:ext cx="342252" cy="0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8" id="68"/>
          <p:cNvGrpSpPr/>
          <p:nvPr/>
        </p:nvGrpSpPr>
        <p:grpSpPr>
          <a:xfrm rot="0">
            <a:off x="14598082" y="7364101"/>
            <a:ext cx="124111" cy="124111"/>
            <a:chOff x="0" y="0"/>
            <a:chExt cx="165481" cy="16548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65608" cy="165608"/>
            </a:xfrm>
            <a:custGeom>
              <a:avLst/>
              <a:gdLst/>
              <a:ahLst/>
              <a:cxnLst/>
              <a:rect r="r" b="b" t="t" l="l"/>
              <a:pathLst>
                <a:path h="165608" w="165608">
                  <a:moveTo>
                    <a:pt x="0" y="82804"/>
                  </a:moveTo>
                  <a:cubicBezTo>
                    <a:pt x="0" y="37084"/>
                    <a:pt x="37084" y="0"/>
                    <a:pt x="82804" y="0"/>
                  </a:cubicBezTo>
                  <a:cubicBezTo>
                    <a:pt x="128524" y="0"/>
                    <a:pt x="165608" y="37084"/>
                    <a:pt x="165608" y="82804"/>
                  </a:cubicBezTo>
                  <a:cubicBezTo>
                    <a:pt x="165608" y="128524"/>
                    <a:pt x="128524" y="165608"/>
                    <a:pt x="82804" y="165608"/>
                  </a:cubicBezTo>
                  <a:cubicBezTo>
                    <a:pt x="37084" y="165608"/>
                    <a:pt x="0" y="128397"/>
                    <a:pt x="0" y="82804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4760426" y="6936191"/>
            <a:ext cx="2352608" cy="979932"/>
            <a:chOff x="0" y="0"/>
            <a:chExt cx="3136811" cy="130657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136900" cy="1306576"/>
            </a:xfrm>
            <a:custGeom>
              <a:avLst/>
              <a:gdLst/>
              <a:ahLst/>
              <a:cxnLst/>
              <a:rect r="r" b="b" t="t" l="l"/>
              <a:pathLst>
                <a:path h="1306576" w="3136900">
                  <a:moveTo>
                    <a:pt x="0" y="217805"/>
                  </a:moveTo>
                  <a:cubicBezTo>
                    <a:pt x="0" y="97536"/>
                    <a:pt x="97536" y="0"/>
                    <a:pt x="217805" y="0"/>
                  </a:cubicBezTo>
                  <a:lnTo>
                    <a:pt x="2919095" y="0"/>
                  </a:lnTo>
                  <a:cubicBezTo>
                    <a:pt x="3039364" y="0"/>
                    <a:pt x="3136900" y="97536"/>
                    <a:pt x="3136900" y="217805"/>
                  </a:cubicBezTo>
                  <a:lnTo>
                    <a:pt x="3136900" y="1088771"/>
                  </a:lnTo>
                  <a:cubicBezTo>
                    <a:pt x="3136900" y="1209040"/>
                    <a:pt x="3039364" y="1306576"/>
                    <a:pt x="2919095" y="1306576"/>
                  </a:cubicBezTo>
                  <a:lnTo>
                    <a:pt x="217805" y="1306576"/>
                  </a:lnTo>
                  <a:cubicBezTo>
                    <a:pt x="97536" y="1306576"/>
                    <a:pt x="0" y="1209040"/>
                    <a:pt x="0" y="1088771"/>
                  </a:cubicBezTo>
                  <a:close/>
                </a:path>
              </a:pathLst>
            </a:custGeom>
            <a:solidFill>
              <a:srgbClr val="FFF5E5"/>
            </a:solidFill>
            <a:ln w="19065" cap="sq">
              <a:solidFill>
                <a:srgbClr val="C48723"/>
              </a:solidFill>
              <a:prstDash val="solid"/>
              <a:miter/>
            </a:ln>
          </p:spPr>
        </p:sp>
      </p:grpSp>
      <p:sp>
        <p:nvSpPr>
          <p:cNvPr name="TextBox 72" id="72"/>
          <p:cNvSpPr txBox="true"/>
          <p:nvPr/>
        </p:nvSpPr>
        <p:spPr>
          <a:xfrm rot="0">
            <a:off x="14916340" y="7251506"/>
            <a:ext cx="2040760" cy="24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OCR*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97448" y="8473192"/>
            <a:ext cx="7064740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*OCR for handwritten labels remains planned.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42537" y="9800482"/>
            <a:ext cx="109082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2537" y="497957"/>
            <a:ext cx="7888348" cy="3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ORIENTATION WAS THE HARD PROBLEM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2537" y="945623"/>
            <a:ext cx="1626165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Part A: Reading the Antibiotic Code</a:t>
            </a:r>
          </a:p>
        </p:txBody>
      </p:sp>
      <p:sp>
        <p:nvSpPr>
          <p:cNvPr name="AutoShape 4" id="4"/>
          <p:cNvSpPr/>
          <p:nvPr/>
        </p:nvSpPr>
        <p:spPr>
          <a:xfrm rot="3960">
            <a:off x="896426" y="1916982"/>
            <a:ext cx="16504872" cy="0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810634" y="566595"/>
            <a:ext cx="544554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12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96436" y="2296554"/>
            <a:ext cx="3780187" cy="595589"/>
            <a:chOff x="0" y="0"/>
            <a:chExt cx="5040249" cy="7941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40249" cy="794131"/>
            </a:xfrm>
            <a:custGeom>
              <a:avLst/>
              <a:gdLst/>
              <a:ahLst/>
              <a:cxnLst/>
              <a:rect r="r" b="b" t="t" l="l"/>
              <a:pathLst>
                <a:path h="794131" w="5040249">
                  <a:moveTo>
                    <a:pt x="0" y="132334"/>
                  </a:moveTo>
                  <a:cubicBezTo>
                    <a:pt x="0" y="59309"/>
                    <a:pt x="59309" y="0"/>
                    <a:pt x="132334" y="0"/>
                  </a:cubicBezTo>
                  <a:lnTo>
                    <a:pt x="4907915" y="0"/>
                  </a:lnTo>
                  <a:cubicBezTo>
                    <a:pt x="4981067" y="0"/>
                    <a:pt x="5040249" y="59309"/>
                    <a:pt x="5040249" y="132334"/>
                  </a:cubicBezTo>
                  <a:lnTo>
                    <a:pt x="5040249" y="661797"/>
                  </a:lnTo>
                  <a:cubicBezTo>
                    <a:pt x="5040249" y="734949"/>
                    <a:pt x="4980940" y="794131"/>
                    <a:pt x="4907915" y="794131"/>
                  </a:cubicBezTo>
                  <a:lnTo>
                    <a:pt x="132334" y="794131"/>
                  </a:lnTo>
                  <a:cubicBezTo>
                    <a:pt x="59309" y="794131"/>
                    <a:pt x="0" y="734822"/>
                    <a:pt x="0" y="66179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079811" y="2433428"/>
            <a:ext cx="3413436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Adaptive thresholding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083083" y="2296554"/>
            <a:ext cx="3780187" cy="595589"/>
            <a:chOff x="0" y="0"/>
            <a:chExt cx="5040249" cy="7941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40249" cy="794131"/>
            </a:xfrm>
            <a:custGeom>
              <a:avLst/>
              <a:gdLst/>
              <a:ahLst/>
              <a:cxnLst/>
              <a:rect r="r" b="b" t="t" l="l"/>
              <a:pathLst>
                <a:path h="794131" w="5040249">
                  <a:moveTo>
                    <a:pt x="0" y="132334"/>
                  </a:moveTo>
                  <a:cubicBezTo>
                    <a:pt x="0" y="59309"/>
                    <a:pt x="59309" y="0"/>
                    <a:pt x="132334" y="0"/>
                  </a:cubicBezTo>
                  <a:lnTo>
                    <a:pt x="4907915" y="0"/>
                  </a:lnTo>
                  <a:cubicBezTo>
                    <a:pt x="4981067" y="0"/>
                    <a:pt x="5040249" y="59309"/>
                    <a:pt x="5040249" y="132334"/>
                  </a:cubicBezTo>
                  <a:lnTo>
                    <a:pt x="5040249" y="661797"/>
                  </a:lnTo>
                  <a:cubicBezTo>
                    <a:pt x="5040249" y="734949"/>
                    <a:pt x="4980940" y="794131"/>
                    <a:pt x="4907915" y="794131"/>
                  </a:cubicBezTo>
                  <a:lnTo>
                    <a:pt x="132334" y="794131"/>
                  </a:lnTo>
                  <a:cubicBezTo>
                    <a:pt x="59309" y="794131"/>
                    <a:pt x="0" y="734822"/>
                    <a:pt x="0" y="66179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5266458" y="2433428"/>
            <a:ext cx="3413436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Morphology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69730" y="2296554"/>
            <a:ext cx="3780187" cy="595589"/>
            <a:chOff x="0" y="0"/>
            <a:chExt cx="5040249" cy="7941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40249" cy="794131"/>
            </a:xfrm>
            <a:custGeom>
              <a:avLst/>
              <a:gdLst/>
              <a:ahLst/>
              <a:cxnLst/>
              <a:rect r="r" b="b" t="t" l="l"/>
              <a:pathLst>
                <a:path h="794131" w="5040249">
                  <a:moveTo>
                    <a:pt x="0" y="132334"/>
                  </a:moveTo>
                  <a:cubicBezTo>
                    <a:pt x="0" y="59309"/>
                    <a:pt x="59309" y="0"/>
                    <a:pt x="132334" y="0"/>
                  </a:cubicBezTo>
                  <a:lnTo>
                    <a:pt x="4907915" y="0"/>
                  </a:lnTo>
                  <a:cubicBezTo>
                    <a:pt x="4981067" y="0"/>
                    <a:pt x="5040249" y="59309"/>
                    <a:pt x="5040249" y="132334"/>
                  </a:cubicBezTo>
                  <a:lnTo>
                    <a:pt x="5040249" y="661797"/>
                  </a:lnTo>
                  <a:cubicBezTo>
                    <a:pt x="5040249" y="734949"/>
                    <a:pt x="4980940" y="794131"/>
                    <a:pt x="4907915" y="794131"/>
                  </a:cubicBezTo>
                  <a:lnTo>
                    <a:pt x="132334" y="794131"/>
                  </a:lnTo>
                  <a:cubicBezTo>
                    <a:pt x="59309" y="794131"/>
                    <a:pt x="0" y="734822"/>
                    <a:pt x="0" y="66179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453105" y="2433428"/>
            <a:ext cx="3413436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Contour filtering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456387" y="2296554"/>
            <a:ext cx="3780187" cy="595589"/>
            <a:chOff x="0" y="0"/>
            <a:chExt cx="5040249" cy="79411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40249" cy="794131"/>
            </a:xfrm>
            <a:custGeom>
              <a:avLst/>
              <a:gdLst/>
              <a:ahLst/>
              <a:cxnLst/>
              <a:rect r="r" b="b" t="t" l="l"/>
              <a:pathLst>
                <a:path h="794131" w="5040249">
                  <a:moveTo>
                    <a:pt x="0" y="132334"/>
                  </a:moveTo>
                  <a:cubicBezTo>
                    <a:pt x="0" y="59309"/>
                    <a:pt x="59309" y="0"/>
                    <a:pt x="132334" y="0"/>
                  </a:cubicBezTo>
                  <a:lnTo>
                    <a:pt x="4907915" y="0"/>
                  </a:lnTo>
                  <a:cubicBezTo>
                    <a:pt x="4981067" y="0"/>
                    <a:pt x="5040249" y="59309"/>
                    <a:pt x="5040249" y="132334"/>
                  </a:cubicBezTo>
                  <a:lnTo>
                    <a:pt x="5040249" y="661797"/>
                  </a:lnTo>
                  <a:cubicBezTo>
                    <a:pt x="5040249" y="734949"/>
                    <a:pt x="4980940" y="794131"/>
                    <a:pt x="4907915" y="794131"/>
                  </a:cubicBezTo>
                  <a:lnTo>
                    <a:pt x="132334" y="794131"/>
                  </a:lnTo>
                  <a:cubicBezTo>
                    <a:pt x="59309" y="794131"/>
                    <a:pt x="0" y="734822"/>
                    <a:pt x="0" y="66179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3639762" y="2433428"/>
            <a:ext cx="3413436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Hough circle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96436" y="3092710"/>
            <a:ext cx="3780187" cy="595589"/>
            <a:chOff x="0" y="0"/>
            <a:chExt cx="5040249" cy="79411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40249" cy="794131"/>
            </a:xfrm>
            <a:custGeom>
              <a:avLst/>
              <a:gdLst/>
              <a:ahLst/>
              <a:cxnLst/>
              <a:rect r="r" b="b" t="t" l="l"/>
              <a:pathLst>
                <a:path h="794131" w="5040249">
                  <a:moveTo>
                    <a:pt x="0" y="132334"/>
                  </a:moveTo>
                  <a:cubicBezTo>
                    <a:pt x="0" y="59309"/>
                    <a:pt x="59309" y="0"/>
                    <a:pt x="132334" y="0"/>
                  </a:cubicBezTo>
                  <a:lnTo>
                    <a:pt x="4907915" y="0"/>
                  </a:lnTo>
                  <a:cubicBezTo>
                    <a:pt x="4981067" y="0"/>
                    <a:pt x="5040249" y="59309"/>
                    <a:pt x="5040249" y="132334"/>
                  </a:cubicBezTo>
                  <a:lnTo>
                    <a:pt x="5040249" y="661797"/>
                  </a:lnTo>
                  <a:cubicBezTo>
                    <a:pt x="5040249" y="734949"/>
                    <a:pt x="4980940" y="794131"/>
                    <a:pt x="4907915" y="794131"/>
                  </a:cubicBezTo>
                  <a:lnTo>
                    <a:pt x="132334" y="794131"/>
                  </a:lnTo>
                  <a:cubicBezTo>
                    <a:pt x="59309" y="794131"/>
                    <a:pt x="0" y="734822"/>
                    <a:pt x="0" y="66179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811" y="3229575"/>
            <a:ext cx="3413436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PCA deskew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083083" y="3092710"/>
            <a:ext cx="3780187" cy="595589"/>
            <a:chOff x="0" y="0"/>
            <a:chExt cx="5040249" cy="79411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40249" cy="794131"/>
            </a:xfrm>
            <a:custGeom>
              <a:avLst/>
              <a:gdLst/>
              <a:ahLst/>
              <a:cxnLst/>
              <a:rect r="r" b="b" t="t" l="l"/>
              <a:pathLst>
                <a:path h="794131" w="5040249">
                  <a:moveTo>
                    <a:pt x="0" y="132334"/>
                  </a:moveTo>
                  <a:cubicBezTo>
                    <a:pt x="0" y="59309"/>
                    <a:pt x="59309" y="0"/>
                    <a:pt x="132334" y="0"/>
                  </a:cubicBezTo>
                  <a:lnTo>
                    <a:pt x="4907915" y="0"/>
                  </a:lnTo>
                  <a:cubicBezTo>
                    <a:pt x="4981067" y="0"/>
                    <a:pt x="5040249" y="59309"/>
                    <a:pt x="5040249" y="132334"/>
                  </a:cubicBezTo>
                  <a:lnTo>
                    <a:pt x="5040249" y="661797"/>
                  </a:lnTo>
                  <a:cubicBezTo>
                    <a:pt x="5040249" y="734949"/>
                    <a:pt x="4980940" y="794131"/>
                    <a:pt x="4907915" y="794131"/>
                  </a:cubicBezTo>
                  <a:lnTo>
                    <a:pt x="132334" y="794131"/>
                  </a:lnTo>
                  <a:cubicBezTo>
                    <a:pt x="59309" y="794131"/>
                    <a:pt x="0" y="734822"/>
                    <a:pt x="0" y="66179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5266458" y="3229575"/>
            <a:ext cx="3413436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Template matching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69730" y="3092710"/>
            <a:ext cx="3780187" cy="595589"/>
            <a:chOff x="0" y="0"/>
            <a:chExt cx="5040249" cy="79411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40249" cy="794131"/>
            </a:xfrm>
            <a:custGeom>
              <a:avLst/>
              <a:gdLst/>
              <a:ahLst/>
              <a:cxnLst/>
              <a:rect r="r" b="b" t="t" l="l"/>
              <a:pathLst>
                <a:path h="794131" w="5040249">
                  <a:moveTo>
                    <a:pt x="0" y="132334"/>
                  </a:moveTo>
                  <a:cubicBezTo>
                    <a:pt x="0" y="59309"/>
                    <a:pt x="59309" y="0"/>
                    <a:pt x="132334" y="0"/>
                  </a:cubicBezTo>
                  <a:lnTo>
                    <a:pt x="4907915" y="0"/>
                  </a:lnTo>
                  <a:cubicBezTo>
                    <a:pt x="4981067" y="0"/>
                    <a:pt x="5040249" y="59309"/>
                    <a:pt x="5040249" y="132334"/>
                  </a:cubicBezTo>
                  <a:lnTo>
                    <a:pt x="5040249" y="661797"/>
                  </a:lnTo>
                  <a:cubicBezTo>
                    <a:pt x="5040249" y="734949"/>
                    <a:pt x="4980940" y="794131"/>
                    <a:pt x="4907915" y="794131"/>
                  </a:cubicBezTo>
                  <a:lnTo>
                    <a:pt x="132334" y="794131"/>
                  </a:lnTo>
                  <a:cubicBezTo>
                    <a:pt x="59309" y="794131"/>
                    <a:pt x="0" y="734822"/>
                    <a:pt x="0" y="66179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9453105" y="3229575"/>
            <a:ext cx="3413436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ORB / SIFT features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456387" y="3092710"/>
            <a:ext cx="3780187" cy="595589"/>
            <a:chOff x="0" y="0"/>
            <a:chExt cx="5040249" cy="79411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040249" cy="794131"/>
            </a:xfrm>
            <a:custGeom>
              <a:avLst/>
              <a:gdLst/>
              <a:ahLst/>
              <a:cxnLst/>
              <a:rect r="r" b="b" t="t" l="l"/>
              <a:pathLst>
                <a:path h="794131" w="5040249">
                  <a:moveTo>
                    <a:pt x="0" y="132334"/>
                  </a:moveTo>
                  <a:cubicBezTo>
                    <a:pt x="0" y="59309"/>
                    <a:pt x="59309" y="0"/>
                    <a:pt x="132334" y="0"/>
                  </a:cubicBezTo>
                  <a:lnTo>
                    <a:pt x="4907915" y="0"/>
                  </a:lnTo>
                  <a:cubicBezTo>
                    <a:pt x="4981067" y="0"/>
                    <a:pt x="5040249" y="59309"/>
                    <a:pt x="5040249" y="132334"/>
                  </a:cubicBezTo>
                  <a:lnTo>
                    <a:pt x="5040249" y="661797"/>
                  </a:lnTo>
                  <a:cubicBezTo>
                    <a:pt x="5040249" y="734949"/>
                    <a:pt x="4980940" y="794131"/>
                    <a:pt x="4907915" y="794131"/>
                  </a:cubicBezTo>
                  <a:lnTo>
                    <a:pt x="132334" y="794131"/>
                  </a:lnTo>
                  <a:cubicBezTo>
                    <a:pt x="59309" y="794131"/>
                    <a:pt x="0" y="734822"/>
                    <a:pt x="0" y="66179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3639762" y="3229575"/>
            <a:ext cx="3413436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Tesseract OCR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91664" y="4131173"/>
            <a:ext cx="10158917" cy="4887859"/>
            <a:chOff x="0" y="0"/>
            <a:chExt cx="13545223" cy="651714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545313" cy="6517132"/>
            </a:xfrm>
            <a:custGeom>
              <a:avLst/>
              <a:gdLst/>
              <a:ahLst/>
              <a:cxnLst/>
              <a:rect r="r" b="b" t="t" l="l"/>
              <a:pathLst>
                <a:path h="6517132" w="13545313">
                  <a:moveTo>
                    <a:pt x="0" y="1086231"/>
                  </a:moveTo>
                  <a:cubicBezTo>
                    <a:pt x="0" y="486283"/>
                    <a:pt x="486283" y="0"/>
                    <a:pt x="1086231" y="0"/>
                  </a:cubicBezTo>
                  <a:lnTo>
                    <a:pt x="12459081" y="0"/>
                  </a:lnTo>
                  <a:cubicBezTo>
                    <a:pt x="13059029" y="0"/>
                    <a:pt x="13545313" y="486283"/>
                    <a:pt x="13545313" y="1086231"/>
                  </a:cubicBezTo>
                  <a:lnTo>
                    <a:pt x="13545313" y="5430901"/>
                  </a:lnTo>
                  <a:cubicBezTo>
                    <a:pt x="13545313" y="6030849"/>
                    <a:pt x="13059029" y="6517132"/>
                    <a:pt x="12459081" y="6517132"/>
                  </a:cubicBezTo>
                  <a:lnTo>
                    <a:pt x="1086231" y="6517132"/>
                  </a:lnTo>
                  <a:cubicBezTo>
                    <a:pt x="486283" y="6517132"/>
                    <a:pt x="0" y="6030849"/>
                    <a:pt x="0" y="5430901"/>
                  </a:cubicBezTo>
                  <a:close/>
                </a:path>
              </a:pathLst>
            </a:custGeom>
            <a:solidFill>
              <a:srgbClr val="F8FBFF"/>
            </a:solidFill>
            <a:ln w="28597" cap="sq">
              <a:solidFill>
                <a:srgbClr val="2BA7A0"/>
              </a:solidFill>
              <a:prstDash val="dash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5490115" y="5709742"/>
            <a:ext cx="962015" cy="962015"/>
            <a:chOff x="0" y="0"/>
            <a:chExt cx="1282687" cy="128268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82700" cy="1282700"/>
            </a:xfrm>
            <a:custGeom>
              <a:avLst/>
              <a:gdLst/>
              <a:ahLst/>
              <a:cxnLst/>
              <a:rect r="r" b="b" t="t" l="l"/>
              <a:pathLst>
                <a:path h="1282700" w="1282700">
                  <a:moveTo>
                    <a:pt x="0" y="641350"/>
                  </a:moveTo>
                  <a:cubicBezTo>
                    <a:pt x="0" y="287147"/>
                    <a:pt x="287147" y="0"/>
                    <a:pt x="641350" y="0"/>
                  </a:cubicBezTo>
                  <a:cubicBezTo>
                    <a:pt x="995553" y="0"/>
                    <a:pt x="1282700" y="287147"/>
                    <a:pt x="1282700" y="641350"/>
                  </a:cubicBezTo>
                  <a:cubicBezTo>
                    <a:pt x="1282700" y="995553"/>
                    <a:pt x="995553" y="1282700"/>
                    <a:pt x="641350" y="1282700"/>
                  </a:cubicBezTo>
                  <a:cubicBezTo>
                    <a:pt x="287147" y="1282700"/>
                    <a:pt x="0" y="995553"/>
                    <a:pt x="0" y="641350"/>
                  </a:cubicBezTo>
                  <a:close/>
                </a:path>
              </a:pathLst>
            </a:custGeom>
            <a:solidFill>
              <a:srgbClr val="E5F5F3"/>
            </a:solidFill>
            <a:ln w="28597" cap="sq">
              <a:solidFill>
                <a:srgbClr val="2BA7A0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5733164" y="5841854"/>
            <a:ext cx="475917" cy="44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+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54341" y="6839712"/>
            <a:ext cx="9233564" cy="385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ADD ROTATED DISC CROPS / FAILED ORIENTATION EXAMPLES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54341" y="7361320"/>
            <a:ext cx="9233564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Main issue: rotate circular disc to consistent character orientation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1548367" y="4135936"/>
            <a:ext cx="5839196" cy="4878324"/>
            <a:chOff x="0" y="0"/>
            <a:chExt cx="7785595" cy="650443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785608" cy="6504432"/>
            </a:xfrm>
            <a:custGeom>
              <a:avLst/>
              <a:gdLst/>
              <a:ahLst/>
              <a:cxnLst/>
              <a:rect r="r" b="b" t="t" l="l"/>
              <a:pathLst>
                <a:path h="6504432" w="7785608">
                  <a:moveTo>
                    <a:pt x="0" y="1084072"/>
                  </a:moveTo>
                  <a:cubicBezTo>
                    <a:pt x="0" y="485394"/>
                    <a:pt x="485394" y="0"/>
                    <a:pt x="1084072" y="0"/>
                  </a:cubicBezTo>
                  <a:lnTo>
                    <a:pt x="6701536" y="0"/>
                  </a:lnTo>
                  <a:cubicBezTo>
                    <a:pt x="7300214" y="0"/>
                    <a:pt x="7785608" y="485394"/>
                    <a:pt x="7785608" y="1084072"/>
                  </a:cubicBezTo>
                  <a:lnTo>
                    <a:pt x="7785608" y="5420360"/>
                  </a:lnTo>
                  <a:cubicBezTo>
                    <a:pt x="7785608" y="6019038"/>
                    <a:pt x="7300214" y="6504432"/>
                    <a:pt x="6701536" y="6504432"/>
                  </a:cubicBezTo>
                  <a:lnTo>
                    <a:pt x="1084072" y="6504432"/>
                  </a:lnTo>
                  <a:cubicBezTo>
                    <a:pt x="485394" y="6504432"/>
                    <a:pt x="0" y="6019038"/>
                    <a:pt x="0" y="5420360"/>
                  </a:cubicBezTo>
                  <a:close/>
                </a:path>
              </a:pathLst>
            </a:custGeom>
            <a:solidFill>
              <a:srgbClr val="180E66"/>
            </a:solidFill>
            <a:ln w="19065" cap="sq">
              <a:solidFill>
                <a:srgbClr val="180E66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017464" y="4632484"/>
            <a:ext cx="2100758" cy="481003"/>
            <a:chOff x="0" y="0"/>
            <a:chExt cx="2801010" cy="64133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801112" cy="641350"/>
            </a:xfrm>
            <a:custGeom>
              <a:avLst/>
              <a:gdLst/>
              <a:ahLst/>
              <a:cxnLst/>
              <a:rect r="r" b="b" t="t" l="l"/>
              <a:pathLst>
                <a:path h="641350" w="2801112">
                  <a:moveTo>
                    <a:pt x="0" y="106934"/>
                  </a:moveTo>
                  <a:cubicBezTo>
                    <a:pt x="0" y="47879"/>
                    <a:pt x="47879" y="0"/>
                    <a:pt x="106934" y="0"/>
                  </a:cubicBezTo>
                  <a:lnTo>
                    <a:pt x="2694178" y="0"/>
                  </a:lnTo>
                  <a:cubicBezTo>
                    <a:pt x="2753233" y="0"/>
                    <a:pt x="2801112" y="47879"/>
                    <a:pt x="2801112" y="106934"/>
                  </a:cubicBezTo>
                  <a:lnTo>
                    <a:pt x="2801112" y="534416"/>
                  </a:lnTo>
                  <a:cubicBezTo>
                    <a:pt x="2801112" y="593471"/>
                    <a:pt x="2753233" y="641350"/>
                    <a:pt x="2694178" y="641350"/>
                  </a:cubicBezTo>
                  <a:lnTo>
                    <a:pt x="106934" y="641350"/>
                  </a:lnTo>
                  <a:cubicBezTo>
                    <a:pt x="47879" y="641350"/>
                    <a:pt x="0" y="593471"/>
                    <a:pt x="0" y="534416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024608" y="4653363"/>
            <a:ext cx="2086461" cy="384353"/>
            <a:chOff x="0" y="0"/>
            <a:chExt cx="2781948" cy="51247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781949" cy="512464"/>
            </a:xfrm>
            <a:custGeom>
              <a:avLst/>
              <a:gdLst/>
              <a:ahLst/>
              <a:cxnLst/>
              <a:rect r="r" b="b" t="t" l="l"/>
              <a:pathLst>
                <a:path h="512464" w="2781949">
                  <a:moveTo>
                    <a:pt x="0" y="0"/>
                  </a:moveTo>
                  <a:lnTo>
                    <a:pt x="2781949" y="0"/>
                  </a:lnTo>
                  <a:lnTo>
                    <a:pt x="278194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775" r="0" b="-5577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2781948" cy="5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FINAL APPROACH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2061184" y="5516613"/>
            <a:ext cx="4401760" cy="120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Gemma</a:t>
            </a:r>
          </a:p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running locally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061184" y="7155418"/>
            <a:ext cx="4319397" cy="934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DCE7FF"/>
                </a:solidFill>
                <a:latin typeface="Poppins Bold"/>
                <a:ea typeface="Poppins Bold"/>
                <a:cs typeface="Poppins Bold"/>
                <a:sym typeface="Poppins Bold"/>
              </a:rPr>
              <a:t>Input: cropped disc image</a:t>
            </a:r>
          </a:p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DCE7FF"/>
                </a:solidFill>
                <a:latin typeface="Poppins Bold"/>
                <a:ea typeface="Poppins Bold"/>
                <a:cs typeface="Poppins Bold"/>
                <a:sym typeface="Poppins Bold"/>
              </a:rPr>
              <a:t>Output: antibiotic code reading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061184" y="8363379"/>
            <a:ext cx="4319397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9FFFC0"/>
                </a:solidFill>
                <a:latin typeface="Poppins Bold"/>
                <a:ea typeface="Poppins Bold"/>
                <a:cs typeface="Poppins Bold"/>
                <a:sym typeface="Poppins Bold"/>
              </a:rPr>
              <a:t>Local inference keeps workflow offline.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42537" y="9800482"/>
            <a:ext cx="109082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2537" y="497957"/>
            <a:ext cx="7888348" cy="3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CIRCLE DETECTION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6432" y="939070"/>
            <a:ext cx="1626165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Part B: Petri-Dish and Inhibition-Zone Detection</a:t>
            </a:r>
          </a:p>
        </p:txBody>
      </p:sp>
      <p:sp>
        <p:nvSpPr>
          <p:cNvPr name="AutoShape 4" id="4"/>
          <p:cNvSpPr/>
          <p:nvPr/>
        </p:nvSpPr>
        <p:spPr>
          <a:xfrm rot="3960">
            <a:off x="896426" y="1916982"/>
            <a:ext cx="16504872" cy="0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810634" y="566595"/>
            <a:ext cx="544554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11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96436" y="2351465"/>
            <a:ext cx="4795961" cy="6168638"/>
            <a:chOff x="0" y="0"/>
            <a:chExt cx="6394615" cy="82248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94577" cy="8224901"/>
            </a:xfrm>
            <a:custGeom>
              <a:avLst/>
              <a:gdLst/>
              <a:ahLst/>
              <a:cxnLst/>
              <a:rect r="r" b="b" t="t" l="l"/>
              <a:pathLst>
                <a:path h="8224901" w="6394577">
                  <a:moveTo>
                    <a:pt x="0" y="1065784"/>
                  </a:moveTo>
                  <a:cubicBezTo>
                    <a:pt x="0" y="477139"/>
                    <a:pt x="477139" y="0"/>
                    <a:pt x="1065784" y="0"/>
                  </a:cubicBezTo>
                  <a:lnTo>
                    <a:pt x="5328793" y="0"/>
                  </a:lnTo>
                  <a:cubicBezTo>
                    <a:pt x="5917438" y="0"/>
                    <a:pt x="6394577" y="477139"/>
                    <a:pt x="6394577" y="1065784"/>
                  </a:cubicBezTo>
                  <a:lnTo>
                    <a:pt x="6394577" y="7159117"/>
                  </a:lnTo>
                  <a:cubicBezTo>
                    <a:pt x="6394577" y="7747762"/>
                    <a:pt x="5917438" y="8224901"/>
                    <a:pt x="5328793" y="8224901"/>
                  </a:cubicBezTo>
                  <a:lnTo>
                    <a:pt x="1065784" y="8224901"/>
                  </a:lnTo>
                  <a:cubicBezTo>
                    <a:pt x="477139" y="8224901"/>
                    <a:pt x="0" y="7747635"/>
                    <a:pt x="0" y="715911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70686" y="2525716"/>
            <a:ext cx="4447461" cy="5353421"/>
            <a:chOff x="0" y="0"/>
            <a:chExt cx="5929948" cy="7137895"/>
          </a:xfrm>
        </p:grpSpPr>
        <p:sp>
          <p:nvSpPr>
            <p:cNvPr name="Freeform 9" id="9" descr="s1.png"/>
            <p:cNvSpPr/>
            <p:nvPr/>
          </p:nvSpPr>
          <p:spPr>
            <a:xfrm flipH="false" flipV="false" rot="0">
              <a:off x="0" y="0"/>
              <a:ext cx="5929884" cy="7137908"/>
            </a:xfrm>
            <a:custGeom>
              <a:avLst/>
              <a:gdLst/>
              <a:ahLst/>
              <a:cxnLst/>
              <a:rect r="r" b="b" t="t" l="l"/>
              <a:pathLst>
                <a:path h="7137908" w="5929884">
                  <a:moveTo>
                    <a:pt x="0" y="0"/>
                  </a:moveTo>
                  <a:lnTo>
                    <a:pt x="5929884" y="0"/>
                  </a:lnTo>
                  <a:lnTo>
                    <a:pt x="5929884" y="7137908"/>
                  </a:lnTo>
                  <a:lnTo>
                    <a:pt x="0" y="7137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617" t="0" r="-9618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83160" y="7954347"/>
            <a:ext cx="4022503" cy="481003"/>
            <a:chOff x="0" y="0"/>
            <a:chExt cx="5363337" cy="64133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63337" cy="641350"/>
            </a:xfrm>
            <a:custGeom>
              <a:avLst/>
              <a:gdLst/>
              <a:ahLst/>
              <a:cxnLst/>
              <a:rect r="r" b="b" t="t" l="l"/>
              <a:pathLst>
                <a:path h="641350" w="5363337">
                  <a:moveTo>
                    <a:pt x="0" y="106934"/>
                  </a:moveTo>
                  <a:cubicBezTo>
                    <a:pt x="0" y="47879"/>
                    <a:pt x="47879" y="0"/>
                    <a:pt x="106934" y="0"/>
                  </a:cubicBezTo>
                  <a:lnTo>
                    <a:pt x="5256403" y="0"/>
                  </a:lnTo>
                  <a:cubicBezTo>
                    <a:pt x="5315458" y="0"/>
                    <a:pt x="5363337" y="47879"/>
                    <a:pt x="5363337" y="106934"/>
                  </a:cubicBezTo>
                  <a:lnTo>
                    <a:pt x="5363337" y="534416"/>
                  </a:lnTo>
                  <a:cubicBezTo>
                    <a:pt x="5363337" y="593471"/>
                    <a:pt x="5315458" y="641350"/>
                    <a:pt x="5256403" y="641350"/>
                  </a:cubicBezTo>
                  <a:lnTo>
                    <a:pt x="106934" y="641350"/>
                  </a:lnTo>
                  <a:cubicBezTo>
                    <a:pt x="47879" y="641350"/>
                    <a:pt x="0" y="593471"/>
                    <a:pt x="0" y="534416"/>
                  </a:cubicBezTo>
                  <a:close/>
                </a:path>
              </a:pathLst>
            </a:custGeom>
            <a:solidFill>
              <a:srgbClr val="180E66"/>
            </a:solidFill>
            <a:ln w="14299" cap="sq">
              <a:solidFill>
                <a:srgbClr val="180E6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90314" y="7975225"/>
            <a:ext cx="4008206" cy="384353"/>
            <a:chOff x="0" y="0"/>
            <a:chExt cx="5344274" cy="5124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44271" cy="512464"/>
            </a:xfrm>
            <a:custGeom>
              <a:avLst/>
              <a:gdLst/>
              <a:ahLst/>
              <a:cxnLst/>
              <a:rect r="r" b="b" t="t" l="l"/>
              <a:pathLst>
                <a:path h="512464" w="5344271">
                  <a:moveTo>
                    <a:pt x="0" y="0"/>
                  </a:moveTo>
                  <a:lnTo>
                    <a:pt x="5344271" y="0"/>
                  </a:lnTo>
                  <a:lnTo>
                    <a:pt x="5344271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200" r="0" b="-1532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5344274" cy="5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RAW IMAGE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002769" y="2351465"/>
            <a:ext cx="4795961" cy="6168638"/>
            <a:chOff x="0" y="0"/>
            <a:chExt cx="6394615" cy="82248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94577" cy="8224901"/>
            </a:xfrm>
            <a:custGeom>
              <a:avLst/>
              <a:gdLst/>
              <a:ahLst/>
              <a:cxnLst/>
              <a:rect r="r" b="b" t="t" l="l"/>
              <a:pathLst>
                <a:path h="8224901" w="6394577">
                  <a:moveTo>
                    <a:pt x="0" y="1065784"/>
                  </a:moveTo>
                  <a:cubicBezTo>
                    <a:pt x="0" y="477139"/>
                    <a:pt x="477139" y="0"/>
                    <a:pt x="1065784" y="0"/>
                  </a:cubicBezTo>
                  <a:lnTo>
                    <a:pt x="5328793" y="0"/>
                  </a:lnTo>
                  <a:cubicBezTo>
                    <a:pt x="5917438" y="0"/>
                    <a:pt x="6394577" y="477139"/>
                    <a:pt x="6394577" y="1065784"/>
                  </a:cubicBezTo>
                  <a:lnTo>
                    <a:pt x="6394577" y="7159117"/>
                  </a:lnTo>
                  <a:cubicBezTo>
                    <a:pt x="6394577" y="7747762"/>
                    <a:pt x="5917438" y="8224901"/>
                    <a:pt x="5328793" y="8224901"/>
                  </a:cubicBezTo>
                  <a:lnTo>
                    <a:pt x="1065784" y="8224901"/>
                  </a:lnTo>
                  <a:cubicBezTo>
                    <a:pt x="477139" y="8224901"/>
                    <a:pt x="0" y="7747635"/>
                    <a:pt x="0" y="715911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177029" y="2525716"/>
            <a:ext cx="4447461" cy="5353421"/>
            <a:chOff x="0" y="0"/>
            <a:chExt cx="5929948" cy="7137895"/>
          </a:xfrm>
        </p:grpSpPr>
        <p:sp>
          <p:nvSpPr>
            <p:cNvPr name="Freeform 18" id="18" descr="s1_detected.png"/>
            <p:cNvSpPr/>
            <p:nvPr/>
          </p:nvSpPr>
          <p:spPr>
            <a:xfrm flipH="false" flipV="false" rot="0">
              <a:off x="0" y="0"/>
              <a:ext cx="5929884" cy="7137908"/>
            </a:xfrm>
            <a:custGeom>
              <a:avLst/>
              <a:gdLst/>
              <a:ahLst/>
              <a:cxnLst/>
              <a:rect r="r" b="b" t="t" l="l"/>
              <a:pathLst>
                <a:path h="7137908" w="5929884">
                  <a:moveTo>
                    <a:pt x="0" y="0"/>
                  </a:moveTo>
                  <a:lnTo>
                    <a:pt x="5929884" y="0"/>
                  </a:lnTo>
                  <a:lnTo>
                    <a:pt x="5929884" y="7137908"/>
                  </a:lnTo>
                  <a:lnTo>
                    <a:pt x="0" y="7137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617" t="0" r="-9618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389503" y="7954347"/>
            <a:ext cx="4022503" cy="481003"/>
            <a:chOff x="0" y="0"/>
            <a:chExt cx="5363337" cy="6413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63337" cy="641350"/>
            </a:xfrm>
            <a:custGeom>
              <a:avLst/>
              <a:gdLst/>
              <a:ahLst/>
              <a:cxnLst/>
              <a:rect r="r" b="b" t="t" l="l"/>
              <a:pathLst>
                <a:path h="641350" w="5363337">
                  <a:moveTo>
                    <a:pt x="0" y="106934"/>
                  </a:moveTo>
                  <a:cubicBezTo>
                    <a:pt x="0" y="47879"/>
                    <a:pt x="47879" y="0"/>
                    <a:pt x="106934" y="0"/>
                  </a:cubicBezTo>
                  <a:lnTo>
                    <a:pt x="5256403" y="0"/>
                  </a:lnTo>
                  <a:cubicBezTo>
                    <a:pt x="5315458" y="0"/>
                    <a:pt x="5363337" y="47879"/>
                    <a:pt x="5363337" y="106934"/>
                  </a:cubicBezTo>
                  <a:lnTo>
                    <a:pt x="5363337" y="534416"/>
                  </a:lnTo>
                  <a:cubicBezTo>
                    <a:pt x="5363337" y="593471"/>
                    <a:pt x="5315458" y="641350"/>
                    <a:pt x="5256403" y="641350"/>
                  </a:cubicBezTo>
                  <a:lnTo>
                    <a:pt x="106934" y="641350"/>
                  </a:lnTo>
                  <a:cubicBezTo>
                    <a:pt x="47879" y="641350"/>
                    <a:pt x="0" y="593471"/>
                    <a:pt x="0" y="534416"/>
                  </a:cubicBezTo>
                  <a:close/>
                </a:path>
              </a:pathLst>
            </a:custGeom>
            <a:solidFill>
              <a:srgbClr val="180E66"/>
            </a:solidFill>
            <a:ln w="14299" cap="sq">
              <a:solidFill>
                <a:srgbClr val="180E66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396657" y="7975225"/>
            <a:ext cx="4008206" cy="384353"/>
            <a:chOff x="0" y="0"/>
            <a:chExt cx="5344274" cy="5124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44271" cy="512464"/>
            </a:xfrm>
            <a:custGeom>
              <a:avLst/>
              <a:gdLst/>
              <a:ahLst/>
              <a:cxnLst/>
              <a:rect r="r" b="b" t="t" l="l"/>
              <a:pathLst>
                <a:path h="512464" w="5344271">
                  <a:moveTo>
                    <a:pt x="0" y="0"/>
                  </a:moveTo>
                  <a:lnTo>
                    <a:pt x="5344271" y="0"/>
                  </a:lnTo>
                  <a:lnTo>
                    <a:pt x="5344271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200" r="0" b="-15320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5344274" cy="5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DETECTED CIRCLES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104350" y="2346693"/>
            <a:ext cx="6287986" cy="6178172"/>
            <a:chOff x="0" y="0"/>
            <a:chExt cx="8383981" cy="823756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384032" cy="8237601"/>
            </a:xfrm>
            <a:custGeom>
              <a:avLst/>
              <a:gdLst/>
              <a:ahLst/>
              <a:cxnLst/>
              <a:rect r="r" b="b" t="t" l="l"/>
              <a:pathLst>
                <a:path h="8237601" w="8384032">
                  <a:moveTo>
                    <a:pt x="0" y="1372997"/>
                  </a:moveTo>
                  <a:cubicBezTo>
                    <a:pt x="0" y="614680"/>
                    <a:pt x="614680" y="0"/>
                    <a:pt x="1372997" y="0"/>
                  </a:cubicBezTo>
                  <a:lnTo>
                    <a:pt x="7011035" y="0"/>
                  </a:lnTo>
                  <a:cubicBezTo>
                    <a:pt x="7769352" y="0"/>
                    <a:pt x="8384032" y="614680"/>
                    <a:pt x="8384032" y="1372997"/>
                  </a:cubicBezTo>
                  <a:lnTo>
                    <a:pt x="8384032" y="6864604"/>
                  </a:lnTo>
                  <a:cubicBezTo>
                    <a:pt x="8384032" y="7622922"/>
                    <a:pt x="7769352" y="8237601"/>
                    <a:pt x="7011035" y="8237601"/>
                  </a:cubicBezTo>
                  <a:lnTo>
                    <a:pt x="1372997" y="8237601"/>
                  </a:lnTo>
                  <a:cubicBezTo>
                    <a:pt x="614680" y="8237601"/>
                    <a:pt x="0" y="7622921"/>
                    <a:pt x="0" y="6864604"/>
                  </a:cubicBezTo>
                  <a:close/>
                </a:path>
              </a:pathLst>
            </a:custGeom>
            <a:solidFill>
              <a:srgbClr val="F8FBFF"/>
            </a:solidFill>
            <a:ln w="28597" cap="sq">
              <a:solidFill>
                <a:srgbClr val="2BA7A0"/>
              </a:solidFill>
              <a:prstDash val="dash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3767330" y="4570428"/>
            <a:ext cx="962015" cy="962015"/>
            <a:chOff x="0" y="0"/>
            <a:chExt cx="1282687" cy="128268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82700" cy="1282700"/>
            </a:xfrm>
            <a:custGeom>
              <a:avLst/>
              <a:gdLst/>
              <a:ahLst/>
              <a:cxnLst/>
              <a:rect r="r" b="b" t="t" l="l"/>
              <a:pathLst>
                <a:path h="1282700" w="1282700">
                  <a:moveTo>
                    <a:pt x="0" y="641350"/>
                  </a:moveTo>
                  <a:cubicBezTo>
                    <a:pt x="0" y="287147"/>
                    <a:pt x="287147" y="0"/>
                    <a:pt x="641350" y="0"/>
                  </a:cubicBezTo>
                  <a:cubicBezTo>
                    <a:pt x="995553" y="0"/>
                    <a:pt x="1282700" y="287147"/>
                    <a:pt x="1282700" y="641350"/>
                  </a:cubicBezTo>
                  <a:cubicBezTo>
                    <a:pt x="1282700" y="995553"/>
                    <a:pt x="995553" y="1282700"/>
                    <a:pt x="641350" y="1282700"/>
                  </a:cubicBezTo>
                  <a:cubicBezTo>
                    <a:pt x="287147" y="1282700"/>
                    <a:pt x="0" y="995553"/>
                    <a:pt x="0" y="641350"/>
                  </a:cubicBezTo>
                  <a:close/>
                </a:path>
              </a:pathLst>
            </a:custGeom>
            <a:solidFill>
              <a:srgbClr val="E5F5F3"/>
            </a:solidFill>
            <a:ln w="28597" cap="sq">
              <a:solidFill>
                <a:srgbClr val="2BA7A0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4010380" y="4702540"/>
            <a:ext cx="475917" cy="44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+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67027" y="5700389"/>
            <a:ext cx="5362632" cy="385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ADD EXTRA TEST CASE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567027" y="6222006"/>
            <a:ext cx="5362632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Use difficult plate / failed case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00798" y="8805405"/>
            <a:ext cx="2842003" cy="481003"/>
            <a:chOff x="0" y="0"/>
            <a:chExt cx="3789337" cy="64133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789426" cy="641350"/>
            </a:xfrm>
            <a:custGeom>
              <a:avLst/>
              <a:gdLst/>
              <a:ahLst/>
              <a:cxnLst/>
              <a:rect r="r" b="b" t="t" l="l"/>
              <a:pathLst>
                <a:path h="641350" w="3789426">
                  <a:moveTo>
                    <a:pt x="0" y="106934"/>
                  </a:moveTo>
                  <a:cubicBezTo>
                    <a:pt x="0" y="47879"/>
                    <a:pt x="47879" y="0"/>
                    <a:pt x="106934" y="0"/>
                  </a:cubicBezTo>
                  <a:lnTo>
                    <a:pt x="3682492" y="0"/>
                  </a:lnTo>
                  <a:cubicBezTo>
                    <a:pt x="3741547" y="0"/>
                    <a:pt x="3789426" y="47879"/>
                    <a:pt x="3789426" y="106934"/>
                  </a:cubicBezTo>
                  <a:lnTo>
                    <a:pt x="3789426" y="534416"/>
                  </a:lnTo>
                  <a:cubicBezTo>
                    <a:pt x="3789426" y="593471"/>
                    <a:pt x="3741547" y="641350"/>
                    <a:pt x="3682492" y="641350"/>
                  </a:cubicBezTo>
                  <a:lnTo>
                    <a:pt x="106934" y="641350"/>
                  </a:lnTo>
                  <a:cubicBezTo>
                    <a:pt x="47879" y="641350"/>
                    <a:pt x="0" y="593471"/>
                    <a:pt x="0" y="534416"/>
                  </a:cubicBezTo>
                  <a:close/>
                </a:path>
              </a:pathLst>
            </a:custGeom>
            <a:solidFill>
              <a:srgbClr val="2459D3"/>
            </a:solidFill>
            <a:ln w="14299" cap="sq">
              <a:solidFill>
                <a:srgbClr val="2459D3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07951" y="8826284"/>
            <a:ext cx="2827706" cy="384353"/>
            <a:chOff x="0" y="0"/>
            <a:chExt cx="3770274" cy="5124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770273" cy="512464"/>
            </a:xfrm>
            <a:custGeom>
              <a:avLst/>
              <a:gdLst/>
              <a:ahLst/>
              <a:cxnLst/>
              <a:rect r="r" b="b" t="t" l="l"/>
              <a:pathLst>
                <a:path h="512464" w="3770273">
                  <a:moveTo>
                    <a:pt x="0" y="0"/>
                  </a:moveTo>
                  <a:lnTo>
                    <a:pt x="3770273" y="0"/>
                  </a:lnTo>
                  <a:lnTo>
                    <a:pt x="377027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3353" r="0" b="-9335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3770274" cy="5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DISH BOUNDARY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357945" y="8805405"/>
            <a:ext cx="2842003" cy="481003"/>
            <a:chOff x="0" y="0"/>
            <a:chExt cx="3789337" cy="64133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789426" cy="641350"/>
            </a:xfrm>
            <a:custGeom>
              <a:avLst/>
              <a:gdLst/>
              <a:ahLst/>
              <a:cxnLst/>
              <a:rect r="r" b="b" t="t" l="l"/>
              <a:pathLst>
                <a:path h="641350" w="3789426">
                  <a:moveTo>
                    <a:pt x="0" y="106934"/>
                  </a:moveTo>
                  <a:cubicBezTo>
                    <a:pt x="0" y="47879"/>
                    <a:pt x="47879" y="0"/>
                    <a:pt x="106934" y="0"/>
                  </a:cubicBezTo>
                  <a:lnTo>
                    <a:pt x="3682492" y="0"/>
                  </a:lnTo>
                  <a:cubicBezTo>
                    <a:pt x="3741547" y="0"/>
                    <a:pt x="3789426" y="47879"/>
                    <a:pt x="3789426" y="106934"/>
                  </a:cubicBezTo>
                  <a:lnTo>
                    <a:pt x="3789426" y="534416"/>
                  </a:lnTo>
                  <a:cubicBezTo>
                    <a:pt x="3789426" y="593471"/>
                    <a:pt x="3741547" y="641350"/>
                    <a:pt x="3682492" y="641350"/>
                  </a:cubicBezTo>
                  <a:lnTo>
                    <a:pt x="106934" y="641350"/>
                  </a:lnTo>
                  <a:cubicBezTo>
                    <a:pt x="47879" y="641350"/>
                    <a:pt x="0" y="593471"/>
                    <a:pt x="0" y="534416"/>
                  </a:cubicBezTo>
                  <a:close/>
                </a:path>
              </a:pathLst>
            </a:custGeom>
            <a:solidFill>
              <a:srgbClr val="2459D3"/>
            </a:solidFill>
            <a:ln w="14299" cap="sq">
              <a:solidFill>
                <a:srgbClr val="2459D3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4365098" y="8826284"/>
            <a:ext cx="2827706" cy="384353"/>
            <a:chOff x="0" y="0"/>
            <a:chExt cx="3770274" cy="51247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770273" cy="512464"/>
            </a:xfrm>
            <a:custGeom>
              <a:avLst/>
              <a:gdLst/>
              <a:ahLst/>
              <a:cxnLst/>
              <a:rect r="r" b="b" t="t" l="l"/>
              <a:pathLst>
                <a:path h="512464" w="3770273">
                  <a:moveTo>
                    <a:pt x="0" y="0"/>
                  </a:moveTo>
                  <a:lnTo>
                    <a:pt x="3770273" y="0"/>
                  </a:lnTo>
                  <a:lnTo>
                    <a:pt x="377027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3353" r="0" b="-9335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3770274" cy="5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DISC CENTERS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515092" y="8805405"/>
            <a:ext cx="2842003" cy="481003"/>
            <a:chOff x="0" y="0"/>
            <a:chExt cx="3789337" cy="64133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789426" cy="641350"/>
            </a:xfrm>
            <a:custGeom>
              <a:avLst/>
              <a:gdLst/>
              <a:ahLst/>
              <a:cxnLst/>
              <a:rect r="r" b="b" t="t" l="l"/>
              <a:pathLst>
                <a:path h="641350" w="3789426">
                  <a:moveTo>
                    <a:pt x="0" y="106934"/>
                  </a:moveTo>
                  <a:cubicBezTo>
                    <a:pt x="0" y="47879"/>
                    <a:pt x="47879" y="0"/>
                    <a:pt x="106934" y="0"/>
                  </a:cubicBezTo>
                  <a:lnTo>
                    <a:pt x="3682492" y="0"/>
                  </a:lnTo>
                  <a:cubicBezTo>
                    <a:pt x="3741547" y="0"/>
                    <a:pt x="3789426" y="47879"/>
                    <a:pt x="3789426" y="106934"/>
                  </a:cubicBezTo>
                  <a:lnTo>
                    <a:pt x="3789426" y="534416"/>
                  </a:lnTo>
                  <a:cubicBezTo>
                    <a:pt x="3789426" y="593471"/>
                    <a:pt x="3741547" y="641350"/>
                    <a:pt x="3682492" y="641350"/>
                  </a:cubicBezTo>
                  <a:lnTo>
                    <a:pt x="106934" y="641350"/>
                  </a:lnTo>
                  <a:cubicBezTo>
                    <a:pt x="47879" y="641350"/>
                    <a:pt x="0" y="593471"/>
                    <a:pt x="0" y="534416"/>
                  </a:cubicBezTo>
                  <a:close/>
                </a:path>
              </a:pathLst>
            </a:custGeom>
            <a:solidFill>
              <a:srgbClr val="357852"/>
            </a:solidFill>
            <a:ln w="14299" cap="sq">
              <a:solidFill>
                <a:srgbClr val="357852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7522245" y="8826284"/>
            <a:ext cx="2827706" cy="384353"/>
            <a:chOff x="0" y="0"/>
            <a:chExt cx="3770274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770273" cy="512464"/>
            </a:xfrm>
            <a:custGeom>
              <a:avLst/>
              <a:gdLst/>
              <a:ahLst/>
              <a:cxnLst/>
              <a:rect r="r" b="b" t="t" l="l"/>
              <a:pathLst>
                <a:path h="512464" w="3770273">
                  <a:moveTo>
                    <a:pt x="0" y="0"/>
                  </a:moveTo>
                  <a:lnTo>
                    <a:pt x="3770273" y="0"/>
                  </a:lnTo>
                  <a:lnTo>
                    <a:pt x="377027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3353" r="0" b="-9335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3770274" cy="5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ZONE DIAMETER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942537" y="9800482"/>
            <a:ext cx="109082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2537" y="497957"/>
            <a:ext cx="7888348" cy="3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CIRCLE DETECTION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6432" y="939070"/>
            <a:ext cx="1626165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Part B: Petri-Dish and Inhibition-Zone Detection</a:t>
            </a:r>
          </a:p>
        </p:txBody>
      </p:sp>
      <p:sp>
        <p:nvSpPr>
          <p:cNvPr name="AutoShape 4" id="4"/>
          <p:cNvSpPr/>
          <p:nvPr/>
        </p:nvSpPr>
        <p:spPr>
          <a:xfrm rot="3960">
            <a:off x="896426" y="1916982"/>
            <a:ext cx="16504872" cy="0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810634" y="566595"/>
            <a:ext cx="544554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11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2537" y="9800482"/>
            <a:ext cx="109082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44382"/>
            <a:ext cx="18288000" cy="942618"/>
            <a:chOff x="0" y="0"/>
            <a:chExt cx="4816593" cy="248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48262"/>
            </a:xfrm>
            <a:custGeom>
              <a:avLst/>
              <a:gdLst/>
              <a:ahLst/>
              <a:cxnLst/>
              <a:rect r="r" b="b" t="t" l="l"/>
              <a:pathLst>
                <a:path h="2482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48262"/>
                  </a:lnTo>
                  <a:lnTo>
                    <a:pt x="0" y="248262"/>
                  </a:lnTo>
                  <a:close/>
                </a:path>
              </a:pathLst>
            </a:custGeom>
            <a:gradFill rotWithShape="true">
              <a:gsLst>
                <a:gs pos="0">
                  <a:srgbClr val="000E6B">
                    <a:alpha val="100000"/>
                  </a:srgbClr>
                </a:gs>
                <a:gs pos="100000">
                  <a:srgbClr val="0057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95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61794" y="1605828"/>
            <a:ext cx="16764412" cy="7045456"/>
          </a:xfrm>
          <a:custGeom>
            <a:avLst/>
            <a:gdLst/>
            <a:ahLst/>
            <a:cxnLst/>
            <a:rect r="r" b="b" t="t" l="l"/>
            <a:pathLst>
              <a:path h="7045456" w="16764412">
                <a:moveTo>
                  <a:pt x="0" y="0"/>
                </a:moveTo>
                <a:lnTo>
                  <a:pt x="16764412" y="0"/>
                </a:lnTo>
                <a:lnTo>
                  <a:pt x="16764412" y="7045457"/>
                </a:lnTo>
                <a:lnTo>
                  <a:pt x="0" y="70454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96733" y="280122"/>
            <a:ext cx="15295730" cy="129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78"/>
              </a:lnSpc>
              <a:spcBef>
                <a:spcPct val="0"/>
              </a:spcBef>
            </a:pPr>
            <a:r>
              <a:rPr lang="en-US" b="true" sz="7199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Bill of Materials &amp; Procurement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44382"/>
            <a:ext cx="18288000" cy="942618"/>
            <a:chOff x="0" y="0"/>
            <a:chExt cx="4816593" cy="248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48262"/>
            </a:xfrm>
            <a:custGeom>
              <a:avLst/>
              <a:gdLst/>
              <a:ahLst/>
              <a:cxnLst/>
              <a:rect r="r" b="b" t="t" l="l"/>
              <a:pathLst>
                <a:path h="2482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48262"/>
                  </a:lnTo>
                  <a:lnTo>
                    <a:pt x="0" y="248262"/>
                  </a:lnTo>
                  <a:close/>
                </a:path>
              </a:pathLst>
            </a:custGeom>
            <a:gradFill rotWithShape="true">
              <a:gsLst>
                <a:gs pos="0">
                  <a:srgbClr val="000E6B">
                    <a:alpha val="100000"/>
                  </a:srgbClr>
                </a:gs>
                <a:gs pos="100000">
                  <a:srgbClr val="0057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95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15176" y="154983"/>
            <a:ext cx="15319547" cy="87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14"/>
              </a:lnSpc>
              <a:spcBef>
                <a:spcPct val="0"/>
              </a:spcBef>
            </a:pPr>
            <a:r>
              <a:rPr lang="en-US" b="true" sz="4795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Current Progress &amp; Roadmap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8865" y="1581754"/>
            <a:ext cx="8826210" cy="421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1"/>
              </a:lnSpc>
            </a:pPr>
            <a:r>
              <a:rPr lang="en-US" sz="2792" b="true">
                <a:solidFill>
                  <a:srgbClr val="19202A"/>
                </a:solidFill>
                <a:latin typeface="Aptos Bold"/>
                <a:ea typeface="Aptos Bold"/>
                <a:cs typeface="Aptos Bold"/>
                <a:sym typeface="Aptos Bold"/>
              </a:rPr>
              <a:t>MID-TERM STATUS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11523" y="2422722"/>
            <a:ext cx="8734389" cy="694468"/>
            <a:chOff x="0" y="0"/>
            <a:chExt cx="11058679" cy="8792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58622" cy="879221"/>
            </a:xfrm>
            <a:custGeom>
              <a:avLst/>
              <a:gdLst/>
              <a:ahLst/>
              <a:cxnLst/>
              <a:rect r="r" b="b" t="t" l="l"/>
              <a:pathLst>
                <a:path h="879221" w="11058622">
                  <a:moveTo>
                    <a:pt x="0" y="146558"/>
                  </a:moveTo>
                  <a:cubicBezTo>
                    <a:pt x="0" y="65659"/>
                    <a:pt x="74010" y="0"/>
                    <a:pt x="165199" y="0"/>
                  </a:cubicBezTo>
                  <a:lnTo>
                    <a:pt x="10893423" y="0"/>
                  </a:lnTo>
                  <a:cubicBezTo>
                    <a:pt x="10984612" y="0"/>
                    <a:pt x="11058622" y="65659"/>
                    <a:pt x="11058622" y="146558"/>
                  </a:cubicBezTo>
                  <a:lnTo>
                    <a:pt x="11058622" y="732663"/>
                  </a:lnTo>
                  <a:cubicBezTo>
                    <a:pt x="11058622" y="813562"/>
                    <a:pt x="10984612" y="879221"/>
                    <a:pt x="10893423" y="879221"/>
                  </a:cubicBezTo>
                  <a:lnTo>
                    <a:pt x="165199" y="879221"/>
                  </a:lnTo>
                  <a:cubicBezTo>
                    <a:pt x="74010" y="879221"/>
                    <a:pt x="0" y="813689"/>
                    <a:pt x="0" y="73266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4E9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426989" y="2531134"/>
            <a:ext cx="2004874" cy="477634"/>
            <a:chOff x="0" y="0"/>
            <a:chExt cx="2538387" cy="6047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38400" cy="604774"/>
            </a:xfrm>
            <a:custGeom>
              <a:avLst/>
              <a:gdLst/>
              <a:ahLst/>
              <a:cxnLst/>
              <a:rect r="r" b="b" t="t" l="l"/>
              <a:pathLst>
                <a:path h="604774" w="2538400">
                  <a:moveTo>
                    <a:pt x="0" y="100838"/>
                  </a:moveTo>
                  <a:cubicBezTo>
                    <a:pt x="0" y="45085"/>
                    <a:pt x="50820" y="0"/>
                    <a:pt x="113664" y="0"/>
                  </a:cubicBezTo>
                  <a:lnTo>
                    <a:pt x="2424737" y="0"/>
                  </a:lnTo>
                  <a:cubicBezTo>
                    <a:pt x="2487438" y="0"/>
                    <a:pt x="2538400" y="45085"/>
                    <a:pt x="2538400" y="100838"/>
                  </a:cubicBezTo>
                  <a:lnTo>
                    <a:pt x="2538400" y="503936"/>
                  </a:lnTo>
                  <a:cubicBezTo>
                    <a:pt x="2538400" y="559562"/>
                    <a:pt x="2487581" y="604774"/>
                    <a:pt x="2424737" y="604774"/>
                  </a:cubicBezTo>
                  <a:lnTo>
                    <a:pt x="113664" y="604774"/>
                  </a:lnTo>
                  <a:cubicBezTo>
                    <a:pt x="50820" y="604774"/>
                    <a:pt x="0" y="559562"/>
                    <a:pt x="0" y="503936"/>
                  </a:cubicBezTo>
                  <a:close/>
                </a:path>
              </a:pathLst>
            </a:custGeom>
            <a:solidFill>
              <a:srgbClr val="357852"/>
            </a:solidFill>
            <a:ln w="14299" cap="sq">
              <a:solidFill>
                <a:srgbClr val="357852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254448" y="2586815"/>
            <a:ext cx="5893246" cy="31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81">
                <a:solidFill>
                  <a:srgbClr val="19202A"/>
                </a:solidFill>
                <a:latin typeface="Aptos"/>
                <a:ea typeface="Aptos"/>
                <a:cs typeface="Aptos"/>
                <a:sym typeface="Aptos"/>
              </a:rPr>
              <a:t>Problem &amp; system definition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09195" y="2625844"/>
            <a:ext cx="1640451" cy="23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5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COMPLETED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11523" y="3217778"/>
            <a:ext cx="8734389" cy="694468"/>
            <a:chOff x="0" y="0"/>
            <a:chExt cx="11058679" cy="8792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58622" cy="879221"/>
            </a:xfrm>
            <a:custGeom>
              <a:avLst/>
              <a:gdLst/>
              <a:ahLst/>
              <a:cxnLst/>
              <a:rect r="r" b="b" t="t" l="l"/>
              <a:pathLst>
                <a:path h="879221" w="11058622">
                  <a:moveTo>
                    <a:pt x="0" y="146558"/>
                  </a:moveTo>
                  <a:cubicBezTo>
                    <a:pt x="0" y="65659"/>
                    <a:pt x="74010" y="0"/>
                    <a:pt x="165199" y="0"/>
                  </a:cubicBezTo>
                  <a:lnTo>
                    <a:pt x="10893423" y="0"/>
                  </a:lnTo>
                  <a:cubicBezTo>
                    <a:pt x="10984612" y="0"/>
                    <a:pt x="11058622" y="65659"/>
                    <a:pt x="11058622" y="146558"/>
                  </a:cubicBezTo>
                  <a:lnTo>
                    <a:pt x="11058622" y="732663"/>
                  </a:lnTo>
                  <a:cubicBezTo>
                    <a:pt x="11058622" y="813562"/>
                    <a:pt x="10984612" y="879221"/>
                    <a:pt x="10893423" y="879221"/>
                  </a:cubicBezTo>
                  <a:lnTo>
                    <a:pt x="165199" y="879221"/>
                  </a:lnTo>
                  <a:cubicBezTo>
                    <a:pt x="74010" y="879221"/>
                    <a:pt x="0" y="813689"/>
                    <a:pt x="0" y="73266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4E9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7426989" y="3326191"/>
            <a:ext cx="2004874" cy="477634"/>
            <a:chOff x="0" y="0"/>
            <a:chExt cx="2538387" cy="6047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38400" cy="604774"/>
            </a:xfrm>
            <a:custGeom>
              <a:avLst/>
              <a:gdLst/>
              <a:ahLst/>
              <a:cxnLst/>
              <a:rect r="r" b="b" t="t" l="l"/>
              <a:pathLst>
                <a:path h="604774" w="2538400">
                  <a:moveTo>
                    <a:pt x="0" y="100838"/>
                  </a:moveTo>
                  <a:cubicBezTo>
                    <a:pt x="0" y="45085"/>
                    <a:pt x="50820" y="0"/>
                    <a:pt x="113664" y="0"/>
                  </a:cubicBezTo>
                  <a:lnTo>
                    <a:pt x="2424737" y="0"/>
                  </a:lnTo>
                  <a:cubicBezTo>
                    <a:pt x="2487438" y="0"/>
                    <a:pt x="2538400" y="45085"/>
                    <a:pt x="2538400" y="100838"/>
                  </a:cubicBezTo>
                  <a:lnTo>
                    <a:pt x="2538400" y="503936"/>
                  </a:lnTo>
                  <a:cubicBezTo>
                    <a:pt x="2538400" y="559562"/>
                    <a:pt x="2487581" y="604774"/>
                    <a:pt x="2424737" y="604774"/>
                  </a:cubicBezTo>
                  <a:lnTo>
                    <a:pt x="113664" y="604774"/>
                  </a:lnTo>
                  <a:cubicBezTo>
                    <a:pt x="50820" y="604774"/>
                    <a:pt x="0" y="559562"/>
                    <a:pt x="0" y="503936"/>
                  </a:cubicBezTo>
                  <a:close/>
                </a:path>
              </a:pathLst>
            </a:custGeom>
            <a:solidFill>
              <a:srgbClr val="357852"/>
            </a:solidFill>
            <a:ln w="14299" cap="sq">
              <a:solidFill>
                <a:srgbClr val="357852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54448" y="3381871"/>
            <a:ext cx="5893246" cy="31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81">
                <a:solidFill>
                  <a:srgbClr val="19202A"/>
                </a:solidFill>
                <a:latin typeface="Aptos"/>
                <a:ea typeface="Aptos"/>
                <a:cs typeface="Aptos"/>
                <a:sym typeface="Aptos"/>
              </a:rPr>
              <a:t>Hardware architecture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09195" y="3420901"/>
            <a:ext cx="1640451" cy="23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5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COMPLETED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11523" y="4012835"/>
            <a:ext cx="8734389" cy="694468"/>
            <a:chOff x="0" y="0"/>
            <a:chExt cx="11058679" cy="8792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58622" cy="879221"/>
            </a:xfrm>
            <a:custGeom>
              <a:avLst/>
              <a:gdLst/>
              <a:ahLst/>
              <a:cxnLst/>
              <a:rect r="r" b="b" t="t" l="l"/>
              <a:pathLst>
                <a:path h="879221" w="11058622">
                  <a:moveTo>
                    <a:pt x="0" y="146558"/>
                  </a:moveTo>
                  <a:cubicBezTo>
                    <a:pt x="0" y="65659"/>
                    <a:pt x="74010" y="0"/>
                    <a:pt x="165199" y="0"/>
                  </a:cubicBezTo>
                  <a:lnTo>
                    <a:pt x="10893423" y="0"/>
                  </a:lnTo>
                  <a:cubicBezTo>
                    <a:pt x="10984612" y="0"/>
                    <a:pt x="11058622" y="65659"/>
                    <a:pt x="11058622" y="146558"/>
                  </a:cubicBezTo>
                  <a:lnTo>
                    <a:pt x="11058622" y="732663"/>
                  </a:lnTo>
                  <a:cubicBezTo>
                    <a:pt x="11058622" y="813562"/>
                    <a:pt x="10984612" y="879221"/>
                    <a:pt x="10893423" y="879221"/>
                  </a:cubicBezTo>
                  <a:lnTo>
                    <a:pt x="165199" y="879221"/>
                  </a:lnTo>
                  <a:cubicBezTo>
                    <a:pt x="74010" y="879221"/>
                    <a:pt x="0" y="813689"/>
                    <a:pt x="0" y="73266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4E9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7426989" y="4121247"/>
            <a:ext cx="2004874" cy="477634"/>
            <a:chOff x="0" y="0"/>
            <a:chExt cx="2538387" cy="6047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38400" cy="604774"/>
            </a:xfrm>
            <a:custGeom>
              <a:avLst/>
              <a:gdLst/>
              <a:ahLst/>
              <a:cxnLst/>
              <a:rect r="r" b="b" t="t" l="l"/>
              <a:pathLst>
                <a:path h="604774" w="2538400">
                  <a:moveTo>
                    <a:pt x="0" y="100838"/>
                  </a:moveTo>
                  <a:cubicBezTo>
                    <a:pt x="0" y="45085"/>
                    <a:pt x="50820" y="0"/>
                    <a:pt x="113664" y="0"/>
                  </a:cubicBezTo>
                  <a:lnTo>
                    <a:pt x="2424737" y="0"/>
                  </a:lnTo>
                  <a:cubicBezTo>
                    <a:pt x="2487438" y="0"/>
                    <a:pt x="2538400" y="45085"/>
                    <a:pt x="2538400" y="100838"/>
                  </a:cubicBezTo>
                  <a:lnTo>
                    <a:pt x="2538400" y="503936"/>
                  </a:lnTo>
                  <a:cubicBezTo>
                    <a:pt x="2538400" y="559562"/>
                    <a:pt x="2487581" y="604774"/>
                    <a:pt x="2424737" y="604774"/>
                  </a:cubicBezTo>
                  <a:lnTo>
                    <a:pt x="113664" y="604774"/>
                  </a:lnTo>
                  <a:cubicBezTo>
                    <a:pt x="50820" y="604774"/>
                    <a:pt x="0" y="559562"/>
                    <a:pt x="0" y="503936"/>
                  </a:cubicBezTo>
                  <a:close/>
                </a:path>
              </a:pathLst>
            </a:custGeom>
            <a:solidFill>
              <a:srgbClr val="357852"/>
            </a:solidFill>
            <a:ln w="14299" cap="sq">
              <a:solidFill>
                <a:srgbClr val="357852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254448" y="4176928"/>
            <a:ext cx="5893246" cy="31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81">
                <a:solidFill>
                  <a:srgbClr val="19202A"/>
                </a:solidFill>
                <a:latin typeface="Aptos"/>
                <a:ea typeface="Aptos"/>
                <a:cs typeface="Aptos"/>
                <a:sym typeface="Aptos"/>
              </a:rPr>
              <a:t>Raspberry Pi + camera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09195" y="4215957"/>
            <a:ext cx="1640451" cy="23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5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COMPLETED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11523" y="4807891"/>
            <a:ext cx="8734389" cy="694468"/>
            <a:chOff x="0" y="0"/>
            <a:chExt cx="11058679" cy="8792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058622" cy="879221"/>
            </a:xfrm>
            <a:custGeom>
              <a:avLst/>
              <a:gdLst/>
              <a:ahLst/>
              <a:cxnLst/>
              <a:rect r="r" b="b" t="t" l="l"/>
              <a:pathLst>
                <a:path h="879221" w="11058622">
                  <a:moveTo>
                    <a:pt x="0" y="146558"/>
                  </a:moveTo>
                  <a:cubicBezTo>
                    <a:pt x="0" y="65659"/>
                    <a:pt x="74010" y="0"/>
                    <a:pt x="165199" y="0"/>
                  </a:cubicBezTo>
                  <a:lnTo>
                    <a:pt x="10893423" y="0"/>
                  </a:lnTo>
                  <a:cubicBezTo>
                    <a:pt x="10984612" y="0"/>
                    <a:pt x="11058622" y="65659"/>
                    <a:pt x="11058622" y="146558"/>
                  </a:cubicBezTo>
                  <a:lnTo>
                    <a:pt x="11058622" y="732663"/>
                  </a:lnTo>
                  <a:cubicBezTo>
                    <a:pt x="11058622" y="813562"/>
                    <a:pt x="10984612" y="879221"/>
                    <a:pt x="10893423" y="879221"/>
                  </a:cubicBezTo>
                  <a:lnTo>
                    <a:pt x="165199" y="879221"/>
                  </a:lnTo>
                  <a:cubicBezTo>
                    <a:pt x="74010" y="879221"/>
                    <a:pt x="0" y="813689"/>
                    <a:pt x="0" y="73266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4E9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7426989" y="4916304"/>
            <a:ext cx="2004874" cy="477634"/>
            <a:chOff x="0" y="0"/>
            <a:chExt cx="2538387" cy="6047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38476" cy="604774"/>
            </a:xfrm>
            <a:custGeom>
              <a:avLst/>
              <a:gdLst/>
              <a:ahLst/>
              <a:cxnLst/>
              <a:rect r="r" b="b" t="t" l="l"/>
              <a:pathLst>
                <a:path h="604774" w="2538476">
                  <a:moveTo>
                    <a:pt x="0" y="100838"/>
                  </a:moveTo>
                  <a:cubicBezTo>
                    <a:pt x="0" y="45085"/>
                    <a:pt x="45963" y="0"/>
                    <a:pt x="102803" y="0"/>
                  </a:cubicBezTo>
                  <a:lnTo>
                    <a:pt x="2435675" y="0"/>
                  </a:lnTo>
                  <a:cubicBezTo>
                    <a:pt x="2492384" y="0"/>
                    <a:pt x="2538476" y="45085"/>
                    <a:pt x="2538476" y="100838"/>
                  </a:cubicBezTo>
                  <a:lnTo>
                    <a:pt x="2538476" y="503936"/>
                  </a:lnTo>
                  <a:cubicBezTo>
                    <a:pt x="2538476" y="559562"/>
                    <a:pt x="2492514" y="604774"/>
                    <a:pt x="2435675" y="604774"/>
                  </a:cubicBezTo>
                  <a:lnTo>
                    <a:pt x="102803" y="604774"/>
                  </a:lnTo>
                  <a:cubicBezTo>
                    <a:pt x="45963" y="604774"/>
                    <a:pt x="0" y="559562"/>
                    <a:pt x="0" y="503936"/>
                  </a:cubicBezTo>
                  <a:close/>
                </a:path>
              </a:pathLst>
            </a:custGeom>
            <a:solidFill>
              <a:srgbClr val="C48723"/>
            </a:solidFill>
            <a:ln w="14299" cap="sq">
              <a:solidFill>
                <a:srgbClr val="C48723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254448" y="4971984"/>
            <a:ext cx="5893246" cy="31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81">
                <a:solidFill>
                  <a:srgbClr val="19202A"/>
                </a:solidFill>
                <a:latin typeface="Aptos"/>
                <a:ea typeface="Aptos"/>
                <a:cs typeface="Aptos"/>
                <a:sym typeface="Aptos"/>
              </a:rPr>
              <a:t>Computer vision pipeline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609195" y="5011014"/>
            <a:ext cx="1852280" cy="23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5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IN PROGRESS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811523" y="5602948"/>
            <a:ext cx="8734389" cy="694468"/>
            <a:chOff x="0" y="0"/>
            <a:chExt cx="11058679" cy="87927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58622" cy="879221"/>
            </a:xfrm>
            <a:custGeom>
              <a:avLst/>
              <a:gdLst/>
              <a:ahLst/>
              <a:cxnLst/>
              <a:rect r="r" b="b" t="t" l="l"/>
              <a:pathLst>
                <a:path h="879221" w="11058622">
                  <a:moveTo>
                    <a:pt x="0" y="146558"/>
                  </a:moveTo>
                  <a:cubicBezTo>
                    <a:pt x="0" y="65659"/>
                    <a:pt x="74010" y="0"/>
                    <a:pt x="165199" y="0"/>
                  </a:cubicBezTo>
                  <a:lnTo>
                    <a:pt x="10893423" y="0"/>
                  </a:lnTo>
                  <a:cubicBezTo>
                    <a:pt x="10984612" y="0"/>
                    <a:pt x="11058622" y="65659"/>
                    <a:pt x="11058622" y="146558"/>
                  </a:cubicBezTo>
                  <a:lnTo>
                    <a:pt x="11058622" y="732663"/>
                  </a:lnTo>
                  <a:cubicBezTo>
                    <a:pt x="11058622" y="813562"/>
                    <a:pt x="10984612" y="879221"/>
                    <a:pt x="10893423" y="879221"/>
                  </a:cubicBezTo>
                  <a:lnTo>
                    <a:pt x="165199" y="879221"/>
                  </a:lnTo>
                  <a:cubicBezTo>
                    <a:pt x="74010" y="879221"/>
                    <a:pt x="0" y="813689"/>
                    <a:pt x="0" y="73266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4E9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7426989" y="5711360"/>
            <a:ext cx="2034486" cy="438374"/>
            <a:chOff x="0" y="0"/>
            <a:chExt cx="2806571" cy="6047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806660" cy="604774"/>
            </a:xfrm>
            <a:custGeom>
              <a:avLst/>
              <a:gdLst/>
              <a:ahLst/>
              <a:cxnLst/>
              <a:rect r="r" b="b" t="t" l="l"/>
              <a:pathLst>
                <a:path h="604774" w="2806660">
                  <a:moveTo>
                    <a:pt x="0" y="100838"/>
                  </a:moveTo>
                  <a:cubicBezTo>
                    <a:pt x="0" y="45085"/>
                    <a:pt x="50820" y="0"/>
                    <a:pt x="113664" y="0"/>
                  </a:cubicBezTo>
                  <a:lnTo>
                    <a:pt x="2693007" y="0"/>
                  </a:lnTo>
                  <a:cubicBezTo>
                    <a:pt x="2755708" y="0"/>
                    <a:pt x="2806660" y="45085"/>
                    <a:pt x="2806660" y="100838"/>
                  </a:cubicBezTo>
                  <a:lnTo>
                    <a:pt x="2806660" y="503936"/>
                  </a:lnTo>
                  <a:cubicBezTo>
                    <a:pt x="2806660" y="559562"/>
                    <a:pt x="2755851" y="604774"/>
                    <a:pt x="2693007" y="604774"/>
                  </a:cubicBezTo>
                  <a:lnTo>
                    <a:pt x="113664" y="604774"/>
                  </a:lnTo>
                  <a:cubicBezTo>
                    <a:pt x="50820" y="604774"/>
                    <a:pt x="0" y="559562"/>
                    <a:pt x="0" y="503936"/>
                  </a:cubicBezTo>
                  <a:close/>
                </a:path>
              </a:pathLst>
            </a:custGeom>
            <a:solidFill>
              <a:srgbClr val="C48723"/>
            </a:solidFill>
            <a:ln w="14299" cap="sq">
              <a:solidFill>
                <a:srgbClr val="C48723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254448" y="5767041"/>
            <a:ext cx="5893246" cy="31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81">
                <a:solidFill>
                  <a:srgbClr val="19202A"/>
                </a:solidFill>
                <a:latin typeface="Aptos"/>
                <a:ea typeface="Aptos"/>
                <a:cs typeface="Aptos"/>
                <a:sym typeface="Aptos"/>
              </a:rPr>
              <a:t>ESP32 + Zephyr RTOS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609195" y="5806071"/>
            <a:ext cx="1852280" cy="23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5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IN PROGRESS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11523" y="6398005"/>
            <a:ext cx="8734389" cy="694468"/>
            <a:chOff x="0" y="0"/>
            <a:chExt cx="11058679" cy="87927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058622" cy="879221"/>
            </a:xfrm>
            <a:custGeom>
              <a:avLst/>
              <a:gdLst/>
              <a:ahLst/>
              <a:cxnLst/>
              <a:rect r="r" b="b" t="t" l="l"/>
              <a:pathLst>
                <a:path h="879221" w="11058622">
                  <a:moveTo>
                    <a:pt x="0" y="146558"/>
                  </a:moveTo>
                  <a:cubicBezTo>
                    <a:pt x="0" y="65659"/>
                    <a:pt x="74010" y="0"/>
                    <a:pt x="165199" y="0"/>
                  </a:cubicBezTo>
                  <a:lnTo>
                    <a:pt x="10893423" y="0"/>
                  </a:lnTo>
                  <a:cubicBezTo>
                    <a:pt x="10984612" y="0"/>
                    <a:pt x="11058622" y="65659"/>
                    <a:pt x="11058622" y="146558"/>
                  </a:cubicBezTo>
                  <a:lnTo>
                    <a:pt x="11058622" y="732663"/>
                  </a:lnTo>
                  <a:cubicBezTo>
                    <a:pt x="11058622" y="813562"/>
                    <a:pt x="10984612" y="879221"/>
                    <a:pt x="10893423" y="879221"/>
                  </a:cubicBezTo>
                  <a:lnTo>
                    <a:pt x="165199" y="879221"/>
                  </a:lnTo>
                  <a:cubicBezTo>
                    <a:pt x="74010" y="879221"/>
                    <a:pt x="0" y="813689"/>
                    <a:pt x="0" y="73266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4E9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7426989" y="6506417"/>
            <a:ext cx="1994795" cy="429821"/>
            <a:chOff x="0" y="0"/>
            <a:chExt cx="2806571" cy="60473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806660" cy="604774"/>
            </a:xfrm>
            <a:custGeom>
              <a:avLst/>
              <a:gdLst/>
              <a:ahLst/>
              <a:cxnLst/>
              <a:rect r="r" b="b" t="t" l="l"/>
              <a:pathLst>
                <a:path h="604774" w="2806660">
                  <a:moveTo>
                    <a:pt x="0" y="100838"/>
                  </a:moveTo>
                  <a:cubicBezTo>
                    <a:pt x="0" y="45085"/>
                    <a:pt x="50820" y="0"/>
                    <a:pt x="113664" y="0"/>
                  </a:cubicBezTo>
                  <a:lnTo>
                    <a:pt x="2693007" y="0"/>
                  </a:lnTo>
                  <a:cubicBezTo>
                    <a:pt x="2755708" y="0"/>
                    <a:pt x="2806660" y="45085"/>
                    <a:pt x="2806660" y="100838"/>
                  </a:cubicBezTo>
                  <a:lnTo>
                    <a:pt x="2806660" y="503936"/>
                  </a:lnTo>
                  <a:cubicBezTo>
                    <a:pt x="2806660" y="559562"/>
                    <a:pt x="2755851" y="604774"/>
                    <a:pt x="2693007" y="604774"/>
                  </a:cubicBezTo>
                  <a:lnTo>
                    <a:pt x="113664" y="604774"/>
                  </a:lnTo>
                  <a:cubicBezTo>
                    <a:pt x="50820" y="604774"/>
                    <a:pt x="0" y="559562"/>
                    <a:pt x="0" y="503936"/>
                  </a:cubicBezTo>
                  <a:close/>
                </a:path>
              </a:pathLst>
            </a:custGeom>
            <a:solidFill>
              <a:srgbClr val="C48723"/>
            </a:solidFill>
            <a:ln w="14299" cap="sq">
              <a:solidFill>
                <a:srgbClr val="C48723"/>
              </a:solidFill>
              <a:prstDash val="solid"/>
              <a:miter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1254448" y="6562098"/>
            <a:ext cx="5893246" cy="31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81">
                <a:solidFill>
                  <a:srgbClr val="19202A"/>
                </a:solidFill>
                <a:latin typeface="Aptos"/>
                <a:ea typeface="Aptos"/>
                <a:cs typeface="Aptos"/>
                <a:sym typeface="Aptos"/>
              </a:rPr>
              <a:t>Manipulator procurement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609195" y="6601127"/>
            <a:ext cx="1852280" cy="23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5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IN PROGRESS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811523" y="7193051"/>
            <a:ext cx="8734389" cy="694468"/>
            <a:chOff x="0" y="0"/>
            <a:chExt cx="11058679" cy="87927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058622" cy="879221"/>
            </a:xfrm>
            <a:custGeom>
              <a:avLst/>
              <a:gdLst/>
              <a:ahLst/>
              <a:cxnLst/>
              <a:rect r="r" b="b" t="t" l="l"/>
              <a:pathLst>
                <a:path h="879221" w="11058622">
                  <a:moveTo>
                    <a:pt x="0" y="146558"/>
                  </a:moveTo>
                  <a:cubicBezTo>
                    <a:pt x="0" y="65659"/>
                    <a:pt x="74010" y="0"/>
                    <a:pt x="165199" y="0"/>
                  </a:cubicBezTo>
                  <a:lnTo>
                    <a:pt x="10893423" y="0"/>
                  </a:lnTo>
                  <a:cubicBezTo>
                    <a:pt x="10984612" y="0"/>
                    <a:pt x="11058622" y="65659"/>
                    <a:pt x="11058622" y="146558"/>
                  </a:cubicBezTo>
                  <a:lnTo>
                    <a:pt x="11058622" y="732663"/>
                  </a:lnTo>
                  <a:cubicBezTo>
                    <a:pt x="11058622" y="813562"/>
                    <a:pt x="10984612" y="879221"/>
                    <a:pt x="10893423" y="879221"/>
                  </a:cubicBezTo>
                  <a:lnTo>
                    <a:pt x="165199" y="879221"/>
                  </a:lnTo>
                  <a:cubicBezTo>
                    <a:pt x="74010" y="879221"/>
                    <a:pt x="0" y="813689"/>
                    <a:pt x="0" y="73266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4E9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7426989" y="7301473"/>
            <a:ext cx="2034486" cy="438374"/>
            <a:chOff x="0" y="0"/>
            <a:chExt cx="2806571" cy="60473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806660" cy="604774"/>
            </a:xfrm>
            <a:custGeom>
              <a:avLst/>
              <a:gdLst/>
              <a:ahLst/>
              <a:cxnLst/>
              <a:rect r="r" b="b" t="t" l="l"/>
              <a:pathLst>
                <a:path h="604774" w="2806660">
                  <a:moveTo>
                    <a:pt x="0" y="100838"/>
                  </a:moveTo>
                  <a:cubicBezTo>
                    <a:pt x="0" y="45085"/>
                    <a:pt x="50820" y="0"/>
                    <a:pt x="113664" y="0"/>
                  </a:cubicBezTo>
                  <a:lnTo>
                    <a:pt x="2693007" y="0"/>
                  </a:lnTo>
                  <a:cubicBezTo>
                    <a:pt x="2755708" y="0"/>
                    <a:pt x="2806660" y="45085"/>
                    <a:pt x="2806660" y="100838"/>
                  </a:cubicBezTo>
                  <a:lnTo>
                    <a:pt x="2806660" y="503936"/>
                  </a:lnTo>
                  <a:cubicBezTo>
                    <a:pt x="2806660" y="559562"/>
                    <a:pt x="2755851" y="604774"/>
                    <a:pt x="2693007" y="604774"/>
                  </a:cubicBezTo>
                  <a:lnTo>
                    <a:pt x="113664" y="604774"/>
                  </a:lnTo>
                  <a:cubicBezTo>
                    <a:pt x="50820" y="604774"/>
                    <a:pt x="0" y="559562"/>
                    <a:pt x="0" y="503936"/>
                  </a:cubicBezTo>
                  <a:close/>
                </a:path>
              </a:pathLst>
            </a:custGeom>
            <a:solidFill>
              <a:srgbClr val="C48723"/>
            </a:solidFill>
            <a:ln w="14299" cap="sq">
              <a:solidFill>
                <a:srgbClr val="C48723"/>
              </a:solidFill>
              <a:prstDash val="solid"/>
              <a:miter/>
            </a:ln>
          </p:spPr>
        </p:sp>
      </p:grpSp>
      <p:sp>
        <p:nvSpPr>
          <p:cNvPr name="TextBox 47" id="47"/>
          <p:cNvSpPr txBox="true"/>
          <p:nvPr/>
        </p:nvSpPr>
        <p:spPr>
          <a:xfrm rot="0">
            <a:off x="1254448" y="7357144"/>
            <a:ext cx="5893246" cy="31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81">
                <a:solidFill>
                  <a:srgbClr val="19202A"/>
                </a:solidFill>
                <a:latin typeface="Aptos"/>
                <a:ea typeface="Aptos"/>
                <a:cs typeface="Aptos"/>
                <a:sym typeface="Aptos"/>
              </a:rPr>
              <a:t>Gazebo simulation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609195" y="7396184"/>
            <a:ext cx="1852280" cy="23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5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IN PROGRESS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811523" y="7988108"/>
            <a:ext cx="8734389" cy="694468"/>
            <a:chOff x="0" y="0"/>
            <a:chExt cx="11058679" cy="87927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058622" cy="879221"/>
            </a:xfrm>
            <a:custGeom>
              <a:avLst/>
              <a:gdLst/>
              <a:ahLst/>
              <a:cxnLst/>
              <a:rect r="r" b="b" t="t" l="l"/>
              <a:pathLst>
                <a:path h="879221" w="11058622">
                  <a:moveTo>
                    <a:pt x="0" y="146558"/>
                  </a:moveTo>
                  <a:cubicBezTo>
                    <a:pt x="0" y="65659"/>
                    <a:pt x="74010" y="0"/>
                    <a:pt x="165199" y="0"/>
                  </a:cubicBezTo>
                  <a:lnTo>
                    <a:pt x="10893423" y="0"/>
                  </a:lnTo>
                  <a:cubicBezTo>
                    <a:pt x="10984612" y="0"/>
                    <a:pt x="11058622" y="65659"/>
                    <a:pt x="11058622" y="146558"/>
                  </a:cubicBezTo>
                  <a:lnTo>
                    <a:pt x="11058622" y="732663"/>
                  </a:lnTo>
                  <a:cubicBezTo>
                    <a:pt x="11058622" y="813562"/>
                    <a:pt x="10984612" y="879221"/>
                    <a:pt x="10893423" y="879221"/>
                  </a:cubicBezTo>
                  <a:lnTo>
                    <a:pt x="165199" y="879221"/>
                  </a:lnTo>
                  <a:cubicBezTo>
                    <a:pt x="74010" y="879221"/>
                    <a:pt x="0" y="813689"/>
                    <a:pt x="0" y="73266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4E9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7426989" y="8096530"/>
            <a:ext cx="1727862" cy="477634"/>
            <a:chOff x="0" y="0"/>
            <a:chExt cx="2187660" cy="60473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87673" cy="604774"/>
            </a:xfrm>
            <a:custGeom>
              <a:avLst/>
              <a:gdLst/>
              <a:ahLst/>
              <a:cxnLst/>
              <a:rect r="r" b="b" t="t" l="l"/>
              <a:pathLst>
                <a:path h="604774" w="2187673">
                  <a:moveTo>
                    <a:pt x="0" y="100838"/>
                  </a:moveTo>
                  <a:cubicBezTo>
                    <a:pt x="0" y="45085"/>
                    <a:pt x="50820" y="0"/>
                    <a:pt x="113664" y="0"/>
                  </a:cubicBezTo>
                  <a:lnTo>
                    <a:pt x="2074011" y="0"/>
                  </a:lnTo>
                  <a:cubicBezTo>
                    <a:pt x="2136712" y="0"/>
                    <a:pt x="2187673" y="45085"/>
                    <a:pt x="2187673" y="100838"/>
                  </a:cubicBezTo>
                  <a:lnTo>
                    <a:pt x="2187673" y="503936"/>
                  </a:lnTo>
                  <a:cubicBezTo>
                    <a:pt x="2187673" y="559562"/>
                    <a:pt x="2136855" y="604774"/>
                    <a:pt x="2074011" y="604774"/>
                  </a:cubicBezTo>
                  <a:lnTo>
                    <a:pt x="113664" y="604774"/>
                  </a:lnTo>
                  <a:cubicBezTo>
                    <a:pt x="50820" y="604774"/>
                    <a:pt x="0" y="559562"/>
                    <a:pt x="0" y="503936"/>
                  </a:cubicBezTo>
                  <a:close/>
                </a:path>
              </a:pathLst>
            </a:custGeom>
            <a:solidFill>
              <a:srgbClr val="828A92"/>
            </a:solidFill>
            <a:ln w="14299" cap="sq">
              <a:solidFill>
                <a:srgbClr val="828A92"/>
              </a:solidFill>
              <a:prstDash val="solid"/>
              <a:miter/>
            </a:ln>
          </p:spPr>
        </p:sp>
      </p:grpSp>
      <p:sp>
        <p:nvSpPr>
          <p:cNvPr name="TextBox 53" id="53"/>
          <p:cNvSpPr txBox="true"/>
          <p:nvPr/>
        </p:nvSpPr>
        <p:spPr>
          <a:xfrm rot="0">
            <a:off x="1254448" y="8152201"/>
            <a:ext cx="5893246" cy="31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81">
                <a:solidFill>
                  <a:srgbClr val="19202A"/>
                </a:solidFill>
                <a:latin typeface="Aptos"/>
                <a:ea typeface="Aptos"/>
                <a:cs typeface="Aptos"/>
                <a:sym typeface="Aptos"/>
              </a:rPr>
              <a:t>Autonomous pick &amp; place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609195" y="8191230"/>
            <a:ext cx="1363451" cy="23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5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UPCOMING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259064" y="1912258"/>
            <a:ext cx="777391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9202A"/>
                </a:solidFill>
                <a:latin typeface="Aptos Bold"/>
                <a:ea typeface="Aptos Bold"/>
                <a:cs typeface="Aptos Bold"/>
                <a:sym typeface="Aptos Bold"/>
              </a:rPr>
              <a:t>NEXT PHASE ROADMAP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1694521" y="2648960"/>
            <a:ext cx="51061" cy="5422059"/>
            <a:chOff x="0" y="0"/>
            <a:chExt cx="68081" cy="722941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8027" cy="7229348"/>
            </a:xfrm>
            <a:custGeom>
              <a:avLst/>
              <a:gdLst/>
              <a:ahLst/>
              <a:cxnLst/>
              <a:rect r="r" b="b" t="t" l="l"/>
              <a:pathLst>
                <a:path h="7229348" w="68027">
                  <a:moveTo>
                    <a:pt x="0" y="0"/>
                  </a:moveTo>
                  <a:lnTo>
                    <a:pt x="68027" y="0"/>
                  </a:lnTo>
                  <a:lnTo>
                    <a:pt x="68027" y="7229348"/>
                  </a:lnTo>
                  <a:lnTo>
                    <a:pt x="0" y="7229348"/>
                  </a:lnTo>
                  <a:close/>
                </a:path>
              </a:pathLst>
            </a:custGeom>
            <a:solidFill>
              <a:srgbClr val="B4B9C1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382198" y="2504551"/>
            <a:ext cx="656931" cy="645728"/>
            <a:chOff x="0" y="0"/>
            <a:chExt cx="875907" cy="86097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75996" cy="861060"/>
            </a:xfrm>
            <a:custGeom>
              <a:avLst/>
              <a:gdLst/>
              <a:ahLst/>
              <a:cxnLst/>
              <a:rect r="r" b="b" t="t" l="l"/>
              <a:pathLst>
                <a:path h="861060" w="875996">
                  <a:moveTo>
                    <a:pt x="0" y="430530"/>
                  </a:moveTo>
                  <a:cubicBezTo>
                    <a:pt x="0" y="192786"/>
                    <a:pt x="196131" y="0"/>
                    <a:pt x="437999" y="0"/>
                  </a:cubicBezTo>
                  <a:cubicBezTo>
                    <a:pt x="679867" y="0"/>
                    <a:pt x="875996" y="192786"/>
                    <a:pt x="875996" y="430530"/>
                  </a:cubicBezTo>
                  <a:cubicBezTo>
                    <a:pt x="875996" y="668274"/>
                    <a:pt x="679867" y="861060"/>
                    <a:pt x="437999" y="861060"/>
                  </a:cubicBezTo>
                  <a:cubicBezTo>
                    <a:pt x="196131" y="861060"/>
                    <a:pt x="0" y="668274"/>
                    <a:pt x="0" y="430530"/>
                  </a:cubicBezTo>
                  <a:close/>
                </a:path>
              </a:pathLst>
            </a:custGeom>
            <a:solidFill>
              <a:srgbClr val="222A35"/>
            </a:solidFill>
            <a:ln w="14299" cap="sq">
              <a:solidFill>
                <a:srgbClr val="222A35"/>
              </a:solidFill>
              <a:prstDash val="solid"/>
              <a:miter/>
            </a:ln>
          </p:spPr>
        </p:sp>
      </p:grpSp>
      <p:sp>
        <p:nvSpPr>
          <p:cNvPr name="TextBox 60" id="60"/>
          <p:cNvSpPr txBox="true"/>
          <p:nvPr/>
        </p:nvSpPr>
        <p:spPr>
          <a:xfrm rot="0">
            <a:off x="11559306" y="2694680"/>
            <a:ext cx="302713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418143" y="2550557"/>
            <a:ext cx="616795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19202A"/>
                </a:solidFill>
                <a:latin typeface="Aptos Bold"/>
                <a:ea typeface="Aptos Bold"/>
                <a:cs typeface="Aptos Bold"/>
                <a:sym typeface="Aptos Bold"/>
              </a:rPr>
              <a:t>Finalize manipulator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418143" y="2918517"/>
            <a:ext cx="637743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B6573"/>
                </a:solidFill>
                <a:latin typeface="Aptos"/>
                <a:ea typeface="Aptos"/>
                <a:cs typeface="Aptos"/>
                <a:sym typeface="Aptos"/>
              </a:rPr>
              <a:t>Procurement + end-effector integration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1382198" y="3506600"/>
            <a:ext cx="656931" cy="645728"/>
            <a:chOff x="0" y="0"/>
            <a:chExt cx="875907" cy="86097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75996" cy="861060"/>
            </a:xfrm>
            <a:custGeom>
              <a:avLst/>
              <a:gdLst/>
              <a:ahLst/>
              <a:cxnLst/>
              <a:rect r="r" b="b" t="t" l="l"/>
              <a:pathLst>
                <a:path h="861060" w="875996">
                  <a:moveTo>
                    <a:pt x="0" y="430530"/>
                  </a:moveTo>
                  <a:cubicBezTo>
                    <a:pt x="0" y="192786"/>
                    <a:pt x="196131" y="0"/>
                    <a:pt x="437999" y="0"/>
                  </a:cubicBezTo>
                  <a:cubicBezTo>
                    <a:pt x="679867" y="0"/>
                    <a:pt x="875996" y="192786"/>
                    <a:pt x="875996" y="430530"/>
                  </a:cubicBezTo>
                  <a:cubicBezTo>
                    <a:pt x="875996" y="668274"/>
                    <a:pt x="679867" y="861060"/>
                    <a:pt x="437999" y="861060"/>
                  </a:cubicBezTo>
                  <a:cubicBezTo>
                    <a:pt x="196131" y="861060"/>
                    <a:pt x="0" y="668274"/>
                    <a:pt x="0" y="430530"/>
                  </a:cubicBezTo>
                  <a:close/>
                </a:path>
              </a:pathLst>
            </a:custGeom>
            <a:solidFill>
              <a:srgbClr val="222A35"/>
            </a:solidFill>
            <a:ln w="14299" cap="sq">
              <a:solidFill>
                <a:srgbClr val="222A35"/>
              </a:solidFill>
              <a:prstDash val="solid"/>
              <a:miter/>
            </a:ln>
          </p:spPr>
        </p:sp>
      </p:grpSp>
      <p:sp>
        <p:nvSpPr>
          <p:cNvPr name="TextBox 65" id="65"/>
          <p:cNvSpPr txBox="true"/>
          <p:nvPr/>
        </p:nvSpPr>
        <p:spPr>
          <a:xfrm rot="0">
            <a:off x="11559306" y="3696738"/>
            <a:ext cx="302713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418143" y="3552606"/>
            <a:ext cx="616795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19202A"/>
                </a:solidFill>
                <a:latin typeface="Aptos Bold"/>
                <a:ea typeface="Aptos Bold"/>
                <a:cs typeface="Aptos Bold"/>
                <a:sym typeface="Aptos Bold"/>
              </a:rPr>
              <a:t>Complete perception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2418143" y="3920566"/>
            <a:ext cx="637743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B6573"/>
                </a:solidFill>
                <a:latin typeface="Aptos"/>
                <a:ea typeface="Aptos"/>
                <a:cs typeface="Aptos"/>
                <a:sym typeface="Aptos"/>
              </a:rPr>
              <a:t>Dish localization + feature detection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11382198" y="4508649"/>
            <a:ext cx="656931" cy="645728"/>
            <a:chOff x="0" y="0"/>
            <a:chExt cx="875907" cy="86097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75996" cy="861060"/>
            </a:xfrm>
            <a:custGeom>
              <a:avLst/>
              <a:gdLst/>
              <a:ahLst/>
              <a:cxnLst/>
              <a:rect r="r" b="b" t="t" l="l"/>
              <a:pathLst>
                <a:path h="861060" w="875996">
                  <a:moveTo>
                    <a:pt x="0" y="430530"/>
                  </a:moveTo>
                  <a:cubicBezTo>
                    <a:pt x="0" y="192786"/>
                    <a:pt x="196131" y="0"/>
                    <a:pt x="437999" y="0"/>
                  </a:cubicBezTo>
                  <a:cubicBezTo>
                    <a:pt x="679867" y="0"/>
                    <a:pt x="875996" y="192786"/>
                    <a:pt x="875996" y="430530"/>
                  </a:cubicBezTo>
                  <a:cubicBezTo>
                    <a:pt x="875996" y="668274"/>
                    <a:pt x="679867" y="861060"/>
                    <a:pt x="437999" y="861060"/>
                  </a:cubicBezTo>
                  <a:cubicBezTo>
                    <a:pt x="196131" y="861060"/>
                    <a:pt x="0" y="668274"/>
                    <a:pt x="0" y="430530"/>
                  </a:cubicBezTo>
                  <a:close/>
                </a:path>
              </a:pathLst>
            </a:custGeom>
            <a:solidFill>
              <a:srgbClr val="222A35"/>
            </a:solidFill>
            <a:ln w="14299" cap="sq">
              <a:solidFill>
                <a:srgbClr val="222A35"/>
              </a:solidFill>
              <a:prstDash val="solid"/>
              <a:miter/>
            </a:ln>
          </p:spPr>
        </p:sp>
      </p:grpSp>
      <p:sp>
        <p:nvSpPr>
          <p:cNvPr name="TextBox 70" id="70"/>
          <p:cNvSpPr txBox="true"/>
          <p:nvPr/>
        </p:nvSpPr>
        <p:spPr>
          <a:xfrm rot="0">
            <a:off x="11559306" y="4698787"/>
            <a:ext cx="302713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2418143" y="4554655"/>
            <a:ext cx="616795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19202A"/>
                </a:solidFill>
                <a:latin typeface="Aptos Bold"/>
                <a:ea typeface="Aptos Bold"/>
                <a:cs typeface="Aptos Bold"/>
                <a:sym typeface="Aptos Bold"/>
              </a:rPr>
              <a:t>Implement robot control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2418143" y="4922615"/>
            <a:ext cx="637743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B6573"/>
                </a:solidFill>
                <a:latin typeface="Aptos"/>
                <a:ea typeface="Aptos"/>
                <a:cs typeface="Aptos"/>
                <a:sym typeface="Aptos"/>
              </a:rPr>
              <a:t>ESP32 / Zephyr + motor interface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1382198" y="5510698"/>
            <a:ext cx="656931" cy="645728"/>
            <a:chOff x="0" y="0"/>
            <a:chExt cx="875907" cy="86097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75996" cy="861060"/>
            </a:xfrm>
            <a:custGeom>
              <a:avLst/>
              <a:gdLst/>
              <a:ahLst/>
              <a:cxnLst/>
              <a:rect r="r" b="b" t="t" l="l"/>
              <a:pathLst>
                <a:path h="861060" w="875996">
                  <a:moveTo>
                    <a:pt x="0" y="430530"/>
                  </a:moveTo>
                  <a:cubicBezTo>
                    <a:pt x="0" y="192786"/>
                    <a:pt x="196131" y="0"/>
                    <a:pt x="437999" y="0"/>
                  </a:cubicBezTo>
                  <a:cubicBezTo>
                    <a:pt x="679867" y="0"/>
                    <a:pt x="875996" y="192786"/>
                    <a:pt x="875996" y="430530"/>
                  </a:cubicBezTo>
                  <a:cubicBezTo>
                    <a:pt x="875996" y="668274"/>
                    <a:pt x="679867" y="861060"/>
                    <a:pt x="437999" y="861060"/>
                  </a:cubicBezTo>
                  <a:cubicBezTo>
                    <a:pt x="196131" y="861060"/>
                    <a:pt x="0" y="668274"/>
                    <a:pt x="0" y="430530"/>
                  </a:cubicBezTo>
                  <a:close/>
                </a:path>
              </a:pathLst>
            </a:custGeom>
            <a:solidFill>
              <a:srgbClr val="222A35"/>
            </a:solidFill>
            <a:ln w="14299" cap="sq">
              <a:solidFill>
                <a:srgbClr val="222A35"/>
              </a:solidFill>
              <a:prstDash val="solid"/>
              <a:miter/>
            </a:ln>
          </p:spPr>
        </p:sp>
      </p:grpSp>
      <p:sp>
        <p:nvSpPr>
          <p:cNvPr name="TextBox 75" id="75"/>
          <p:cNvSpPr txBox="true"/>
          <p:nvPr/>
        </p:nvSpPr>
        <p:spPr>
          <a:xfrm rot="0">
            <a:off x="11559306" y="5700836"/>
            <a:ext cx="302713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2418143" y="5556704"/>
            <a:ext cx="616795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19202A"/>
                </a:solidFill>
                <a:latin typeface="Aptos Bold"/>
                <a:ea typeface="Aptos Bold"/>
                <a:cs typeface="Aptos Bold"/>
                <a:sym typeface="Aptos Bold"/>
              </a:rPr>
              <a:t>Validate in Gazebo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2418143" y="5924664"/>
            <a:ext cx="637743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B6573"/>
                </a:solidFill>
                <a:latin typeface="Aptos"/>
                <a:ea typeface="Aptos"/>
                <a:cs typeface="Aptos"/>
                <a:sym typeface="Aptos"/>
              </a:rPr>
              <a:t>ROS 2 + trajectories + pick/place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11382198" y="6512747"/>
            <a:ext cx="656931" cy="645728"/>
            <a:chOff x="0" y="0"/>
            <a:chExt cx="875907" cy="86097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75996" cy="861060"/>
            </a:xfrm>
            <a:custGeom>
              <a:avLst/>
              <a:gdLst/>
              <a:ahLst/>
              <a:cxnLst/>
              <a:rect r="r" b="b" t="t" l="l"/>
              <a:pathLst>
                <a:path h="861060" w="875996">
                  <a:moveTo>
                    <a:pt x="0" y="430530"/>
                  </a:moveTo>
                  <a:cubicBezTo>
                    <a:pt x="0" y="192786"/>
                    <a:pt x="196131" y="0"/>
                    <a:pt x="437999" y="0"/>
                  </a:cubicBezTo>
                  <a:cubicBezTo>
                    <a:pt x="679867" y="0"/>
                    <a:pt x="875996" y="192786"/>
                    <a:pt x="875996" y="430530"/>
                  </a:cubicBezTo>
                  <a:cubicBezTo>
                    <a:pt x="875996" y="668274"/>
                    <a:pt x="679867" y="861060"/>
                    <a:pt x="437999" y="861060"/>
                  </a:cubicBezTo>
                  <a:cubicBezTo>
                    <a:pt x="196131" y="861060"/>
                    <a:pt x="0" y="668274"/>
                    <a:pt x="0" y="430530"/>
                  </a:cubicBezTo>
                  <a:close/>
                </a:path>
              </a:pathLst>
            </a:custGeom>
            <a:solidFill>
              <a:srgbClr val="222A35"/>
            </a:solidFill>
            <a:ln w="14299" cap="sq">
              <a:solidFill>
                <a:srgbClr val="222A35"/>
              </a:solidFill>
              <a:prstDash val="solid"/>
              <a:miter/>
            </a:ln>
          </p:spPr>
        </p:sp>
      </p:grpSp>
      <p:sp>
        <p:nvSpPr>
          <p:cNvPr name="TextBox 80" id="80"/>
          <p:cNvSpPr txBox="true"/>
          <p:nvPr/>
        </p:nvSpPr>
        <p:spPr>
          <a:xfrm rot="0">
            <a:off x="11559306" y="6702885"/>
            <a:ext cx="302713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2418143" y="6558753"/>
            <a:ext cx="616795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19202A"/>
                </a:solidFill>
                <a:latin typeface="Aptos Bold"/>
                <a:ea typeface="Aptos Bold"/>
                <a:cs typeface="Aptos Bold"/>
                <a:sym typeface="Aptos Bold"/>
              </a:rPr>
              <a:t>System integration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2418143" y="6926713"/>
            <a:ext cx="637743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B6573"/>
                </a:solidFill>
                <a:latin typeface="Aptos"/>
                <a:ea typeface="Aptos"/>
                <a:cs typeface="Aptos"/>
                <a:sym typeface="Aptos"/>
              </a:rPr>
              <a:t>Vision → coordinates → manipulation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11382198" y="7514806"/>
            <a:ext cx="656931" cy="645728"/>
            <a:chOff x="0" y="0"/>
            <a:chExt cx="875907" cy="86097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75996" cy="861060"/>
            </a:xfrm>
            <a:custGeom>
              <a:avLst/>
              <a:gdLst/>
              <a:ahLst/>
              <a:cxnLst/>
              <a:rect r="r" b="b" t="t" l="l"/>
              <a:pathLst>
                <a:path h="861060" w="875996">
                  <a:moveTo>
                    <a:pt x="0" y="430530"/>
                  </a:moveTo>
                  <a:cubicBezTo>
                    <a:pt x="0" y="192786"/>
                    <a:pt x="196131" y="0"/>
                    <a:pt x="437999" y="0"/>
                  </a:cubicBezTo>
                  <a:cubicBezTo>
                    <a:pt x="679867" y="0"/>
                    <a:pt x="875996" y="192786"/>
                    <a:pt x="875996" y="430530"/>
                  </a:cubicBezTo>
                  <a:cubicBezTo>
                    <a:pt x="875996" y="668274"/>
                    <a:pt x="679867" y="861060"/>
                    <a:pt x="437999" y="861060"/>
                  </a:cubicBezTo>
                  <a:cubicBezTo>
                    <a:pt x="196131" y="861060"/>
                    <a:pt x="0" y="668274"/>
                    <a:pt x="0" y="430530"/>
                  </a:cubicBezTo>
                  <a:close/>
                </a:path>
              </a:pathLst>
            </a:custGeom>
            <a:solidFill>
              <a:srgbClr val="222A35"/>
            </a:solidFill>
            <a:ln w="14299" cap="sq">
              <a:solidFill>
                <a:srgbClr val="222A35"/>
              </a:solidFill>
              <a:prstDash val="solid"/>
              <a:miter/>
            </a:ln>
          </p:spPr>
        </p:sp>
      </p:grpSp>
      <p:sp>
        <p:nvSpPr>
          <p:cNvPr name="TextBox 85" id="85"/>
          <p:cNvSpPr txBox="true"/>
          <p:nvPr/>
        </p:nvSpPr>
        <p:spPr>
          <a:xfrm rot="0">
            <a:off x="11559306" y="7704934"/>
            <a:ext cx="302713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2418143" y="7560812"/>
            <a:ext cx="616795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19202A"/>
                </a:solidFill>
                <a:latin typeface="Aptos Bold"/>
                <a:ea typeface="Aptos Bold"/>
                <a:cs typeface="Aptos Bold"/>
                <a:sym typeface="Aptos Bold"/>
              </a:rPr>
              <a:t>Throughput testing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2418143" y="7928772"/>
            <a:ext cx="637743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B6573"/>
                </a:solidFill>
                <a:latin typeface="Aptos"/>
                <a:ea typeface="Aptos"/>
                <a:cs typeface="Aptos"/>
                <a:sym typeface="Aptos"/>
              </a:rPr>
              <a:t>Target: ~100 dishes/day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DAHVRa7o4BI</dc:identifier>
  <dcterms:modified xsi:type="dcterms:W3CDTF">2011-08-01T06:04:30Z</dcterms:modified>
  <cp:revision>1</cp:revision>
  <dc:title>ELD411 mid term </dc:title>
</cp:coreProperties>
</file>
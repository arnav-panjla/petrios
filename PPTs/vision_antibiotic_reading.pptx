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VISION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80E66"/>
                </a:solidFill>
                <a:latin typeface="Poppins"/>
              </a:rPr>
              <a:t>Read the stamp, not the page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7007840" cy="0"/>
          </a:xfrm>
          <a:prstGeom prst="line">
            <a:avLst/>
          </a:prstGeom>
          <a:ln w="15875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7589520" cy="7818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0_plate_tes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81" y="1709928"/>
            <a:ext cx="7141116" cy="7251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8997696"/>
            <a:ext cx="7296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test1.png  ·  12 Kirby–Bauer discs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600200"/>
            <a:ext cx="9144000" cy="781812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96596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9FFFC0"/>
                </a:solidFill>
                <a:latin typeface="Poppins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468880"/>
            <a:ext cx="8046720" cy="2194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oppins"/>
              </a:rPr>
              <a:t>Code + dose
on a round stamp.
Any rotation.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5074920"/>
            <a:ext cx="83210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E7EDFF"/>
                </a:solidFill>
                <a:latin typeface="Poppins"/>
              </a:rPr>
              <a:t>Thick embossed glyphs, not printed paragraphs.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5852159"/>
            <a:ext cx="83210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E7EDFF"/>
                </a:solidFill>
                <a:latin typeface="Poppins"/>
              </a:rPr>
              <a:t>Useful signal is 4–7 characters plus a rim.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6629400"/>
            <a:ext cx="83210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E7EDFF"/>
                </a:solidFill>
                <a:latin typeface="Poppins"/>
              </a:rPr>
              <a:t>Tesseract-style page OCR does not apply.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7406640"/>
            <a:ext cx="83210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E7EDFF"/>
                </a:solidFill>
                <a:latin typeface="Poppins"/>
              </a:rPr>
              <a:t>Ground truth on this plate was read by eye.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9893808"/>
            <a:ext cx="9144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PRE-GEMMA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80E66"/>
                </a:solidFill>
                <a:latin typeface="Poppins"/>
              </a:rPr>
              <a:t>Four attempts. None of them was the reader.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7007840" cy="0"/>
          </a:xfrm>
          <a:prstGeom prst="line">
            <a:avLst/>
          </a:prstGeom>
          <a:ln w="15875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70078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05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10512"/>
            <a:ext cx="6583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80E66"/>
                </a:solidFill>
                <a:latin typeface="Poppins"/>
              </a:rPr>
              <a:t>TEXTBOOK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423160"/>
            <a:ext cx="67665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646E7A"/>
                </a:solidFill>
                <a:latin typeface="Poppins"/>
              </a:rPr>
              <a:t>Invert, log, gamma, histogram, blur, Sobel, Otsu, FFT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057400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9202A"/>
                </a:solidFill>
                <a:latin typeface="Poppins"/>
              </a:rPr>
              <a:t>A new picture. Never the string GM 10.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29000"/>
            <a:ext cx="170078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1005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685032"/>
            <a:ext cx="6583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80E66"/>
                </a:solidFill>
                <a:latin typeface="Poppins"/>
              </a:rPr>
              <a:t>TESSERACT + EASYOCR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297680"/>
            <a:ext cx="67665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646E7A"/>
                </a:solidFill>
                <a:latin typeface="Poppins"/>
              </a:rPr>
              <a:t>Page OCR, then scene OCR on a tight crop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931920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9202A"/>
                </a:solidFill>
                <a:latin typeface="Poppins"/>
              </a:rPr>
              <a:t>Empty, or only after a manual −90° turn.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03520"/>
            <a:ext cx="170078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05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BA7A0"/>
                </a:solidFill>
                <a:latin typeface="Poppi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559552"/>
            <a:ext cx="6583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80E66"/>
                </a:solidFill>
                <a:latin typeface="Poppins"/>
              </a:rPr>
              <a:t>ONE-SHOT DESKEW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6172200"/>
            <a:ext cx="67665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646E7A"/>
                </a:solidFill>
                <a:latin typeface="Poppins"/>
              </a:rPr>
              <a:t>Projection, Hough lines, PCA, minAreaRect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806440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9202A"/>
                </a:solidFill>
                <a:latin typeface="Poppins"/>
              </a:rPr>
              <a:t>4–7 glyphs. No baseline to measure.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7178040"/>
            <a:ext cx="170078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7680960"/>
            <a:ext cx="1005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7434071"/>
            <a:ext cx="6583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80E66"/>
                </a:solidFill>
                <a:latin typeface="Poppins"/>
              </a:rPr>
              <a:t>15° SPIN + EASYOCR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8046719"/>
            <a:ext cx="67665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646E7A"/>
                </a:solidFill>
                <a:latin typeface="Poppins"/>
              </a:rPr>
              <a:t>Dense angle grid, then a vote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7680960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9202A"/>
                </a:solidFill>
                <a:latin typeface="Poppins"/>
              </a:rPr>
              <a:t>12/12 on tiny grey crops. Did not transfer.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9893808"/>
            <a:ext cx="9144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WHAT THOSE TESTS DECIDED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80E66"/>
                </a:solidFill>
                <a:latin typeface="Poppins"/>
              </a:rPr>
              <a:t>Computer vision can upright. It still cannot read.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7007840" cy="0"/>
          </a:xfrm>
          <a:prstGeom prst="line">
            <a:avLst/>
          </a:prstGeom>
          <a:ln w="15875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411480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566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80E66"/>
                </a:solidFill>
                <a:latin typeface="Poppins"/>
              </a:rPr>
              <a:t>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356616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9202A"/>
                </a:solidFill>
                <a:latin typeface="Poppins"/>
              </a:rPr>
              <a:t>Change pixels. Do not output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645920"/>
            <a:ext cx="411480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874519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77440"/>
            <a:ext cx="3566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80E66"/>
                </a:solidFill>
                <a:latin typeface="Poppins"/>
              </a:rPr>
              <a:t>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063240"/>
            <a:ext cx="356616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9202A"/>
                </a:solidFill>
                <a:latin typeface="Poppins"/>
              </a:rPr>
              <a:t>Needs the stamp already upright.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19" y="1645920"/>
            <a:ext cx="411480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874519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BA7A0"/>
                </a:solidFill>
                <a:latin typeface="Poppi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377440"/>
            <a:ext cx="3566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80E66"/>
                </a:solidFill>
                <a:latin typeface="Poppins"/>
              </a:rPr>
              <a:t>GEOMETRY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063240"/>
            <a:ext cx="356616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9202A"/>
                </a:solidFill>
                <a:latin typeface="Poppins"/>
              </a:rPr>
              <a:t>Cannot find the line of 5–7 fat glyphs.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807439" y="1645920"/>
            <a:ext cx="411480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81759" y="1874519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59" y="2377440"/>
            <a:ext cx="3566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80E66"/>
                </a:solidFill>
                <a:latin typeface="Poppins"/>
              </a:rPr>
              <a:t>SPIN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59" y="3063240"/>
            <a:ext cx="356616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9202A"/>
                </a:solidFill>
                <a:latin typeface="Poppins"/>
              </a:rPr>
              <a:t>Only the deleted grey crops. Not this plate.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00600"/>
            <a:ext cx="17007840" cy="448056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12080"/>
            <a:ext cx="3657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9FFFC0"/>
                </a:solidFill>
                <a:latin typeface="Poppins"/>
              </a:rPr>
              <a:t>ARRIVED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760720"/>
            <a:ext cx="146304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</a:rPr>
              <a:t>Local Gemma 3 4B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6858000"/>
            <a:ext cx="1508760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0">
                <a:solidFill>
                  <a:srgbClr val="DCE7FF"/>
                </a:solidFill>
                <a:latin typeface="Poppins"/>
              </a:rPr>
              <a:t>CV finds the disc and makes the rows upright.
Gemma reads the code and the dose.
No antibiotic-name dictionary.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9893808"/>
            <a:ext cx="9144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WORKING ORDER ON TEST1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80E66"/>
                </a:solidFill>
                <a:latin typeface="Poppins"/>
              </a:rPr>
              <a:t>Computer vision uprights. Gemma reads.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7007840" cy="0"/>
          </a:xfrm>
          <a:prstGeom prst="line">
            <a:avLst/>
          </a:prstGeom>
          <a:ln w="15875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9496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331720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926080"/>
            <a:ext cx="46634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HOUGH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703320"/>
            <a:ext cx="4663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646E7A"/>
                </a:solidFill>
                <a:latin typeface="Poppins"/>
              </a:rPr>
              <a:t>Find disc circles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965960"/>
            <a:ext cx="539496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59" y="2331720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2926080"/>
            <a:ext cx="46634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OTSU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3703320"/>
            <a:ext cx="4663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646E7A"/>
                </a:solidFill>
                <a:latin typeface="Poppins"/>
              </a:rPr>
              <a:t>Black letters, white disc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252959" y="1965960"/>
            <a:ext cx="539496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72999" y="2331720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BA7A0"/>
                </a:solidFill>
                <a:latin typeface="Poppi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2999" y="2926080"/>
            <a:ext cx="46634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METHOD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2999" y="3703320"/>
            <a:ext cx="4663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646E7A"/>
                </a:solidFill>
                <a:latin typeface="Poppins"/>
              </a:rPr>
              <a:t>Rows horizontal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49240"/>
            <a:ext cx="539496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715000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6309359"/>
            <a:ext cx="46634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OPEN 5×5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7086600"/>
            <a:ext cx="4663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646E7A"/>
                </a:solidFill>
                <a:latin typeface="Poppins"/>
              </a:rPr>
              <a:t>Separate thick strokes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5349240"/>
            <a:ext cx="539496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5715000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BA7A0"/>
                </a:solidFill>
                <a:latin typeface="Poppin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6309359"/>
            <a:ext cx="46634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LETTERS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7086600"/>
            <a:ext cx="4663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646E7A"/>
                </a:solidFill>
                <a:latin typeface="Poppins"/>
              </a:rPr>
              <a:t>Fix 0° vs 180°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52959" y="5349240"/>
            <a:ext cx="5394960" cy="288036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72999" y="5715000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9FFFC0"/>
                </a:solidFill>
                <a:latin typeface="Poppin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72999" y="6309359"/>
            <a:ext cx="46634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</a:rPr>
              <a:t>GEMMA 3 4B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72999" y="7086600"/>
            <a:ext cx="4663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DCE7FF"/>
                </a:solidFill>
                <a:latin typeface="Poppins"/>
              </a:rPr>
              <a:t>Read code + dose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9006840"/>
            <a:ext cx="16459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646E7A"/>
                </a:solidFill>
                <a:latin typeface="Poppins"/>
              </a:rPr>
              <a:t>Locked order. Do not recompute method C. EasyOCR only checks 0° vs 180°.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9893808"/>
            <a:ext cx="9144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FIND THE DISCS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80E66"/>
                </a:solidFill>
                <a:latin typeface="Poppins"/>
              </a:rPr>
              <a:t>Hough circles, then a binary stamp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7007840" cy="0"/>
          </a:xfrm>
          <a:prstGeom prst="line">
            <a:avLst/>
          </a:prstGeom>
          <a:ln w="15875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8412480" cy="7772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ough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274" y="1709928"/>
            <a:ext cx="7096091" cy="7205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8951976"/>
            <a:ext cx="811987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Hough on this 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600200"/>
            <a:ext cx="8366760" cy="7772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binary_dis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3721999"/>
            <a:ext cx="8147304" cy="3181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27464" y="8951976"/>
            <a:ext cx="80741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Otsu crops  ·  radii tuned to test1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9893808"/>
            <a:ext cx="9144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MAKE THE ROWS HORIZONTAL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80E66"/>
                </a:solidFill>
                <a:latin typeface="Poppins"/>
              </a:rPr>
              <a:t>One-shot deskew failed. Method C held.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7007840" cy="0"/>
          </a:xfrm>
          <a:prstGeom prst="line">
            <a:avLst/>
          </a:prstGeom>
          <a:ln w="15875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8366760" cy="6720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b_before_al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878" y="1709928"/>
            <a:ext cx="6983162" cy="6153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7900415"/>
            <a:ext cx="80741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Before alignment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600200"/>
            <a:ext cx="8366760" cy="6720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align_method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238" y="1709928"/>
            <a:ext cx="6983162" cy="6153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81744" y="7900415"/>
            <a:ext cx="80741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Method C  ·  two-line centroids  ·  saved PNG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8549640"/>
            <a:ext cx="3291840" cy="347472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8567928"/>
            <a:ext cx="32918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PROJECTION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8549640"/>
            <a:ext cx="3291840" cy="347472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8567928"/>
            <a:ext cx="32918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HOUGH 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8549640"/>
            <a:ext cx="3291840" cy="347472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8567928"/>
            <a:ext cx="32918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PCA / MOMENTS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01400" y="8549640"/>
            <a:ext cx="3291840" cy="347472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01400" y="8567928"/>
            <a:ext cx="32918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MINAREARECT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721840" y="8549640"/>
            <a:ext cx="3291840" cy="347472"/>
          </a:xfrm>
          <a:prstGeom prst="roundRect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721840" y="8567928"/>
            <a:ext cx="32918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STILL 180° AMBIGUOUS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9893808"/>
            <a:ext cx="9144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SEPARATE STROKES, THEN PUT LETTERS ON 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80E66"/>
                </a:solidFill>
                <a:latin typeface="Poppins"/>
              </a:rPr>
              <a:t>Morphology does not read the code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7007840" cy="0"/>
          </a:xfrm>
          <a:prstGeom prst="line">
            <a:avLst/>
          </a:prstGeom>
          <a:ln w="15875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8366760" cy="6720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morph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878" y="1709928"/>
            <a:ext cx="6983162" cy="6153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7900415"/>
            <a:ext cx="80741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Open 5×5, two iterations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600200"/>
            <a:ext cx="8366760" cy="6720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letters_abo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238" y="1709928"/>
            <a:ext cx="6983162" cy="6153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81744" y="7900415"/>
            <a:ext cx="80741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Letters above, digits below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595360"/>
            <a:ext cx="16916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646E7A"/>
                </a:solidFill>
                <a:latin typeface="Poppins"/>
              </a:rPr>
              <a:t>Letter-only SXT is not flipped on junk. Load the saved C image. Do not rerun k-means.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9893808"/>
            <a:ext cx="9144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STAMPS LOOK OBVIOUS. CLASSICAL READERS STILL FAIL.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80E66"/>
                </a:solidFill>
                <a:latin typeface="Poppins"/>
              </a:rPr>
              <a:t>Upright 1-bit discs from test1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7007840" cy="0"/>
          </a:xfrm>
          <a:prstGeom prst="line">
            <a:avLst/>
          </a:prstGeom>
          <a:ln w="15875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406908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36118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4800" b="1">
                <a:solidFill>
                  <a:srgbClr val="180E66"/>
                </a:solidFill>
                <a:latin typeface="Poppins"/>
              </a:rPr>
              <a:t>5/12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3611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646E7A"/>
                </a:solidFill>
                <a:latin typeface="Poppins"/>
              </a:rPr>
              <a:t>EasyOCR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645920"/>
            <a:ext cx="406908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874519"/>
            <a:ext cx="36118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4800" b="1">
                <a:solidFill>
                  <a:srgbClr val="180E66"/>
                </a:solidFill>
                <a:latin typeface="Poppins"/>
              </a:rPr>
              <a:t>5/12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3063240"/>
            <a:ext cx="3611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646E7A"/>
                </a:solidFill>
                <a:latin typeface="Poppins"/>
              </a:rPr>
              <a:t>Tesseract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19" y="1645920"/>
            <a:ext cx="406908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19" y="1874519"/>
            <a:ext cx="36118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4800" b="1">
                <a:solidFill>
                  <a:srgbClr val="180E66"/>
                </a:solidFill>
                <a:latin typeface="Poppins"/>
              </a:rPr>
              <a:t>4/12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19" y="3063240"/>
            <a:ext cx="3611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646E7A"/>
                </a:solidFill>
                <a:latin typeface="Poppins"/>
              </a:rPr>
              <a:t>RapidOCR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807439" y="1645920"/>
            <a:ext cx="406908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36039" y="1874519"/>
            <a:ext cx="36118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4800" b="1">
                <a:solidFill>
                  <a:srgbClr val="180E66"/>
                </a:solidFill>
                <a:latin typeface="Poppins"/>
              </a:rPr>
              <a:t>1/12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36039" y="3063240"/>
            <a:ext cx="3611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646E7A"/>
                </a:solidFill>
                <a:latin typeface="Poppins"/>
              </a:rPr>
              <a:t>Hausdorff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40690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498848"/>
            <a:ext cx="3703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80E66"/>
                </a:solidFill>
                <a:latin typeface="Poppins"/>
              </a:rPr>
              <a:t>Adaptive threshold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297680"/>
            <a:ext cx="40690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498848"/>
            <a:ext cx="3703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80E66"/>
                </a:solidFill>
                <a:latin typeface="Poppins"/>
              </a:rPr>
              <a:t>Morphology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19" y="4297680"/>
            <a:ext cx="40690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199" y="4498848"/>
            <a:ext cx="3703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80E66"/>
                </a:solidFill>
                <a:latin typeface="Poppins"/>
              </a:rPr>
              <a:t>Contour filtering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807439" y="4297680"/>
            <a:ext cx="40690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90319" y="4498848"/>
            <a:ext cx="3703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80E66"/>
                </a:solidFill>
                <a:latin typeface="Poppins"/>
              </a:rPr>
              <a:t>Hough lines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49240"/>
            <a:ext cx="40690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550407"/>
            <a:ext cx="3703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80E66"/>
                </a:solidFill>
                <a:latin typeface="Poppins"/>
              </a:rPr>
              <a:t>PCA deskew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5349240"/>
            <a:ext cx="40690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5550407"/>
            <a:ext cx="3703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80E66"/>
                </a:solidFill>
                <a:latin typeface="Poppins"/>
              </a:rPr>
              <a:t>Template match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19" y="5349240"/>
            <a:ext cx="40690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199" y="5550407"/>
            <a:ext cx="3703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80E66"/>
                </a:solidFill>
                <a:latin typeface="Poppins"/>
              </a:rPr>
              <a:t>Gradient histogram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07439" y="5349240"/>
            <a:ext cx="40690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990319" y="5550407"/>
            <a:ext cx="3703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80E66"/>
                </a:solidFill>
                <a:latin typeface="Poppins"/>
              </a:rPr>
              <a:t>Tesseract OCR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629400"/>
            <a:ext cx="16916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646E7A"/>
                </a:solidFill>
                <a:latin typeface="Poppins"/>
              </a:rPr>
              <a:t>15° search + Otsu + EasyOCR was 12/12 only on a deleted grey-crop set. It did not transfer here.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7223760"/>
            <a:ext cx="17007840" cy="214884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7498079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9FFFC0"/>
                </a:solidFill>
                <a:latin typeface="Poppins"/>
              </a:rPr>
              <a:t>WHY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7909560"/>
            <a:ext cx="1609344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Engines expect thin horizontal type.
These stamps are fat, binary, and only a few glyphs long.
No drug-name dictionary was used to force a match.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9893808"/>
            <a:ext cx="9144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GEMMA WAS RIGHT ONLY AFTER TWO IMAGE BUGS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80E66"/>
                </a:solidFill>
                <a:latin typeface="Poppins"/>
              </a:rPr>
              <a:t>Local gemma3:4b  ·  no antibiotic dictionary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7007840" cy="0"/>
          </a:xfrm>
          <a:prstGeom prst="line">
            <a:avLst/>
          </a:prstGeom>
          <a:ln w="15875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486400" cy="6766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ZP_896_nea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76272"/>
            <a:ext cx="5266944" cy="5266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7946136"/>
            <a:ext cx="5193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896 nearest zoom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394960" cy="6766560"/>
          </a:xfrm>
          <a:prstGeom prst="roundRect">
            <a:avLst/>
          </a:prstGeom>
          <a:solidFill>
            <a:srgbClr val="FFF5E5"/>
          </a:solidFill>
          <a:ln w="15875"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017520"/>
            <a:ext cx="47548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4000" b="1">
                <a:solidFill>
                  <a:srgbClr val="180E66"/>
                </a:solidFill>
                <a:latin typeface="Poppins"/>
              </a:rPr>
              <a:t>TZP → ZTP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297680"/>
            <a:ext cx="475488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0">
                <a:solidFill>
                  <a:srgbClr val="19202A"/>
                </a:solidFill>
                <a:latin typeface="Poppins"/>
              </a:rPr>
              <a:t>Zoom / pan-and-scan
swapped letter order.
Native crop later read TZP 110.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932920" y="1600200"/>
            <a:ext cx="2743200" cy="3154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M_rim_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2648" y="1741932"/>
            <a:ext cx="2523744" cy="2523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79224" y="4334256"/>
            <a:ext cx="24505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Rim left  ·  GMI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859000" y="1600200"/>
            <a:ext cx="2743200" cy="3154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M_rim_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8728" y="1741932"/>
            <a:ext cx="2523744" cy="2523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005304" y="4334256"/>
            <a:ext cx="24505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Rim stripped  ·  GM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932920" y="4983480"/>
            <a:ext cx="5669280" cy="338328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07240" y="5303520"/>
            <a:ext cx="5120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GM → GMI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07240" y="6126480"/>
            <a:ext cx="512064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0">
                <a:solidFill>
                  <a:srgbClr val="DCE7FF"/>
                </a:solidFill>
                <a:latin typeface="Poppins"/>
              </a:rPr>
              <a:t>Leftover rim arc
read as the letter 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07240" y="7452360"/>
            <a:ext cx="5120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9FFFC0"/>
                </a:solidFill>
                <a:latin typeface="Poppins"/>
              </a:rPr>
              <a:t>Keep letter-sized ink. Wipe the arc.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9893808"/>
            <a:ext cx="9144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NATIVE GEMMA + RIM STRIP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80E66"/>
                </a:solidFill>
                <a:latin typeface="Poppins"/>
              </a:rPr>
              <a:t>12 / 12 on this plate only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7007840" cy="0"/>
          </a:xfrm>
          <a:prstGeom prst="line">
            <a:avLst/>
          </a:prstGeom>
          <a:ln w="15875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760720" cy="777240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9FFFC0"/>
                </a:solidFill>
                <a:latin typeface="Poppins"/>
              </a:rPr>
              <a:t>TEST1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502920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400" b="1">
                <a:solidFill>
                  <a:srgbClr val="FFFFFF"/>
                </a:solidFill>
                <a:latin typeface="Poppins"/>
              </a:rPr>
              <a:t>12/12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72000"/>
            <a:ext cx="502920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0">
                <a:solidFill>
                  <a:srgbClr val="DCE7FF"/>
                </a:solidFill>
                <a:latin typeface="Poppins"/>
              </a:rPr>
              <a:t>Eye-read ground truth.
n = 12 is not clinical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6675120"/>
            <a:ext cx="502920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9FFFC0"/>
                </a:solidFill>
                <a:latin typeface="Poppins"/>
              </a:rPr>
              <a:t>Offline after
ollama pull gemma3:4b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60020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856232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8600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80E66"/>
                </a:solidFill>
                <a:latin typeface="Poppins"/>
              </a:rPr>
              <a:t>IPM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24159" y="160020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52759" y="1856232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59" y="228600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80E66"/>
                </a:solidFill>
                <a:latin typeface="Poppins"/>
              </a:rPr>
              <a:t>TZP 110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27480" y="160020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56080" y="1856232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80" y="228600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80E66"/>
                </a:solidFill>
                <a:latin typeface="Poppins"/>
              </a:rPr>
              <a:t>GM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347472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730752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16052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80E66"/>
                </a:solidFill>
                <a:latin typeface="Poppins"/>
              </a:rPr>
              <a:t>MEM 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59" y="347472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52759" y="3730752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59" y="416052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80E66"/>
                </a:solidFill>
                <a:latin typeface="Poppins"/>
              </a:rPr>
              <a:t>AN 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27480" y="347472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356080" y="3730752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80" y="416052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80E66"/>
                </a:solidFill>
                <a:latin typeface="Poppins"/>
              </a:rPr>
              <a:t>CAZ 30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534924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5605272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603504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80E66"/>
                </a:solidFill>
                <a:latin typeface="Poppins"/>
              </a:rPr>
              <a:t>SXT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24159" y="534924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52759" y="5605272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59" y="603504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80E66"/>
                </a:solidFill>
                <a:latin typeface="Poppins"/>
              </a:rPr>
              <a:t>NN 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127480" y="534924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356080" y="5605272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356080" y="603504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80E66"/>
                </a:solidFill>
                <a:latin typeface="Poppins"/>
              </a:rPr>
              <a:t>AM 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7223759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7479792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7909559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80E66"/>
                </a:solidFill>
                <a:latin typeface="Poppins"/>
              </a:rPr>
              <a:t>CRO 30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24159" y="7223759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52759" y="7479792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52759" y="7909559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80E66"/>
                </a:solidFill>
                <a:latin typeface="Poppins"/>
              </a:rPr>
              <a:t>CZ 30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127480" y="7223759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356080" y="7479792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356080" y="7909559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80E66"/>
                </a:solidFill>
                <a:latin typeface="Poppins"/>
              </a:rPr>
              <a:t>CIP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9893808"/>
            <a:ext cx="9144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OTHER PLATES: THE DETECTOR IS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80E66"/>
                </a:solidFill>
                <a:latin typeface="Poppins"/>
              </a:rPr>
              <a:t>Same pipeline, watermarked stock photos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7007840" cy="0"/>
          </a:xfrm>
          <a:prstGeom prst="line">
            <a:avLst/>
          </a:prstGeom>
          <a:ln w="15875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4069080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370332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400" b="1">
                <a:solidFill>
                  <a:srgbClr val="180E66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566160"/>
            <a:ext cx="3703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646E7A"/>
                </a:solidFill>
                <a:latin typeface="Poppins"/>
              </a:rPr>
              <a:t>real discs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737360"/>
            <a:ext cx="4069080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057400"/>
            <a:ext cx="370332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400" b="1">
                <a:solidFill>
                  <a:srgbClr val="357852"/>
                </a:solidFill>
                <a:latin typeface="Poppins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566160"/>
            <a:ext cx="3703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646E7A"/>
                </a:solidFill>
                <a:latin typeface="Poppins"/>
              </a:rPr>
              <a:t>proper circles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19" y="1737360"/>
            <a:ext cx="4069080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9" y="2057400"/>
            <a:ext cx="370332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400" b="1">
                <a:solidFill>
                  <a:srgbClr val="C48723"/>
                </a:solidFill>
                <a:latin typeface="Poppins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9" y="3566160"/>
            <a:ext cx="3703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646E7A"/>
                </a:solidFill>
                <a:latin typeface="Poppins"/>
              </a:rPr>
              <a:t>missed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807439" y="1737360"/>
            <a:ext cx="4069080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90319" y="2057400"/>
            <a:ext cx="370332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400" b="1">
                <a:solidFill>
                  <a:srgbClr val="B84949"/>
                </a:solidFill>
                <a:latin typeface="Poppins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19" y="3566160"/>
            <a:ext cx="3703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646E7A"/>
                </a:solidFill>
                <a:latin typeface="Poppins"/>
              </a:rPr>
              <a:t>false circles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20640"/>
            <a:ext cx="17007840" cy="416052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86400"/>
            <a:ext cx="5486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9FFFC0"/>
                </a:solidFill>
                <a:latin typeface="Poppins"/>
              </a:rPr>
              <a:t>NOT AN OCR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080760"/>
            <a:ext cx="160020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Hough radii tuned on test1 do not transfer.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6720840"/>
            <a:ext cx="160020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test2: 7 real discs, 0 proper circles, 8 false hits.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7360920"/>
            <a:ext cx="160020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Watermarks and false circles make Gemma say TAB / AM 500.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8001000"/>
            <a:ext cx="160020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Hand-filtered good crops still miss under domain shift.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9893808"/>
            <a:ext cx="9144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Antibiotic disc reading — vision</dc:title>
  <dc:subject>ELD411 Mid-Term Review 2026</dc:subject>
  <dc:creator>Arnav Panjla; Manashvi Garg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
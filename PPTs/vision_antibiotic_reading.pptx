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A7A0"/>
                </a:solidFill>
                <a:latin typeface="Poppins"/>
              </a:rPr>
              <a:t>VISION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50876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180E66"/>
                </a:solidFill>
                <a:latin typeface="Poppins"/>
              </a:rPr>
              <a:t>Read the stamp, not the page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98448"/>
            <a:ext cx="17007840" cy="0"/>
          </a:xfrm>
          <a:prstGeom prst="line">
            <a:avLst/>
          </a:prstGeom>
          <a:ln w="15875">
            <a:solidFill>
              <a:srgbClr val="D5D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16400" y="329184"/>
            <a:ext cx="731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646E7A"/>
                </a:solidFill>
                <a:latin typeface="Poppins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7589520" cy="7818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0_plate_tes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81" y="1709928"/>
            <a:ext cx="7141116" cy="72511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" y="8997696"/>
            <a:ext cx="72969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test1.png  ·  12 Kirby–Bauer discs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600200"/>
            <a:ext cx="9144000" cy="7818120"/>
          </a:xfrm>
          <a:prstGeom prst="roundRect">
            <a:avLst/>
          </a:prstGeom>
          <a:solidFill>
            <a:srgbClr val="180E66"/>
          </a:solidFill>
          <a:ln w="15875">
            <a:solidFill>
              <a:srgbClr val="180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196596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9FFFC0"/>
                </a:solidFill>
                <a:latin typeface="Poppins"/>
              </a:rPr>
              <a:t>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468880"/>
            <a:ext cx="8046720" cy="2194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oppins"/>
              </a:rPr>
              <a:t>Code + dose
on a round stamp.
Any rotation.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5074920"/>
            <a:ext cx="83210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E7EDFF"/>
                </a:solidFill>
                <a:latin typeface="Poppins"/>
              </a:rPr>
              <a:t>Thick embossed glyphs, not printed paragraphs.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5852159"/>
            <a:ext cx="83210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E7EDFF"/>
                </a:solidFill>
                <a:latin typeface="Poppins"/>
              </a:rPr>
              <a:t>Useful signal is 4–7 characters plus a rim.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6629400"/>
            <a:ext cx="83210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E7EDFF"/>
                </a:solidFill>
                <a:latin typeface="Poppins"/>
              </a:rPr>
              <a:t>Tesseract-style page OCR does not apply.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7406640"/>
            <a:ext cx="83210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E7EDFF"/>
                </a:solidFill>
                <a:latin typeface="Poppins"/>
              </a:rPr>
              <a:t>Ground truth on this plate was read by eye.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9893808"/>
            <a:ext cx="9144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46E7A"/>
                </a:solidFill>
                <a:latin typeface="Poppins"/>
              </a:rPr>
              <a:t>IIT Delhi  ·  ELD411  ·  Mid-Term Review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A7A0"/>
                </a:solidFill>
                <a:latin typeface="Poppins"/>
              </a:rPr>
              <a:t>WORKING ORDER ON TEST1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50876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180E66"/>
                </a:solidFill>
                <a:latin typeface="Poppins"/>
              </a:rPr>
              <a:t>Computer vision uprights. Gemma reads.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98448"/>
            <a:ext cx="17007840" cy="0"/>
          </a:xfrm>
          <a:prstGeom prst="line">
            <a:avLst/>
          </a:prstGeom>
          <a:ln w="15875">
            <a:solidFill>
              <a:srgbClr val="D5D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16400" y="329184"/>
            <a:ext cx="731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646E7A"/>
                </a:solidFill>
                <a:latin typeface="Poppin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394960" cy="2880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097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BA7A0"/>
                </a:solidFill>
                <a:latin typeface="Poppi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926080"/>
            <a:ext cx="46634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80E66"/>
                </a:solidFill>
                <a:latin typeface="Poppins"/>
              </a:rPr>
              <a:t>HOUGH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703320"/>
            <a:ext cx="46634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46E7A"/>
                </a:solidFill>
                <a:latin typeface="Poppins"/>
              </a:rPr>
              <a:t>Find disc circles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1965960"/>
            <a:ext cx="5394960" cy="2880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59" y="2331720"/>
            <a:ext cx="1097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BA7A0"/>
                </a:solidFill>
                <a:latin typeface="Poppi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2926080"/>
            <a:ext cx="46634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80E66"/>
                </a:solidFill>
                <a:latin typeface="Poppins"/>
              </a:rPr>
              <a:t>OTSU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59" y="3703320"/>
            <a:ext cx="46634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46E7A"/>
                </a:solidFill>
                <a:latin typeface="Poppins"/>
              </a:rPr>
              <a:t>Black letters, white disc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252959" y="1965960"/>
            <a:ext cx="5394960" cy="2880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72999" y="2331720"/>
            <a:ext cx="1097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BA7A0"/>
                </a:solidFill>
                <a:latin typeface="Poppin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72999" y="2926080"/>
            <a:ext cx="46634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80E66"/>
                </a:solidFill>
                <a:latin typeface="Poppins"/>
              </a:rPr>
              <a:t>METHOD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2999" y="3703320"/>
            <a:ext cx="46634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46E7A"/>
                </a:solidFill>
                <a:latin typeface="Poppins"/>
              </a:rPr>
              <a:t>Rows horizontal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49240"/>
            <a:ext cx="5394960" cy="2880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19" y="5715000"/>
            <a:ext cx="1097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BA7A0"/>
                </a:solidFill>
                <a:latin typeface="Poppin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19" y="6309359"/>
            <a:ext cx="46634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80E66"/>
                </a:solidFill>
                <a:latin typeface="Poppins"/>
              </a:rPr>
              <a:t>OPEN 5×5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7086600"/>
            <a:ext cx="46634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46E7A"/>
                </a:solidFill>
                <a:latin typeface="Poppins"/>
              </a:rPr>
              <a:t>Separate thick strokes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5349240"/>
            <a:ext cx="5394960" cy="2880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59" y="5715000"/>
            <a:ext cx="1097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2BA7A0"/>
                </a:solidFill>
                <a:latin typeface="Poppin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59" y="6309359"/>
            <a:ext cx="46634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180E66"/>
                </a:solidFill>
                <a:latin typeface="Poppins"/>
              </a:rPr>
              <a:t>LETTERS 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7086600"/>
            <a:ext cx="46634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646E7A"/>
                </a:solidFill>
                <a:latin typeface="Poppins"/>
              </a:rPr>
              <a:t>Fix 0° vs 180°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252959" y="5349240"/>
            <a:ext cx="5394960" cy="2880360"/>
          </a:xfrm>
          <a:prstGeom prst="roundRect">
            <a:avLst/>
          </a:prstGeom>
          <a:solidFill>
            <a:srgbClr val="180E66"/>
          </a:solidFill>
          <a:ln w="15875">
            <a:solidFill>
              <a:srgbClr val="180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72999" y="5715000"/>
            <a:ext cx="1097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9FFFC0"/>
                </a:solidFill>
                <a:latin typeface="Poppin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72999" y="6309359"/>
            <a:ext cx="466344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Poppins"/>
              </a:rPr>
              <a:t>GEMMA 3 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72999" y="7086600"/>
            <a:ext cx="466344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DCE7FF"/>
                </a:solidFill>
                <a:latin typeface="Poppins"/>
              </a:rPr>
              <a:t>Read code + dose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9006840"/>
            <a:ext cx="164592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46E7A"/>
                </a:solidFill>
                <a:latin typeface="Poppins"/>
              </a:rPr>
              <a:t>Locked order. Do not recompute method C. EasyOCR only checks 0° vs 180°.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9893808"/>
            <a:ext cx="9144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46E7A"/>
                </a:solidFill>
                <a:latin typeface="Poppins"/>
              </a:rPr>
              <a:t>IIT Delhi  ·  ELD411  ·  Mid-Term Review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A7A0"/>
                </a:solidFill>
                <a:latin typeface="Poppins"/>
              </a:rPr>
              <a:t>FIND THE DISCS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50876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180E66"/>
                </a:solidFill>
                <a:latin typeface="Poppins"/>
              </a:rPr>
              <a:t>Hough circles, then a binary stamp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98448"/>
            <a:ext cx="17007840" cy="0"/>
          </a:xfrm>
          <a:prstGeom prst="line">
            <a:avLst/>
          </a:prstGeom>
          <a:ln w="15875">
            <a:solidFill>
              <a:srgbClr val="D5D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16400" y="329184"/>
            <a:ext cx="731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646E7A"/>
                </a:solidFill>
                <a:latin typeface="Poppin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8412480" cy="7772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hough_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274" y="1709928"/>
            <a:ext cx="7096091" cy="7205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" y="8951976"/>
            <a:ext cx="8119871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Hough on this plate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81160" y="1600200"/>
            <a:ext cx="8366760" cy="7772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binary_dis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0888" y="3721999"/>
            <a:ext cx="8147304" cy="3181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27464" y="8951976"/>
            <a:ext cx="80741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Otsu crops  ·  radii tuned to test1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9893808"/>
            <a:ext cx="9144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46E7A"/>
                </a:solidFill>
                <a:latin typeface="Poppins"/>
              </a:rPr>
              <a:t>IIT Delhi  ·  ELD411  ·  Mid-Term Review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A7A0"/>
                </a:solidFill>
                <a:latin typeface="Poppins"/>
              </a:rPr>
              <a:t>MAKE THE ROWS 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50876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180E66"/>
                </a:solidFill>
                <a:latin typeface="Poppins"/>
              </a:rPr>
              <a:t>One-shot deskew failed. Method C held.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98448"/>
            <a:ext cx="17007840" cy="0"/>
          </a:xfrm>
          <a:prstGeom prst="line">
            <a:avLst/>
          </a:prstGeom>
          <a:ln w="15875">
            <a:solidFill>
              <a:srgbClr val="D5D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16400" y="329184"/>
            <a:ext cx="731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646E7A"/>
                </a:solidFill>
                <a:latin typeface="Poppin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8366760" cy="6720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b_before_al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78" y="1709928"/>
            <a:ext cx="6983162" cy="6153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" y="7900415"/>
            <a:ext cx="80741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Before alignment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600200"/>
            <a:ext cx="8366760" cy="6720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align_method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238" y="1709928"/>
            <a:ext cx="6983162" cy="6153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81744" y="7900415"/>
            <a:ext cx="80741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Method C  ·  two-line centroids  ·  saved PNG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8549640"/>
            <a:ext cx="3291840" cy="347472"/>
          </a:xfrm>
          <a:prstGeom prst="roundRect">
            <a:avLst/>
          </a:prstGeom>
          <a:solidFill>
            <a:srgbClr val="2459D3"/>
          </a:solidFill>
          <a:ln>
            <a:solidFill>
              <a:srgbClr val="2459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8567928"/>
            <a:ext cx="3291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oppins"/>
              </a:rPr>
              <a:t>PROJECTION PROFILE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8549640"/>
            <a:ext cx="3291840" cy="347472"/>
          </a:xfrm>
          <a:prstGeom prst="roundRect">
            <a:avLst/>
          </a:prstGeom>
          <a:solidFill>
            <a:srgbClr val="2459D3"/>
          </a:solidFill>
          <a:ln>
            <a:solidFill>
              <a:srgbClr val="2459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8567928"/>
            <a:ext cx="3291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oppins"/>
              </a:rPr>
              <a:t>HOUGH LINES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8549640"/>
            <a:ext cx="3291840" cy="347472"/>
          </a:xfrm>
          <a:prstGeom prst="roundRect">
            <a:avLst/>
          </a:prstGeom>
          <a:solidFill>
            <a:srgbClr val="2459D3"/>
          </a:solidFill>
          <a:ln>
            <a:solidFill>
              <a:srgbClr val="2459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8567928"/>
            <a:ext cx="3291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oppins"/>
              </a:rPr>
              <a:t>PCA / MOMENTS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8549640"/>
            <a:ext cx="3291840" cy="347472"/>
          </a:xfrm>
          <a:prstGeom prst="roundRect">
            <a:avLst/>
          </a:prstGeom>
          <a:solidFill>
            <a:srgbClr val="2459D3"/>
          </a:solidFill>
          <a:ln>
            <a:solidFill>
              <a:srgbClr val="2459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01400" y="8567928"/>
            <a:ext cx="3291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oppins"/>
              </a:rPr>
              <a:t>MINAREARECT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721840" y="8549640"/>
            <a:ext cx="3291840" cy="347472"/>
          </a:xfrm>
          <a:prstGeom prst="roundRect">
            <a:avLst/>
          </a:prstGeom>
          <a:solidFill>
            <a:srgbClr val="C48723"/>
          </a:solidFill>
          <a:ln>
            <a:solidFill>
              <a:srgbClr val="C487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721840" y="8567928"/>
            <a:ext cx="329184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Poppins"/>
              </a:rPr>
              <a:t>STILL 180° AMBIGUOUS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9893808"/>
            <a:ext cx="9144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46E7A"/>
                </a:solidFill>
                <a:latin typeface="Poppins"/>
              </a:rPr>
              <a:t>IIT Delhi  ·  ELD411  ·  Mid-Term Review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A7A0"/>
                </a:solidFill>
                <a:latin typeface="Poppins"/>
              </a:rPr>
              <a:t>SEPARATE STROKES, THEN PUT LETTERS ON 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50876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180E66"/>
                </a:solidFill>
                <a:latin typeface="Poppins"/>
              </a:rPr>
              <a:t>Morphology does not read the code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98448"/>
            <a:ext cx="17007840" cy="0"/>
          </a:xfrm>
          <a:prstGeom prst="line">
            <a:avLst/>
          </a:prstGeom>
          <a:ln w="15875">
            <a:solidFill>
              <a:srgbClr val="D5D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16400" y="329184"/>
            <a:ext cx="731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646E7A"/>
                </a:solidFill>
                <a:latin typeface="Poppin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8366760" cy="6720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morph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78" y="1709928"/>
            <a:ext cx="6983162" cy="6153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" y="7900415"/>
            <a:ext cx="80741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Open 5×5, two iterations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600200"/>
            <a:ext cx="8366760" cy="6720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letters_abo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238" y="1709928"/>
            <a:ext cx="6983162" cy="6153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81744" y="7900415"/>
            <a:ext cx="80741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Letters above, digits below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8595360"/>
            <a:ext cx="16916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46E7A"/>
                </a:solidFill>
                <a:latin typeface="Poppins"/>
              </a:rPr>
              <a:t>Letter-only SXT is not flipped on junk. Load the saved C image. Do not rerun k-means.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9893808"/>
            <a:ext cx="9144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46E7A"/>
                </a:solidFill>
                <a:latin typeface="Poppins"/>
              </a:rPr>
              <a:t>IIT Delhi  ·  ELD411  ·  Mid-Term Review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A7A0"/>
                </a:solidFill>
                <a:latin typeface="Poppins"/>
              </a:rPr>
              <a:t>STAMPS LOOK OBVIOUS. CLASSICAL READERS STILL FAIL.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50876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180E66"/>
                </a:solidFill>
                <a:latin typeface="Poppins"/>
              </a:rPr>
              <a:t>Upright 1-bit discs from test1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98448"/>
            <a:ext cx="17007840" cy="0"/>
          </a:xfrm>
          <a:prstGeom prst="line">
            <a:avLst/>
          </a:prstGeom>
          <a:ln w="15875">
            <a:solidFill>
              <a:srgbClr val="D5D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16400" y="329184"/>
            <a:ext cx="731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646E7A"/>
                </a:solidFill>
                <a:latin typeface="Poppin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4069080" cy="23317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361188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4800" b="1">
                <a:solidFill>
                  <a:srgbClr val="180E66"/>
                </a:solidFill>
                <a:latin typeface="Poppins"/>
              </a:rPr>
              <a:t>5/12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36118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646E7A"/>
                </a:solidFill>
                <a:latin typeface="Poppins"/>
              </a:rPr>
              <a:t>EasyOCR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645920"/>
            <a:ext cx="4069080" cy="23317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1874519"/>
            <a:ext cx="361188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4800" b="1">
                <a:solidFill>
                  <a:srgbClr val="180E66"/>
                </a:solidFill>
                <a:latin typeface="Poppins"/>
              </a:rPr>
              <a:t>5/12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3063240"/>
            <a:ext cx="36118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646E7A"/>
                </a:solidFill>
                <a:latin typeface="Poppins"/>
              </a:rPr>
              <a:t>Tesseract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19" y="1645920"/>
            <a:ext cx="4069080" cy="23317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19" y="1874519"/>
            <a:ext cx="361188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4800" b="1">
                <a:solidFill>
                  <a:srgbClr val="180E66"/>
                </a:solidFill>
                <a:latin typeface="Poppins"/>
              </a:rPr>
              <a:t>4/12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19" y="3063240"/>
            <a:ext cx="36118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646E7A"/>
                </a:solidFill>
                <a:latin typeface="Poppins"/>
              </a:rPr>
              <a:t>RapidOCR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807439" y="1645920"/>
            <a:ext cx="4069080" cy="23317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036039" y="1874519"/>
            <a:ext cx="361188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4800" b="1">
                <a:solidFill>
                  <a:srgbClr val="180E66"/>
                </a:solidFill>
                <a:latin typeface="Poppins"/>
              </a:rPr>
              <a:t>1/12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36039" y="3063240"/>
            <a:ext cx="36118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646E7A"/>
                </a:solidFill>
                <a:latin typeface="Poppins"/>
              </a:rPr>
              <a:t>Hausdorff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97680"/>
            <a:ext cx="40690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498848"/>
            <a:ext cx="3703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80E66"/>
                </a:solidFill>
                <a:latin typeface="Poppins"/>
              </a:rPr>
              <a:t>Adaptive threshold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4297680"/>
            <a:ext cx="40690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4498848"/>
            <a:ext cx="3703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80E66"/>
                </a:solidFill>
                <a:latin typeface="Poppins"/>
              </a:rPr>
              <a:t>Morphology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18319" y="4297680"/>
            <a:ext cx="40690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199" y="4498848"/>
            <a:ext cx="3703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80E66"/>
                </a:solidFill>
                <a:latin typeface="Poppins"/>
              </a:rPr>
              <a:t>Contour filtering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807439" y="4297680"/>
            <a:ext cx="40690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90319" y="4498848"/>
            <a:ext cx="3703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80E66"/>
                </a:solidFill>
                <a:latin typeface="Poppins"/>
              </a:rPr>
              <a:t>Hough lines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49240"/>
            <a:ext cx="40690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5550407"/>
            <a:ext cx="3703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80E66"/>
                </a:solidFill>
                <a:latin typeface="Poppins"/>
              </a:rPr>
              <a:t>PCA deskew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0" y="5349240"/>
            <a:ext cx="40690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0" y="5550407"/>
            <a:ext cx="3703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80E66"/>
                </a:solidFill>
                <a:latin typeface="Poppins"/>
              </a:rPr>
              <a:t>Template match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18319" y="5349240"/>
            <a:ext cx="40690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199" y="5550407"/>
            <a:ext cx="3703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80E66"/>
                </a:solidFill>
                <a:latin typeface="Poppins"/>
              </a:rPr>
              <a:t>Gradient histogram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807439" y="5349240"/>
            <a:ext cx="40690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990319" y="5550407"/>
            <a:ext cx="370332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180E66"/>
                </a:solidFill>
                <a:latin typeface="Poppins"/>
              </a:rPr>
              <a:t>Tesseract OCR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629400"/>
            <a:ext cx="169164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46E7A"/>
                </a:solidFill>
                <a:latin typeface="Poppins"/>
              </a:rPr>
              <a:t>15° search + Otsu + EasyOCR was 12/12 only on a deleted grey-crop set. It did not transfer here.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7223760"/>
            <a:ext cx="17007840" cy="2148840"/>
          </a:xfrm>
          <a:prstGeom prst="roundRect">
            <a:avLst/>
          </a:prstGeom>
          <a:solidFill>
            <a:srgbClr val="180E66"/>
          </a:solidFill>
          <a:ln w="15875">
            <a:solidFill>
              <a:srgbClr val="180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7498079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9FFFC0"/>
                </a:solidFill>
                <a:latin typeface="Poppins"/>
              </a:rPr>
              <a:t>WHY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7909560"/>
            <a:ext cx="16093440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Engines expect thin horizontal type.
These stamps are fat, binary, and only a few glyphs long.
No drug-name dictionary was used to force a match.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9893808"/>
            <a:ext cx="9144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46E7A"/>
                </a:solidFill>
                <a:latin typeface="Poppins"/>
              </a:rPr>
              <a:t>IIT Delhi  ·  ELD411  ·  Mid-Term Review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A7A0"/>
                </a:solidFill>
                <a:latin typeface="Poppins"/>
              </a:rPr>
              <a:t>GEMMA WAS RIGHT ONLY AFTER TWO IMAGE BUGS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50876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180E66"/>
                </a:solidFill>
                <a:latin typeface="Poppins"/>
              </a:rPr>
              <a:t>Local gemma3:4b  ·  no antibiotic dictionary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98448"/>
            <a:ext cx="17007840" cy="0"/>
          </a:xfrm>
          <a:prstGeom prst="line">
            <a:avLst/>
          </a:prstGeom>
          <a:ln w="15875">
            <a:solidFill>
              <a:srgbClr val="D5D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16400" y="329184"/>
            <a:ext cx="731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646E7A"/>
                </a:solidFill>
                <a:latin typeface="Poppin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486400" cy="6766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ZP_896_nea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176272"/>
            <a:ext cx="5266944" cy="52669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" y="7946136"/>
            <a:ext cx="5193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896 nearest zoom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00200"/>
            <a:ext cx="5394960" cy="6766560"/>
          </a:xfrm>
          <a:prstGeom prst="roundRect">
            <a:avLst/>
          </a:prstGeom>
          <a:solidFill>
            <a:srgbClr val="FFF5E5"/>
          </a:solidFill>
          <a:ln w="15875">
            <a:solidFill>
              <a:srgbClr val="C487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3017520"/>
            <a:ext cx="4754880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4000" b="1">
                <a:solidFill>
                  <a:srgbClr val="180E66"/>
                </a:solidFill>
                <a:latin typeface="Poppins"/>
              </a:rPr>
              <a:t>TZP → ZTP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297680"/>
            <a:ext cx="4754880" cy="1645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0">
                <a:solidFill>
                  <a:srgbClr val="19202A"/>
                </a:solidFill>
                <a:latin typeface="Poppins"/>
              </a:rPr>
              <a:t>Zoom / pan-and-scan
swapped letter order.
Native crop later read TZP 110.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932920" y="1600200"/>
            <a:ext cx="2743200" cy="3154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M_rim_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2648" y="1741932"/>
            <a:ext cx="2523744" cy="2523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9224" y="4334256"/>
            <a:ext cx="24505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Rim left  ·  GMI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859000" y="1600200"/>
            <a:ext cx="2743200" cy="3154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M_rim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8728" y="1741932"/>
            <a:ext cx="2523744" cy="2523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005304" y="4334256"/>
            <a:ext cx="24505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80E66"/>
                </a:solidFill>
                <a:latin typeface="Poppins"/>
              </a:rPr>
              <a:t>Rim stripped  ·  GM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932920" y="4983480"/>
            <a:ext cx="5669280" cy="3383280"/>
          </a:xfrm>
          <a:prstGeom prst="roundRect">
            <a:avLst/>
          </a:prstGeom>
          <a:solidFill>
            <a:srgbClr val="180E66"/>
          </a:solidFill>
          <a:ln w="15875">
            <a:solidFill>
              <a:srgbClr val="180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07240" y="5303520"/>
            <a:ext cx="51206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GM → GMI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07240" y="6126480"/>
            <a:ext cx="512064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0">
                <a:solidFill>
                  <a:srgbClr val="DCE7FF"/>
                </a:solidFill>
                <a:latin typeface="Poppins"/>
              </a:rPr>
              <a:t>Leftover rim arc
read as the letter 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07240" y="7452360"/>
            <a:ext cx="5120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9FFFC0"/>
                </a:solidFill>
                <a:latin typeface="Poppins"/>
              </a:rPr>
              <a:t>Keep letter-sized ink. Wipe the arc.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9893808"/>
            <a:ext cx="9144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46E7A"/>
                </a:solidFill>
                <a:latin typeface="Poppins"/>
              </a:rPr>
              <a:t>IIT Delhi  ·  ELD411  ·  Mid-Term Review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A7A0"/>
                </a:solidFill>
                <a:latin typeface="Poppins"/>
              </a:rPr>
              <a:t>NATIVE GEMMA + RIM STRIP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50876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180E66"/>
                </a:solidFill>
                <a:latin typeface="Poppins"/>
              </a:rPr>
              <a:t>12 / 12 on this plate only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98448"/>
            <a:ext cx="17007840" cy="0"/>
          </a:xfrm>
          <a:prstGeom prst="line">
            <a:avLst/>
          </a:prstGeom>
          <a:ln w="15875">
            <a:solidFill>
              <a:srgbClr val="D5D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16400" y="329184"/>
            <a:ext cx="731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646E7A"/>
                </a:solidFill>
                <a:latin typeface="Poppin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760720" cy="7772400"/>
          </a:xfrm>
          <a:prstGeom prst="roundRect">
            <a:avLst/>
          </a:prstGeom>
          <a:solidFill>
            <a:srgbClr val="180E66"/>
          </a:solidFill>
          <a:ln w="15875">
            <a:solidFill>
              <a:srgbClr val="180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9FFFC0"/>
                </a:solidFill>
                <a:latin typeface="Poppins"/>
              </a:rPr>
              <a:t>TEST1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5029200" cy="1645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400" b="1">
                <a:solidFill>
                  <a:srgbClr val="FFFFFF"/>
                </a:solidFill>
                <a:latin typeface="Poppins"/>
              </a:rPr>
              <a:t>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029200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0">
                <a:solidFill>
                  <a:srgbClr val="DCE7FF"/>
                </a:solidFill>
                <a:latin typeface="Poppins"/>
              </a:rPr>
              <a:t>Eye-read ground truth.
n = 12 is not clinical accuracy.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6675120"/>
            <a:ext cx="5029200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9FFFC0"/>
                </a:solidFill>
                <a:latin typeface="Poppins"/>
              </a:rPr>
              <a:t>Offline after
ollama pull gemma3:4b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60020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85623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286000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IPM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24159" y="160020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52759" y="185623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52759" y="2286000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TZP 110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27480" y="160020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0" y="185623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0" y="2286000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GM 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347472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373075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160520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MEM 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24159" y="347472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52759" y="373075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59" y="4160520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AN 30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27480" y="347472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356080" y="373075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356080" y="4160520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CAZ 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534924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560527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6035040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SXT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24159" y="534924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52759" y="560527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59" y="6035040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NN 10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127480" y="534924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356080" y="560527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356080" y="6035040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AM 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7223759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0" y="747979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7909559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CRO 30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59" y="7223759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52759" y="747979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52759" y="7909559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CZ 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127480" y="7223759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356080" y="7479792"/>
            <a:ext cx="7315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2BA7A0"/>
                </a:solidFill>
                <a:latin typeface="Poppins"/>
              </a:rPr>
              <a:t>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356080" y="7909559"/>
            <a:ext cx="301752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180E66"/>
                </a:solidFill>
                <a:latin typeface="Poppins"/>
              </a:rPr>
              <a:t>CIP 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9893808"/>
            <a:ext cx="9144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46E7A"/>
                </a:solidFill>
                <a:latin typeface="Poppins"/>
              </a:rPr>
              <a:t>IIT Delhi  ·  ELD411  ·  Mid-Term Review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A7A0"/>
                </a:solidFill>
                <a:latin typeface="Poppins"/>
              </a:rPr>
              <a:t>OTHER PLATES: THE DETECTOR IS 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50876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180E66"/>
                </a:solidFill>
                <a:latin typeface="Poppins"/>
              </a:rPr>
              <a:t>Same pipeline, watermarked stock photos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298448"/>
            <a:ext cx="17007840" cy="0"/>
          </a:xfrm>
          <a:prstGeom prst="line">
            <a:avLst/>
          </a:prstGeom>
          <a:ln w="15875">
            <a:solidFill>
              <a:srgbClr val="D5DB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16400" y="329184"/>
            <a:ext cx="7315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>
                <a:solidFill>
                  <a:srgbClr val="646E7A"/>
                </a:solidFill>
                <a:latin typeface="Poppin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406908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057400"/>
            <a:ext cx="370332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400" b="1">
                <a:solidFill>
                  <a:srgbClr val="180E66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566160"/>
            <a:ext cx="37033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646E7A"/>
                </a:solidFill>
                <a:latin typeface="Poppins"/>
              </a:rPr>
              <a:t>real discs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737360"/>
            <a:ext cx="406908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057400"/>
            <a:ext cx="370332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400" b="1">
                <a:solidFill>
                  <a:srgbClr val="357852"/>
                </a:solidFill>
                <a:latin typeface="Poppins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566160"/>
            <a:ext cx="37033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646E7A"/>
                </a:solidFill>
                <a:latin typeface="Poppins"/>
              </a:rPr>
              <a:t>proper circles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19" y="1737360"/>
            <a:ext cx="406908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9" y="2057400"/>
            <a:ext cx="370332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400" b="1">
                <a:solidFill>
                  <a:srgbClr val="C48723"/>
                </a:solidFill>
                <a:latin typeface="Poppins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9" y="3566160"/>
            <a:ext cx="37033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646E7A"/>
                </a:solidFill>
                <a:latin typeface="Poppins"/>
              </a:rPr>
              <a:t>missed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807439" y="1737360"/>
            <a:ext cx="4069080" cy="3017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5D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90319" y="2057400"/>
            <a:ext cx="3703320" cy="12801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6400" b="1">
                <a:solidFill>
                  <a:srgbClr val="B84949"/>
                </a:solidFill>
                <a:latin typeface="Poppins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19" y="3566160"/>
            <a:ext cx="37033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646E7A"/>
                </a:solidFill>
                <a:latin typeface="Poppins"/>
              </a:rPr>
              <a:t>false circles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120640"/>
            <a:ext cx="17007840" cy="4160520"/>
          </a:xfrm>
          <a:prstGeom prst="roundRect">
            <a:avLst/>
          </a:prstGeom>
          <a:solidFill>
            <a:srgbClr val="180E66"/>
          </a:solidFill>
          <a:ln w="15875">
            <a:solidFill>
              <a:srgbClr val="180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486400"/>
            <a:ext cx="5486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9FFFC0"/>
                </a:solidFill>
                <a:latin typeface="Poppins"/>
              </a:rPr>
              <a:t>NOT AN OCR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6080760"/>
            <a:ext cx="160020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Hough radii tuned on test1 do not transfer.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6720840"/>
            <a:ext cx="160020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test2: 7 real discs, 0 proper circles, 8 false hits.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7360920"/>
            <a:ext cx="160020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Watermarks and false circles make Gemma say TAB / AM 500.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8001000"/>
            <a:ext cx="160020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Poppins"/>
              </a:rPr>
              <a:t>Hand-filtered good crops still miss under domain shift.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9893808"/>
            <a:ext cx="9144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46E7A"/>
                </a:solidFill>
                <a:latin typeface="Poppins"/>
              </a:rPr>
              <a:t>IIT Delhi  ·  ELD411  ·  Mid-Term Review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Antibiotic disc reading — vision</dc:title>
  <dc:subject>ELD411 Mid-Term Review 2026</dc:subject>
  <dc:creator>Arnav Panjla; Manashvi Garg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
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20"/>
    <p:sldId id="265" r:id="rId21"/>
  </p:sldIdLst>
  <p:sldSz cx="18288000" cy="10287000"/>
  <p:notesSz cx="6858000" cy="9144000"/>
  <p:embeddedFontLst>
    <p:embeddedFont>
      <p:font typeface="Poppins Bold" charset="1" panose="00000800000000000000"/>
      <p:regular r:id="rId14"/>
    </p:embeddedFont>
    <p:embeddedFont>
      <p:font typeface="Inter" charset="1" panose="020B0502030000000004"/>
      <p:regular r:id="rId15"/>
    </p:embeddedFont>
    <p:embeddedFont>
      <p:font typeface="Poppins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notesMaster" Target="notesMasters/notesMaster1.xml"/><Relationship Id="rId18" Type="http://schemas.openxmlformats.org/officeDocument/2006/relationships/theme" Target="theme/theme2.xml"/><Relationship Id="rId19" Type="http://schemas.openxmlformats.org/officeDocument/2006/relationships/notesSlide" Target="notesSlides/notesSlide1.xml"/><Relationship Id="rId20" Type="http://schemas.openxmlformats.org/officeDocument/2006/relationships/slide" Target="slides/slide9.xml"/><Relationship Id="rId21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new arm drawong wil all dimnesion 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5DBFF">
                <a:alpha val="100000"/>
              </a:srgbClr>
            </a:gs>
            <a:gs pos="50000">
              <a:srgbClr val="9FFFC0">
                <a:alpha val="100000"/>
              </a:srgbClr>
            </a:gs>
            <a:gs pos="100000">
              <a:srgbClr val="D5DB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668437"/>
            <a:ext cx="18288000" cy="2676937"/>
            <a:chOff x="0" y="0"/>
            <a:chExt cx="4816593" cy="7050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05037"/>
            </a:xfrm>
            <a:custGeom>
              <a:avLst/>
              <a:gdLst/>
              <a:ahLst/>
              <a:cxnLst/>
              <a:rect r="r" b="b" t="t" l="l"/>
              <a:pathLst>
                <a:path h="70503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05037"/>
                  </a:lnTo>
                  <a:lnTo>
                    <a:pt x="0" y="705037"/>
                  </a:lnTo>
                  <a:close/>
                </a:path>
              </a:pathLst>
            </a:custGeom>
            <a:gradFill rotWithShape="true">
              <a:gsLst>
                <a:gs pos="0">
                  <a:srgbClr val="000E6B">
                    <a:alpha val="100000"/>
                  </a:srgbClr>
                </a:gs>
                <a:gs pos="100000">
                  <a:srgbClr val="0057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762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56205" y="1796162"/>
            <a:ext cx="14194690" cy="7113776"/>
            <a:chOff x="0" y="0"/>
            <a:chExt cx="3738519" cy="18735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38519" cy="1873587"/>
            </a:xfrm>
            <a:custGeom>
              <a:avLst/>
              <a:gdLst/>
              <a:ahLst/>
              <a:cxnLst/>
              <a:rect r="r" b="b" t="t" l="l"/>
              <a:pathLst>
                <a:path h="1873587" w="3738519">
                  <a:moveTo>
                    <a:pt x="43633" y="0"/>
                  </a:moveTo>
                  <a:lnTo>
                    <a:pt x="3694886" y="0"/>
                  </a:lnTo>
                  <a:cubicBezTo>
                    <a:pt x="3718984" y="0"/>
                    <a:pt x="3738519" y="19535"/>
                    <a:pt x="3738519" y="43633"/>
                  </a:cubicBezTo>
                  <a:lnTo>
                    <a:pt x="3738519" y="1829954"/>
                  </a:lnTo>
                  <a:cubicBezTo>
                    <a:pt x="3738519" y="1854052"/>
                    <a:pt x="3718984" y="1873587"/>
                    <a:pt x="3694886" y="1873587"/>
                  </a:cubicBezTo>
                  <a:lnTo>
                    <a:pt x="43633" y="1873587"/>
                  </a:lnTo>
                  <a:cubicBezTo>
                    <a:pt x="32061" y="1873587"/>
                    <a:pt x="20962" y="1868990"/>
                    <a:pt x="12780" y="1860807"/>
                  </a:cubicBezTo>
                  <a:cubicBezTo>
                    <a:pt x="4597" y="1852625"/>
                    <a:pt x="0" y="1841526"/>
                    <a:pt x="0" y="1829954"/>
                  </a:cubicBezTo>
                  <a:lnTo>
                    <a:pt x="0" y="43633"/>
                  </a:lnTo>
                  <a:cubicBezTo>
                    <a:pt x="0" y="32061"/>
                    <a:pt x="4597" y="20962"/>
                    <a:pt x="12780" y="12780"/>
                  </a:cubicBezTo>
                  <a:cubicBezTo>
                    <a:pt x="20962" y="4597"/>
                    <a:pt x="32061" y="0"/>
                    <a:pt x="43633" y="0"/>
                  </a:cubicBezTo>
                  <a:close/>
                </a:path>
              </a:pathLst>
            </a:custGeom>
            <a:solidFill>
              <a:srgbClr val="64646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738519" cy="1930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46655" y="1586612"/>
            <a:ext cx="14194690" cy="7113776"/>
            <a:chOff x="0" y="0"/>
            <a:chExt cx="3738519" cy="18735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38519" cy="1873587"/>
            </a:xfrm>
            <a:custGeom>
              <a:avLst/>
              <a:gdLst/>
              <a:ahLst/>
              <a:cxnLst/>
              <a:rect r="r" b="b" t="t" l="l"/>
              <a:pathLst>
                <a:path h="1873587" w="3738519">
                  <a:moveTo>
                    <a:pt x="43633" y="0"/>
                  </a:moveTo>
                  <a:lnTo>
                    <a:pt x="3694886" y="0"/>
                  </a:lnTo>
                  <a:cubicBezTo>
                    <a:pt x="3718984" y="0"/>
                    <a:pt x="3738519" y="19535"/>
                    <a:pt x="3738519" y="43633"/>
                  </a:cubicBezTo>
                  <a:lnTo>
                    <a:pt x="3738519" y="1829954"/>
                  </a:lnTo>
                  <a:cubicBezTo>
                    <a:pt x="3738519" y="1854052"/>
                    <a:pt x="3718984" y="1873587"/>
                    <a:pt x="3694886" y="1873587"/>
                  </a:cubicBezTo>
                  <a:lnTo>
                    <a:pt x="43633" y="1873587"/>
                  </a:lnTo>
                  <a:cubicBezTo>
                    <a:pt x="32061" y="1873587"/>
                    <a:pt x="20962" y="1868990"/>
                    <a:pt x="12780" y="1860807"/>
                  </a:cubicBezTo>
                  <a:cubicBezTo>
                    <a:pt x="4597" y="1852625"/>
                    <a:pt x="0" y="1841526"/>
                    <a:pt x="0" y="1829954"/>
                  </a:cubicBezTo>
                  <a:lnTo>
                    <a:pt x="0" y="43633"/>
                  </a:lnTo>
                  <a:cubicBezTo>
                    <a:pt x="0" y="32061"/>
                    <a:pt x="4597" y="20962"/>
                    <a:pt x="12780" y="12780"/>
                  </a:cubicBezTo>
                  <a:cubicBezTo>
                    <a:pt x="20962" y="4597"/>
                    <a:pt x="32061" y="0"/>
                    <a:pt x="43633" y="0"/>
                  </a:cubicBez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738519" cy="1930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62591" y="-988210"/>
            <a:ext cx="5762818" cy="3296724"/>
            <a:chOff x="0" y="0"/>
            <a:chExt cx="1517779" cy="8682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17779" cy="868273"/>
            </a:xfrm>
            <a:custGeom>
              <a:avLst/>
              <a:gdLst/>
              <a:ahLst/>
              <a:cxnLst/>
              <a:rect r="r" b="b" t="t" l="l"/>
              <a:pathLst>
                <a:path h="868273" w="1517779">
                  <a:moveTo>
                    <a:pt x="68515" y="0"/>
                  </a:moveTo>
                  <a:lnTo>
                    <a:pt x="1449265" y="0"/>
                  </a:lnTo>
                  <a:cubicBezTo>
                    <a:pt x="1487104" y="0"/>
                    <a:pt x="1517779" y="30675"/>
                    <a:pt x="1517779" y="68515"/>
                  </a:cubicBezTo>
                  <a:lnTo>
                    <a:pt x="1517779" y="799758"/>
                  </a:lnTo>
                  <a:cubicBezTo>
                    <a:pt x="1517779" y="817930"/>
                    <a:pt x="1510561" y="835357"/>
                    <a:pt x="1497712" y="848206"/>
                  </a:cubicBezTo>
                  <a:cubicBezTo>
                    <a:pt x="1484863" y="861055"/>
                    <a:pt x="1467436" y="868273"/>
                    <a:pt x="1449265" y="868273"/>
                  </a:cubicBezTo>
                  <a:lnTo>
                    <a:pt x="68515" y="868273"/>
                  </a:lnTo>
                  <a:cubicBezTo>
                    <a:pt x="30675" y="868273"/>
                    <a:pt x="0" y="837598"/>
                    <a:pt x="0" y="799758"/>
                  </a:cubicBezTo>
                  <a:lnTo>
                    <a:pt x="0" y="68515"/>
                  </a:lnTo>
                  <a:cubicBezTo>
                    <a:pt x="0" y="50343"/>
                    <a:pt x="7218" y="32917"/>
                    <a:pt x="20067" y="20067"/>
                  </a:cubicBezTo>
                  <a:cubicBezTo>
                    <a:pt x="32917" y="7218"/>
                    <a:pt x="50343" y="0"/>
                    <a:pt x="6851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E6B">
                    <a:alpha val="100000"/>
                  </a:srgbClr>
                </a:gs>
                <a:gs pos="100000">
                  <a:srgbClr val="0057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517779" cy="9254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89942" y="660153"/>
            <a:ext cx="2713427" cy="2730492"/>
          </a:xfrm>
          <a:custGeom>
            <a:avLst/>
            <a:gdLst/>
            <a:ahLst/>
            <a:cxnLst/>
            <a:rect r="r" b="b" t="t" l="l"/>
            <a:pathLst>
              <a:path h="2730492" w="2713427">
                <a:moveTo>
                  <a:pt x="0" y="0"/>
                </a:moveTo>
                <a:lnTo>
                  <a:pt x="2713427" y="0"/>
                </a:lnTo>
                <a:lnTo>
                  <a:pt x="2713427" y="2730492"/>
                </a:lnTo>
                <a:lnTo>
                  <a:pt x="0" y="27304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884631" y="7146243"/>
            <a:ext cx="2713427" cy="2730492"/>
          </a:xfrm>
          <a:custGeom>
            <a:avLst/>
            <a:gdLst/>
            <a:ahLst/>
            <a:cxnLst/>
            <a:rect r="r" b="b" t="t" l="l"/>
            <a:pathLst>
              <a:path h="2730492" w="2713427">
                <a:moveTo>
                  <a:pt x="0" y="0"/>
                </a:moveTo>
                <a:lnTo>
                  <a:pt x="2713427" y="0"/>
                </a:lnTo>
                <a:lnTo>
                  <a:pt x="2713427" y="2730492"/>
                </a:lnTo>
                <a:lnTo>
                  <a:pt x="0" y="27304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938940" y="6022293"/>
            <a:ext cx="8632030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20"/>
              </a:lnSpc>
            </a:pPr>
            <a:r>
              <a:rPr lang="en-US" b="true" sz="3600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Autonomous robotic manipulator for AMR sampling (Petri Dish)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18184" y="3156604"/>
            <a:ext cx="10194102" cy="2285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745"/>
              </a:lnSpc>
            </a:pPr>
            <a:r>
              <a:rPr lang="en-US" b="true" sz="1267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ELD411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6560" y="9156333"/>
            <a:ext cx="4732312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Arnav Panjla 2023EE10978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Manashvi Garg 2023EE11104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029719" y="5113890"/>
            <a:ext cx="3971032" cy="440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0"/>
              </a:lnSpc>
              <a:spcBef>
                <a:spcPct val="0"/>
              </a:spcBef>
            </a:pPr>
            <a:r>
              <a:rPr lang="en-US" sz="254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Mid-Term Review — 2026</a:t>
            </a:r>
          </a:p>
        </p:txBody>
      </p:sp>
      <p:sp>
        <p:nvSpPr>
          <p:cNvPr name="AutoShape 20" id="20"/>
          <p:cNvSpPr/>
          <p:nvPr/>
        </p:nvSpPr>
        <p:spPr>
          <a:xfrm>
            <a:off x="5897880" y="514350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2537" y="497957"/>
            <a:ext cx="7888348" cy="3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61187" y="858745"/>
            <a:ext cx="16261652" cy="816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The Challenge: Scaling AMR Surveillance</a:t>
            </a:r>
          </a:p>
        </p:txBody>
      </p:sp>
      <p:sp>
        <p:nvSpPr>
          <p:cNvPr name="AutoShape 4" id="4"/>
          <p:cNvSpPr/>
          <p:nvPr/>
        </p:nvSpPr>
        <p:spPr>
          <a:xfrm>
            <a:off x="578454" y="1650977"/>
            <a:ext cx="16504861" cy="19012"/>
          </a:xfrm>
          <a:prstGeom prst="line">
            <a:avLst/>
          </a:prstGeom>
          <a:ln cap="rnd" w="9525">
            <a:solidFill>
              <a:srgbClr val="D5DB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6810634" y="566595"/>
            <a:ext cx="544554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AutoShape 6" id="6"/>
          <p:cNvSpPr/>
          <p:nvPr/>
        </p:nvSpPr>
        <p:spPr>
          <a:xfrm>
            <a:off x="3659694" y="5357384"/>
            <a:ext cx="477387" cy="38133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4055964" y="5314395"/>
            <a:ext cx="124111" cy="124111"/>
            <a:chOff x="0" y="0"/>
            <a:chExt cx="165481" cy="1654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5608" cy="165608"/>
            </a:xfrm>
            <a:custGeom>
              <a:avLst/>
              <a:gdLst/>
              <a:ahLst/>
              <a:cxnLst/>
              <a:rect r="r" b="b" t="t" l="l"/>
              <a:pathLst>
                <a:path h="165608" w="165608">
                  <a:moveTo>
                    <a:pt x="0" y="82804"/>
                  </a:moveTo>
                  <a:cubicBezTo>
                    <a:pt x="0" y="37084"/>
                    <a:pt x="37084" y="0"/>
                    <a:pt x="82804" y="0"/>
                  </a:cubicBezTo>
                  <a:cubicBezTo>
                    <a:pt x="128524" y="0"/>
                    <a:pt x="165608" y="37084"/>
                    <a:pt x="165608" y="82804"/>
                  </a:cubicBezTo>
                  <a:cubicBezTo>
                    <a:pt x="165608" y="128524"/>
                    <a:pt x="128524" y="165608"/>
                    <a:pt x="82804" y="165608"/>
                  </a:cubicBezTo>
                  <a:cubicBezTo>
                    <a:pt x="37084" y="165608"/>
                    <a:pt x="0" y="128397"/>
                    <a:pt x="0" y="82804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896436" y="4708034"/>
            <a:ext cx="2819314" cy="1501550"/>
            <a:chOff x="0" y="0"/>
            <a:chExt cx="3759086" cy="20020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59073" cy="2002028"/>
            </a:xfrm>
            <a:custGeom>
              <a:avLst/>
              <a:gdLst/>
              <a:ahLst/>
              <a:cxnLst/>
              <a:rect r="r" b="b" t="t" l="l"/>
              <a:pathLst>
                <a:path h="2002028" w="3759073">
                  <a:moveTo>
                    <a:pt x="0" y="333629"/>
                  </a:moveTo>
                  <a:cubicBezTo>
                    <a:pt x="0" y="149352"/>
                    <a:pt x="149352" y="0"/>
                    <a:pt x="333629" y="0"/>
                  </a:cubicBezTo>
                  <a:lnTo>
                    <a:pt x="3425444" y="0"/>
                  </a:lnTo>
                  <a:cubicBezTo>
                    <a:pt x="3609721" y="0"/>
                    <a:pt x="3759073" y="149352"/>
                    <a:pt x="3759073" y="333629"/>
                  </a:cubicBezTo>
                  <a:lnTo>
                    <a:pt x="3759073" y="1668399"/>
                  </a:lnTo>
                  <a:cubicBezTo>
                    <a:pt x="3759073" y="1852676"/>
                    <a:pt x="3609721" y="2002028"/>
                    <a:pt x="3425444" y="2002028"/>
                  </a:cubicBezTo>
                  <a:lnTo>
                    <a:pt x="333629" y="2002028"/>
                  </a:lnTo>
                  <a:cubicBezTo>
                    <a:pt x="149352" y="2002028"/>
                    <a:pt x="0" y="1852676"/>
                    <a:pt x="0" y="166839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162164" y="4940996"/>
            <a:ext cx="393554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2164" y="5293688"/>
            <a:ext cx="2287848" cy="252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VILLAGES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2164" y="5682232"/>
            <a:ext cx="2287848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Distributed sampling</a:t>
            </a:r>
          </a:p>
        </p:txBody>
      </p:sp>
      <p:sp>
        <p:nvSpPr>
          <p:cNvPr name="AutoShape 14" id="14"/>
          <p:cNvSpPr/>
          <p:nvPr/>
        </p:nvSpPr>
        <p:spPr>
          <a:xfrm>
            <a:off x="7036468" y="5357384"/>
            <a:ext cx="477387" cy="38133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7432738" y="5314395"/>
            <a:ext cx="124111" cy="124111"/>
            <a:chOff x="0" y="0"/>
            <a:chExt cx="165481" cy="1654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5608" cy="165608"/>
            </a:xfrm>
            <a:custGeom>
              <a:avLst/>
              <a:gdLst/>
              <a:ahLst/>
              <a:cxnLst/>
              <a:rect r="r" b="b" t="t" l="l"/>
              <a:pathLst>
                <a:path h="165608" w="165608">
                  <a:moveTo>
                    <a:pt x="0" y="82804"/>
                  </a:moveTo>
                  <a:cubicBezTo>
                    <a:pt x="0" y="37084"/>
                    <a:pt x="37084" y="0"/>
                    <a:pt x="82804" y="0"/>
                  </a:cubicBezTo>
                  <a:cubicBezTo>
                    <a:pt x="128524" y="0"/>
                    <a:pt x="165608" y="37084"/>
                    <a:pt x="165608" y="82804"/>
                  </a:cubicBezTo>
                  <a:cubicBezTo>
                    <a:pt x="165608" y="128524"/>
                    <a:pt x="128524" y="165608"/>
                    <a:pt x="82804" y="165608"/>
                  </a:cubicBezTo>
                  <a:cubicBezTo>
                    <a:pt x="37084" y="165608"/>
                    <a:pt x="0" y="128397"/>
                    <a:pt x="0" y="82804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4273201" y="4708034"/>
            <a:ext cx="2819314" cy="1501550"/>
            <a:chOff x="0" y="0"/>
            <a:chExt cx="3759086" cy="20020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59073" cy="2002028"/>
            </a:xfrm>
            <a:custGeom>
              <a:avLst/>
              <a:gdLst/>
              <a:ahLst/>
              <a:cxnLst/>
              <a:rect r="r" b="b" t="t" l="l"/>
              <a:pathLst>
                <a:path h="2002028" w="3759073">
                  <a:moveTo>
                    <a:pt x="0" y="333629"/>
                  </a:moveTo>
                  <a:cubicBezTo>
                    <a:pt x="0" y="149352"/>
                    <a:pt x="149352" y="0"/>
                    <a:pt x="333629" y="0"/>
                  </a:cubicBezTo>
                  <a:lnTo>
                    <a:pt x="3425444" y="0"/>
                  </a:lnTo>
                  <a:cubicBezTo>
                    <a:pt x="3609721" y="0"/>
                    <a:pt x="3759073" y="149352"/>
                    <a:pt x="3759073" y="333629"/>
                  </a:cubicBezTo>
                  <a:lnTo>
                    <a:pt x="3759073" y="1668399"/>
                  </a:lnTo>
                  <a:cubicBezTo>
                    <a:pt x="3759073" y="1852676"/>
                    <a:pt x="3609721" y="2002028"/>
                    <a:pt x="3425444" y="2002028"/>
                  </a:cubicBezTo>
                  <a:lnTo>
                    <a:pt x="333629" y="2002028"/>
                  </a:lnTo>
                  <a:cubicBezTo>
                    <a:pt x="149352" y="2002028"/>
                    <a:pt x="0" y="1852676"/>
                    <a:pt x="0" y="166839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4538939" y="4940996"/>
            <a:ext cx="393554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538939" y="5293688"/>
            <a:ext cx="2287848" cy="252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COLLECTION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538939" y="5682232"/>
            <a:ext cx="2287848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Repeated visits</a:t>
            </a:r>
          </a:p>
        </p:txBody>
      </p:sp>
      <p:sp>
        <p:nvSpPr>
          <p:cNvPr name="AutoShape 22" id="22"/>
          <p:cNvSpPr/>
          <p:nvPr/>
        </p:nvSpPr>
        <p:spPr>
          <a:xfrm>
            <a:off x="10413243" y="5357384"/>
            <a:ext cx="477387" cy="38133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0809513" y="5314395"/>
            <a:ext cx="124111" cy="124111"/>
            <a:chOff x="0" y="0"/>
            <a:chExt cx="165481" cy="16548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5608" cy="165608"/>
            </a:xfrm>
            <a:custGeom>
              <a:avLst/>
              <a:gdLst/>
              <a:ahLst/>
              <a:cxnLst/>
              <a:rect r="r" b="b" t="t" l="l"/>
              <a:pathLst>
                <a:path h="165608" w="165608">
                  <a:moveTo>
                    <a:pt x="0" y="82804"/>
                  </a:moveTo>
                  <a:cubicBezTo>
                    <a:pt x="0" y="37084"/>
                    <a:pt x="37084" y="0"/>
                    <a:pt x="82804" y="0"/>
                  </a:cubicBezTo>
                  <a:cubicBezTo>
                    <a:pt x="128524" y="0"/>
                    <a:pt x="165608" y="37084"/>
                    <a:pt x="165608" y="82804"/>
                  </a:cubicBezTo>
                  <a:cubicBezTo>
                    <a:pt x="165608" y="128524"/>
                    <a:pt x="128524" y="165608"/>
                    <a:pt x="82804" y="165608"/>
                  </a:cubicBezTo>
                  <a:cubicBezTo>
                    <a:pt x="37084" y="165608"/>
                    <a:pt x="0" y="128397"/>
                    <a:pt x="0" y="82804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7649975" y="4708034"/>
            <a:ext cx="2819314" cy="1501550"/>
            <a:chOff x="0" y="0"/>
            <a:chExt cx="3759086" cy="200206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759073" cy="2002028"/>
            </a:xfrm>
            <a:custGeom>
              <a:avLst/>
              <a:gdLst/>
              <a:ahLst/>
              <a:cxnLst/>
              <a:rect r="r" b="b" t="t" l="l"/>
              <a:pathLst>
                <a:path h="2002028" w="3759073">
                  <a:moveTo>
                    <a:pt x="0" y="333629"/>
                  </a:moveTo>
                  <a:cubicBezTo>
                    <a:pt x="0" y="149352"/>
                    <a:pt x="149352" y="0"/>
                    <a:pt x="333629" y="0"/>
                  </a:cubicBezTo>
                  <a:lnTo>
                    <a:pt x="3425444" y="0"/>
                  </a:lnTo>
                  <a:cubicBezTo>
                    <a:pt x="3609721" y="0"/>
                    <a:pt x="3759073" y="149352"/>
                    <a:pt x="3759073" y="333629"/>
                  </a:cubicBezTo>
                  <a:lnTo>
                    <a:pt x="3759073" y="1668399"/>
                  </a:lnTo>
                  <a:cubicBezTo>
                    <a:pt x="3759073" y="1852676"/>
                    <a:pt x="3609721" y="2002028"/>
                    <a:pt x="3425444" y="2002028"/>
                  </a:cubicBezTo>
                  <a:lnTo>
                    <a:pt x="333629" y="2002028"/>
                  </a:lnTo>
                  <a:cubicBezTo>
                    <a:pt x="149352" y="2002028"/>
                    <a:pt x="0" y="1852676"/>
                    <a:pt x="0" y="166839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7915713" y="4940996"/>
            <a:ext cx="393554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915713" y="5293688"/>
            <a:ext cx="2287848" cy="252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LAB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915713" y="5682232"/>
            <a:ext cx="2287848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Central processing</a:t>
            </a:r>
          </a:p>
        </p:txBody>
      </p:sp>
      <p:sp>
        <p:nvSpPr>
          <p:cNvPr name="AutoShape 30" id="30"/>
          <p:cNvSpPr/>
          <p:nvPr/>
        </p:nvSpPr>
        <p:spPr>
          <a:xfrm>
            <a:off x="13790017" y="5357384"/>
            <a:ext cx="477387" cy="38133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14186287" y="5314395"/>
            <a:ext cx="124111" cy="124111"/>
            <a:chOff x="0" y="0"/>
            <a:chExt cx="165481" cy="1654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5608" cy="165608"/>
            </a:xfrm>
            <a:custGeom>
              <a:avLst/>
              <a:gdLst/>
              <a:ahLst/>
              <a:cxnLst/>
              <a:rect r="r" b="b" t="t" l="l"/>
              <a:pathLst>
                <a:path h="165608" w="165608">
                  <a:moveTo>
                    <a:pt x="0" y="82804"/>
                  </a:moveTo>
                  <a:cubicBezTo>
                    <a:pt x="0" y="37084"/>
                    <a:pt x="37084" y="0"/>
                    <a:pt x="82804" y="0"/>
                  </a:cubicBezTo>
                  <a:cubicBezTo>
                    <a:pt x="128524" y="0"/>
                    <a:pt x="165608" y="37084"/>
                    <a:pt x="165608" y="82804"/>
                  </a:cubicBezTo>
                  <a:cubicBezTo>
                    <a:pt x="165608" y="128524"/>
                    <a:pt x="128524" y="165608"/>
                    <a:pt x="82804" y="165608"/>
                  </a:cubicBezTo>
                  <a:cubicBezTo>
                    <a:pt x="37084" y="165608"/>
                    <a:pt x="0" y="128397"/>
                    <a:pt x="0" y="82804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1026750" y="4708034"/>
            <a:ext cx="2819314" cy="1501550"/>
            <a:chOff x="0" y="0"/>
            <a:chExt cx="3759086" cy="200206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759073" cy="2002028"/>
            </a:xfrm>
            <a:custGeom>
              <a:avLst/>
              <a:gdLst/>
              <a:ahLst/>
              <a:cxnLst/>
              <a:rect r="r" b="b" t="t" l="l"/>
              <a:pathLst>
                <a:path h="2002028" w="3759073">
                  <a:moveTo>
                    <a:pt x="0" y="333629"/>
                  </a:moveTo>
                  <a:cubicBezTo>
                    <a:pt x="0" y="149352"/>
                    <a:pt x="149352" y="0"/>
                    <a:pt x="333629" y="0"/>
                  </a:cubicBezTo>
                  <a:lnTo>
                    <a:pt x="3425444" y="0"/>
                  </a:lnTo>
                  <a:cubicBezTo>
                    <a:pt x="3609721" y="0"/>
                    <a:pt x="3759073" y="149352"/>
                    <a:pt x="3759073" y="333629"/>
                  </a:cubicBezTo>
                  <a:lnTo>
                    <a:pt x="3759073" y="1668399"/>
                  </a:lnTo>
                  <a:cubicBezTo>
                    <a:pt x="3759073" y="1852676"/>
                    <a:pt x="3609721" y="2002028"/>
                    <a:pt x="3425444" y="2002028"/>
                  </a:cubicBezTo>
                  <a:lnTo>
                    <a:pt x="333629" y="2002028"/>
                  </a:lnTo>
                  <a:cubicBezTo>
                    <a:pt x="149352" y="2002028"/>
                    <a:pt x="0" y="1852676"/>
                    <a:pt x="0" y="166839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1292488" y="4940996"/>
            <a:ext cx="393554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292488" y="5293688"/>
            <a:ext cx="2287848" cy="252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DISHES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292488" y="5682232"/>
            <a:ext cx="2287848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Handling + imaging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4403524" y="4708034"/>
            <a:ext cx="2819314" cy="1501550"/>
            <a:chOff x="0" y="0"/>
            <a:chExt cx="3759086" cy="200206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759073" cy="2002028"/>
            </a:xfrm>
            <a:custGeom>
              <a:avLst/>
              <a:gdLst/>
              <a:ahLst/>
              <a:cxnLst/>
              <a:rect r="r" b="b" t="t" l="l"/>
              <a:pathLst>
                <a:path h="2002028" w="3759073">
                  <a:moveTo>
                    <a:pt x="0" y="333629"/>
                  </a:moveTo>
                  <a:cubicBezTo>
                    <a:pt x="0" y="149352"/>
                    <a:pt x="149352" y="0"/>
                    <a:pt x="333629" y="0"/>
                  </a:cubicBezTo>
                  <a:lnTo>
                    <a:pt x="3425444" y="0"/>
                  </a:lnTo>
                  <a:cubicBezTo>
                    <a:pt x="3609721" y="0"/>
                    <a:pt x="3759073" y="149352"/>
                    <a:pt x="3759073" y="333629"/>
                  </a:cubicBezTo>
                  <a:lnTo>
                    <a:pt x="3759073" y="1668399"/>
                  </a:lnTo>
                  <a:cubicBezTo>
                    <a:pt x="3759073" y="1852676"/>
                    <a:pt x="3609721" y="2002028"/>
                    <a:pt x="3425444" y="2002028"/>
                  </a:cubicBezTo>
                  <a:lnTo>
                    <a:pt x="333629" y="2002028"/>
                  </a:lnTo>
                  <a:cubicBezTo>
                    <a:pt x="149352" y="2002028"/>
                    <a:pt x="0" y="1852676"/>
                    <a:pt x="0" y="166839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48723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14669262" y="4940996"/>
            <a:ext cx="393554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669262" y="5293688"/>
            <a:ext cx="2287848" cy="252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BOTTLENECK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669262" y="5682232"/>
            <a:ext cx="2287848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Manual repetition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162164" y="7065649"/>
            <a:ext cx="233924" cy="233924"/>
            <a:chOff x="0" y="0"/>
            <a:chExt cx="311899" cy="31189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11912" cy="311912"/>
            </a:xfrm>
            <a:custGeom>
              <a:avLst/>
              <a:gdLst/>
              <a:ahLst/>
              <a:cxnLst/>
              <a:rect r="r" b="b" t="t" l="l"/>
              <a:pathLst>
                <a:path h="311912" w="311912">
                  <a:moveTo>
                    <a:pt x="0" y="155956"/>
                  </a:moveTo>
                  <a:cubicBezTo>
                    <a:pt x="0" y="69850"/>
                    <a:pt x="69850" y="0"/>
                    <a:pt x="155956" y="0"/>
                  </a:cubicBezTo>
                  <a:cubicBezTo>
                    <a:pt x="242062" y="0"/>
                    <a:pt x="311912" y="69850"/>
                    <a:pt x="311912" y="155956"/>
                  </a:cubicBezTo>
                  <a:cubicBezTo>
                    <a:pt x="311912" y="242062"/>
                    <a:pt x="242062" y="311912"/>
                    <a:pt x="155956" y="311912"/>
                  </a:cubicBezTo>
                  <a:cubicBezTo>
                    <a:pt x="69850" y="311912"/>
                    <a:pt x="0" y="242062"/>
                    <a:pt x="0" y="155956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1645148" y="7012166"/>
            <a:ext cx="702349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9202A"/>
                </a:solidFill>
                <a:latin typeface="Poppins"/>
                <a:ea typeface="Poppins"/>
                <a:cs typeface="Poppins"/>
                <a:sym typeface="Poppins"/>
              </a:rPr>
              <a:t>Repeated sampling creates high laboratory load.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162164" y="7698451"/>
            <a:ext cx="233924" cy="233924"/>
            <a:chOff x="0" y="0"/>
            <a:chExt cx="311899" cy="31189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11912" cy="311912"/>
            </a:xfrm>
            <a:custGeom>
              <a:avLst/>
              <a:gdLst/>
              <a:ahLst/>
              <a:cxnLst/>
              <a:rect r="r" b="b" t="t" l="l"/>
              <a:pathLst>
                <a:path h="311912" w="311912">
                  <a:moveTo>
                    <a:pt x="0" y="155956"/>
                  </a:moveTo>
                  <a:cubicBezTo>
                    <a:pt x="0" y="69850"/>
                    <a:pt x="69850" y="0"/>
                    <a:pt x="155956" y="0"/>
                  </a:cubicBezTo>
                  <a:cubicBezTo>
                    <a:pt x="242062" y="0"/>
                    <a:pt x="311912" y="69850"/>
                    <a:pt x="311912" y="155956"/>
                  </a:cubicBezTo>
                  <a:cubicBezTo>
                    <a:pt x="311912" y="242062"/>
                    <a:pt x="242062" y="311912"/>
                    <a:pt x="155956" y="311912"/>
                  </a:cubicBezTo>
                  <a:cubicBezTo>
                    <a:pt x="69850" y="311912"/>
                    <a:pt x="0" y="242062"/>
                    <a:pt x="0" y="155956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sp>
        <p:nvSpPr>
          <p:cNvPr name="TextBox 48" id="48"/>
          <p:cNvSpPr txBox="true"/>
          <p:nvPr/>
        </p:nvSpPr>
        <p:spPr>
          <a:xfrm rot="0">
            <a:off x="1645148" y="7644969"/>
            <a:ext cx="9810093" cy="394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9202A"/>
                </a:solidFill>
                <a:latin typeface="Poppins"/>
                <a:ea typeface="Poppins"/>
                <a:cs typeface="Poppins"/>
                <a:sym typeface="Poppins"/>
              </a:rPr>
              <a:t>Dish transport, imaging and logging are repetitive.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162164" y="8330740"/>
            <a:ext cx="233924" cy="233924"/>
            <a:chOff x="0" y="0"/>
            <a:chExt cx="311899" cy="31189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11912" cy="311912"/>
            </a:xfrm>
            <a:custGeom>
              <a:avLst/>
              <a:gdLst/>
              <a:ahLst/>
              <a:cxnLst/>
              <a:rect r="r" b="b" t="t" l="l"/>
              <a:pathLst>
                <a:path h="311912" w="311912">
                  <a:moveTo>
                    <a:pt x="0" y="155956"/>
                  </a:moveTo>
                  <a:cubicBezTo>
                    <a:pt x="0" y="69850"/>
                    <a:pt x="69850" y="0"/>
                    <a:pt x="155956" y="0"/>
                  </a:cubicBezTo>
                  <a:cubicBezTo>
                    <a:pt x="242062" y="0"/>
                    <a:pt x="311912" y="69850"/>
                    <a:pt x="311912" y="155956"/>
                  </a:cubicBezTo>
                  <a:cubicBezTo>
                    <a:pt x="311912" y="242062"/>
                    <a:pt x="242062" y="311912"/>
                    <a:pt x="155956" y="311912"/>
                  </a:cubicBezTo>
                  <a:cubicBezTo>
                    <a:pt x="69850" y="311912"/>
                    <a:pt x="0" y="242062"/>
                    <a:pt x="0" y="155956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sp>
        <p:nvSpPr>
          <p:cNvPr name="TextBox 51" id="51"/>
          <p:cNvSpPr txBox="true"/>
          <p:nvPr/>
        </p:nvSpPr>
        <p:spPr>
          <a:xfrm rot="0">
            <a:off x="1645148" y="8277257"/>
            <a:ext cx="9810093" cy="394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9202A"/>
                </a:solidFill>
                <a:latin typeface="Poppins Bold"/>
                <a:ea typeface="Poppins Bold"/>
                <a:cs typeface="Poppins Bold"/>
                <a:sym typeface="Poppins Bold"/>
              </a:rPr>
              <a:t>Manual handling limits throughput and traceability.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2188919" y="6523447"/>
            <a:ext cx="4960687" cy="2817859"/>
            <a:chOff x="0" y="0"/>
            <a:chExt cx="6614249" cy="375714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614287" cy="3757102"/>
            </a:xfrm>
            <a:custGeom>
              <a:avLst/>
              <a:gdLst/>
              <a:ahLst/>
              <a:cxnLst/>
              <a:rect r="r" b="b" t="t" l="l"/>
              <a:pathLst>
                <a:path h="3757102" w="6614287">
                  <a:moveTo>
                    <a:pt x="0" y="626202"/>
                  </a:moveTo>
                  <a:cubicBezTo>
                    <a:pt x="0" y="280323"/>
                    <a:pt x="332359" y="0"/>
                    <a:pt x="742442" y="0"/>
                  </a:cubicBezTo>
                  <a:lnTo>
                    <a:pt x="5871845" y="0"/>
                  </a:lnTo>
                  <a:cubicBezTo>
                    <a:pt x="6281928" y="0"/>
                    <a:pt x="6614287" y="280323"/>
                    <a:pt x="6614287" y="626202"/>
                  </a:cubicBezTo>
                  <a:lnTo>
                    <a:pt x="6614287" y="3130901"/>
                  </a:lnTo>
                  <a:cubicBezTo>
                    <a:pt x="6614287" y="3476779"/>
                    <a:pt x="6281928" y="3757102"/>
                    <a:pt x="5871845" y="3757102"/>
                  </a:cubicBezTo>
                  <a:lnTo>
                    <a:pt x="742442" y="3757102"/>
                  </a:lnTo>
                  <a:cubicBezTo>
                    <a:pt x="332359" y="3757102"/>
                    <a:pt x="0" y="3476778"/>
                    <a:pt x="0" y="3130901"/>
                  </a:cubicBezTo>
                  <a:close/>
                </a:path>
              </a:pathLst>
            </a:custGeom>
            <a:solidFill>
              <a:srgbClr val="180E66"/>
            </a:solidFill>
            <a:ln w="19065" cap="sq">
              <a:solidFill>
                <a:srgbClr val="180E66"/>
              </a:solidFill>
              <a:prstDash val="solid"/>
              <a:miter/>
            </a:ln>
          </p:spPr>
        </p:sp>
      </p:grpSp>
      <p:sp>
        <p:nvSpPr>
          <p:cNvPr name="TextBox 54" id="54"/>
          <p:cNvSpPr txBox="true"/>
          <p:nvPr/>
        </p:nvSpPr>
        <p:spPr>
          <a:xfrm rot="0">
            <a:off x="12681147" y="6779106"/>
            <a:ext cx="3976230" cy="30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9FFFC0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646824" y="7335881"/>
            <a:ext cx="4127230" cy="1450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3"/>
              </a:lnSpc>
            </a:pPr>
            <a:r>
              <a:rPr lang="en-US" sz="314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Automate Petri-dish</a:t>
            </a:r>
          </a:p>
          <a:p>
            <a:pPr algn="l">
              <a:lnSpc>
                <a:spcPts val="3773"/>
              </a:lnSpc>
            </a:pPr>
            <a:r>
              <a:rPr lang="en-US" sz="314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handling + imaging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42537" y="9800482"/>
            <a:ext cx="109082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· ELD411 · Mid-Term Review 2026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96436" y="2271989"/>
            <a:ext cx="17130898" cy="1598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Antimicrobial resistance (AMR) requires continuous surveillance.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Rural/village-level sampling can generate many biological samples.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Samples need to be collected, transported, incubated/processed and analyzed.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Manual Petri-dish handling becomes a bottleneck as sample volume increases.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2537" y="497957"/>
            <a:ext cx="7888348" cy="3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MARKET AND SCALE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2537" y="945623"/>
            <a:ext cx="16261652" cy="816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From Village Sampling to Laboratory Load</a:t>
            </a:r>
          </a:p>
        </p:txBody>
      </p:sp>
      <p:sp>
        <p:nvSpPr>
          <p:cNvPr name="AutoShape 4" id="4"/>
          <p:cNvSpPr/>
          <p:nvPr/>
        </p:nvSpPr>
        <p:spPr>
          <a:xfrm rot="3960">
            <a:off x="896426" y="1916982"/>
            <a:ext cx="16504872" cy="0"/>
          </a:xfrm>
          <a:prstGeom prst="line">
            <a:avLst/>
          </a:prstGeom>
          <a:ln cap="rnd" w="9525">
            <a:solidFill>
              <a:srgbClr val="D5DB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6810634" y="566595"/>
            <a:ext cx="544554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96436" y="2433828"/>
            <a:ext cx="2819314" cy="1638814"/>
            <a:chOff x="0" y="0"/>
            <a:chExt cx="3759086" cy="21850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59073" cy="2185162"/>
            </a:xfrm>
            <a:custGeom>
              <a:avLst/>
              <a:gdLst/>
              <a:ahLst/>
              <a:cxnLst/>
              <a:rect r="r" b="b" t="t" l="l"/>
              <a:pathLst>
                <a:path h="2185162" w="3759073">
                  <a:moveTo>
                    <a:pt x="0" y="364236"/>
                  </a:moveTo>
                  <a:cubicBezTo>
                    <a:pt x="0" y="163068"/>
                    <a:pt x="163068" y="0"/>
                    <a:pt x="364236" y="0"/>
                  </a:cubicBezTo>
                  <a:lnTo>
                    <a:pt x="3394837" y="0"/>
                  </a:lnTo>
                  <a:cubicBezTo>
                    <a:pt x="3596005" y="0"/>
                    <a:pt x="3759073" y="163068"/>
                    <a:pt x="3759073" y="364236"/>
                  </a:cubicBezTo>
                  <a:lnTo>
                    <a:pt x="3759073" y="1820926"/>
                  </a:lnTo>
                  <a:cubicBezTo>
                    <a:pt x="3759073" y="2022094"/>
                    <a:pt x="3596005" y="2185162"/>
                    <a:pt x="3394837" y="2185162"/>
                  </a:cubicBezTo>
                  <a:lnTo>
                    <a:pt x="364236" y="2185162"/>
                  </a:lnTo>
                  <a:cubicBezTo>
                    <a:pt x="163068" y="2185035"/>
                    <a:pt x="0" y="2022094"/>
                    <a:pt x="0" y="182092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544535" y="2688917"/>
            <a:ext cx="1523107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~3000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4713" y="3421751"/>
            <a:ext cx="2342750" cy="27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people / village</a:t>
            </a:r>
          </a:p>
        </p:txBody>
      </p:sp>
      <p:sp>
        <p:nvSpPr>
          <p:cNvPr name="AutoShape 10" id="10"/>
          <p:cNvSpPr/>
          <p:nvPr/>
        </p:nvSpPr>
        <p:spPr>
          <a:xfrm rot="417180">
            <a:off x="3713445" y="3257436"/>
            <a:ext cx="314982" cy="0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3946150" y="3204905"/>
            <a:ext cx="124111" cy="124111"/>
            <a:chOff x="0" y="0"/>
            <a:chExt cx="165481" cy="16548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5608" cy="165608"/>
            </a:xfrm>
            <a:custGeom>
              <a:avLst/>
              <a:gdLst/>
              <a:ahLst/>
              <a:cxnLst/>
              <a:rect r="r" b="b" t="t" l="l"/>
              <a:pathLst>
                <a:path h="165608" w="165608">
                  <a:moveTo>
                    <a:pt x="0" y="82804"/>
                  </a:moveTo>
                  <a:cubicBezTo>
                    <a:pt x="0" y="37084"/>
                    <a:pt x="37084" y="0"/>
                    <a:pt x="82804" y="0"/>
                  </a:cubicBezTo>
                  <a:cubicBezTo>
                    <a:pt x="128524" y="0"/>
                    <a:pt x="165608" y="37084"/>
                    <a:pt x="165608" y="82804"/>
                  </a:cubicBezTo>
                  <a:cubicBezTo>
                    <a:pt x="165608" y="128524"/>
                    <a:pt x="128524" y="165608"/>
                    <a:pt x="82804" y="165608"/>
                  </a:cubicBezTo>
                  <a:cubicBezTo>
                    <a:pt x="37084" y="165608"/>
                    <a:pt x="0" y="128397"/>
                    <a:pt x="0" y="82804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4108485" y="2433828"/>
            <a:ext cx="2819314" cy="1638814"/>
            <a:chOff x="0" y="0"/>
            <a:chExt cx="3759086" cy="21850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759073" cy="2185162"/>
            </a:xfrm>
            <a:custGeom>
              <a:avLst/>
              <a:gdLst/>
              <a:ahLst/>
              <a:cxnLst/>
              <a:rect r="r" b="b" t="t" l="l"/>
              <a:pathLst>
                <a:path h="2185162" w="3759073">
                  <a:moveTo>
                    <a:pt x="0" y="364236"/>
                  </a:moveTo>
                  <a:cubicBezTo>
                    <a:pt x="0" y="163068"/>
                    <a:pt x="163068" y="0"/>
                    <a:pt x="364236" y="0"/>
                  </a:cubicBezTo>
                  <a:lnTo>
                    <a:pt x="3394837" y="0"/>
                  </a:lnTo>
                  <a:cubicBezTo>
                    <a:pt x="3596005" y="0"/>
                    <a:pt x="3759073" y="163068"/>
                    <a:pt x="3759073" y="364236"/>
                  </a:cubicBezTo>
                  <a:lnTo>
                    <a:pt x="3759073" y="1820926"/>
                  </a:lnTo>
                  <a:cubicBezTo>
                    <a:pt x="3759073" y="2022094"/>
                    <a:pt x="3596005" y="2185162"/>
                    <a:pt x="3394837" y="2185162"/>
                  </a:cubicBezTo>
                  <a:lnTo>
                    <a:pt x="364236" y="2185162"/>
                  </a:lnTo>
                  <a:cubicBezTo>
                    <a:pt x="163068" y="2185035"/>
                    <a:pt x="0" y="2022094"/>
                    <a:pt x="0" y="182092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4865238" y="2688917"/>
            <a:ext cx="1305818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2–3%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24285" y="3309966"/>
            <a:ext cx="257989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sampling fraction*</a:t>
            </a:r>
          </a:p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(people that get sick and actually need testing)</a:t>
            </a:r>
          </a:p>
        </p:txBody>
      </p:sp>
      <p:sp>
        <p:nvSpPr>
          <p:cNvPr name="AutoShape 17" id="17"/>
          <p:cNvSpPr/>
          <p:nvPr/>
        </p:nvSpPr>
        <p:spPr>
          <a:xfrm rot="417180">
            <a:off x="6925504" y="3257436"/>
            <a:ext cx="314982" cy="0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7158199" y="3204905"/>
            <a:ext cx="124111" cy="124111"/>
            <a:chOff x="0" y="0"/>
            <a:chExt cx="165481" cy="1654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5608" cy="165608"/>
            </a:xfrm>
            <a:custGeom>
              <a:avLst/>
              <a:gdLst/>
              <a:ahLst/>
              <a:cxnLst/>
              <a:rect r="r" b="b" t="t" l="l"/>
              <a:pathLst>
                <a:path h="165608" w="165608">
                  <a:moveTo>
                    <a:pt x="0" y="82804"/>
                  </a:moveTo>
                  <a:cubicBezTo>
                    <a:pt x="0" y="37084"/>
                    <a:pt x="37084" y="0"/>
                    <a:pt x="82804" y="0"/>
                  </a:cubicBezTo>
                  <a:cubicBezTo>
                    <a:pt x="128524" y="0"/>
                    <a:pt x="165608" y="37084"/>
                    <a:pt x="165608" y="82804"/>
                  </a:cubicBezTo>
                  <a:cubicBezTo>
                    <a:pt x="165608" y="128524"/>
                    <a:pt x="128524" y="165608"/>
                    <a:pt x="82804" y="165608"/>
                  </a:cubicBezTo>
                  <a:cubicBezTo>
                    <a:pt x="37084" y="165608"/>
                    <a:pt x="0" y="128397"/>
                    <a:pt x="0" y="82804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7320534" y="2433828"/>
            <a:ext cx="2819314" cy="1638814"/>
            <a:chOff x="0" y="0"/>
            <a:chExt cx="3759086" cy="21850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759073" cy="2185162"/>
            </a:xfrm>
            <a:custGeom>
              <a:avLst/>
              <a:gdLst/>
              <a:ahLst/>
              <a:cxnLst/>
              <a:rect r="r" b="b" t="t" l="l"/>
              <a:pathLst>
                <a:path h="2185162" w="3759073">
                  <a:moveTo>
                    <a:pt x="0" y="364236"/>
                  </a:moveTo>
                  <a:cubicBezTo>
                    <a:pt x="0" y="163068"/>
                    <a:pt x="163068" y="0"/>
                    <a:pt x="364236" y="0"/>
                  </a:cubicBezTo>
                  <a:lnTo>
                    <a:pt x="3394837" y="0"/>
                  </a:lnTo>
                  <a:cubicBezTo>
                    <a:pt x="3596005" y="0"/>
                    <a:pt x="3759073" y="163068"/>
                    <a:pt x="3759073" y="364236"/>
                  </a:cubicBezTo>
                  <a:lnTo>
                    <a:pt x="3759073" y="1820926"/>
                  </a:lnTo>
                  <a:cubicBezTo>
                    <a:pt x="3759073" y="2022094"/>
                    <a:pt x="3596005" y="2185162"/>
                    <a:pt x="3394837" y="2185162"/>
                  </a:cubicBezTo>
                  <a:lnTo>
                    <a:pt x="364236" y="2185162"/>
                  </a:lnTo>
                  <a:cubicBezTo>
                    <a:pt x="163068" y="2185035"/>
                    <a:pt x="0" y="2022094"/>
                    <a:pt x="0" y="182092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7955694" y="2688917"/>
            <a:ext cx="1549003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60–90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558821" y="3421751"/>
            <a:ext cx="2342750" cy="27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samples / village</a:t>
            </a:r>
          </a:p>
        </p:txBody>
      </p:sp>
      <p:sp>
        <p:nvSpPr>
          <p:cNvPr name="AutoShape 24" id="24"/>
          <p:cNvSpPr/>
          <p:nvPr/>
        </p:nvSpPr>
        <p:spPr>
          <a:xfrm rot="417180">
            <a:off x="10137553" y="3257436"/>
            <a:ext cx="314982" cy="0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10370258" y="3204905"/>
            <a:ext cx="124111" cy="124111"/>
            <a:chOff x="0" y="0"/>
            <a:chExt cx="165481" cy="16548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5608" cy="165608"/>
            </a:xfrm>
            <a:custGeom>
              <a:avLst/>
              <a:gdLst/>
              <a:ahLst/>
              <a:cxnLst/>
              <a:rect r="r" b="b" t="t" l="l"/>
              <a:pathLst>
                <a:path h="165608" w="165608">
                  <a:moveTo>
                    <a:pt x="0" y="82804"/>
                  </a:moveTo>
                  <a:cubicBezTo>
                    <a:pt x="0" y="37084"/>
                    <a:pt x="37084" y="0"/>
                    <a:pt x="82804" y="0"/>
                  </a:cubicBezTo>
                  <a:cubicBezTo>
                    <a:pt x="128524" y="0"/>
                    <a:pt x="165608" y="37084"/>
                    <a:pt x="165608" y="82804"/>
                  </a:cubicBezTo>
                  <a:cubicBezTo>
                    <a:pt x="165608" y="128524"/>
                    <a:pt x="128524" y="165608"/>
                    <a:pt x="82804" y="165608"/>
                  </a:cubicBezTo>
                  <a:cubicBezTo>
                    <a:pt x="37084" y="165608"/>
                    <a:pt x="0" y="128397"/>
                    <a:pt x="0" y="82804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0532593" y="2433828"/>
            <a:ext cx="2819314" cy="1638814"/>
            <a:chOff x="0" y="0"/>
            <a:chExt cx="3759086" cy="218508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759073" cy="2185162"/>
            </a:xfrm>
            <a:custGeom>
              <a:avLst/>
              <a:gdLst/>
              <a:ahLst/>
              <a:cxnLst/>
              <a:rect r="r" b="b" t="t" l="l"/>
              <a:pathLst>
                <a:path h="2185162" w="3759073">
                  <a:moveTo>
                    <a:pt x="0" y="364236"/>
                  </a:moveTo>
                  <a:cubicBezTo>
                    <a:pt x="0" y="163068"/>
                    <a:pt x="163068" y="0"/>
                    <a:pt x="364236" y="0"/>
                  </a:cubicBezTo>
                  <a:lnTo>
                    <a:pt x="3394837" y="0"/>
                  </a:lnTo>
                  <a:cubicBezTo>
                    <a:pt x="3596005" y="0"/>
                    <a:pt x="3759073" y="163068"/>
                    <a:pt x="3759073" y="364236"/>
                  </a:cubicBezTo>
                  <a:lnTo>
                    <a:pt x="3759073" y="1820926"/>
                  </a:lnTo>
                  <a:cubicBezTo>
                    <a:pt x="3759073" y="2022094"/>
                    <a:pt x="3596005" y="2185162"/>
                    <a:pt x="3394837" y="2185162"/>
                  </a:cubicBezTo>
                  <a:lnTo>
                    <a:pt x="364236" y="2185162"/>
                  </a:lnTo>
                  <a:cubicBezTo>
                    <a:pt x="163068" y="2185035"/>
                    <a:pt x="0" y="2022094"/>
                    <a:pt x="0" y="182092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0770870" y="2688917"/>
            <a:ext cx="2342750" cy="555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4–5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770870" y="3421751"/>
            <a:ext cx="2342750" cy="27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field collectors</a:t>
            </a:r>
          </a:p>
        </p:txBody>
      </p:sp>
      <p:sp>
        <p:nvSpPr>
          <p:cNvPr name="AutoShape 31" id="31"/>
          <p:cNvSpPr/>
          <p:nvPr/>
        </p:nvSpPr>
        <p:spPr>
          <a:xfrm rot="417180">
            <a:off x="13349602" y="3257436"/>
            <a:ext cx="314982" cy="0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13582307" y="3204905"/>
            <a:ext cx="124111" cy="124111"/>
            <a:chOff x="0" y="0"/>
            <a:chExt cx="165481" cy="16548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5608" cy="165608"/>
            </a:xfrm>
            <a:custGeom>
              <a:avLst/>
              <a:gdLst/>
              <a:ahLst/>
              <a:cxnLst/>
              <a:rect r="r" b="b" t="t" l="l"/>
              <a:pathLst>
                <a:path h="165608" w="165608">
                  <a:moveTo>
                    <a:pt x="0" y="82804"/>
                  </a:moveTo>
                  <a:cubicBezTo>
                    <a:pt x="0" y="37084"/>
                    <a:pt x="37084" y="0"/>
                    <a:pt x="82804" y="0"/>
                  </a:cubicBezTo>
                  <a:cubicBezTo>
                    <a:pt x="128524" y="0"/>
                    <a:pt x="165608" y="37084"/>
                    <a:pt x="165608" y="82804"/>
                  </a:cubicBezTo>
                  <a:cubicBezTo>
                    <a:pt x="165608" y="128524"/>
                    <a:pt x="128524" y="165608"/>
                    <a:pt x="82804" y="165608"/>
                  </a:cubicBezTo>
                  <a:cubicBezTo>
                    <a:pt x="37084" y="165608"/>
                    <a:pt x="0" y="128397"/>
                    <a:pt x="0" y="82804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3744642" y="2433828"/>
            <a:ext cx="2819314" cy="1638814"/>
            <a:chOff x="0" y="0"/>
            <a:chExt cx="3759086" cy="218508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759073" cy="2185162"/>
            </a:xfrm>
            <a:custGeom>
              <a:avLst/>
              <a:gdLst/>
              <a:ahLst/>
              <a:cxnLst/>
              <a:rect r="r" b="b" t="t" l="l"/>
              <a:pathLst>
                <a:path h="2185162" w="3759073">
                  <a:moveTo>
                    <a:pt x="0" y="364236"/>
                  </a:moveTo>
                  <a:cubicBezTo>
                    <a:pt x="0" y="163068"/>
                    <a:pt x="163068" y="0"/>
                    <a:pt x="364236" y="0"/>
                  </a:cubicBezTo>
                  <a:lnTo>
                    <a:pt x="3394837" y="0"/>
                  </a:lnTo>
                  <a:cubicBezTo>
                    <a:pt x="3596005" y="0"/>
                    <a:pt x="3759073" y="163068"/>
                    <a:pt x="3759073" y="364236"/>
                  </a:cubicBezTo>
                  <a:lnTo>
                    <a:pt x="3759073" y="1820926"/>
                  </a:lnTo>
                  <a:cubicBezTo>
                    <a:pt x="3759073" y="2022094"/>
                    <a:pt x="3596005" y="2185162"/>
                    <a:pt x="3394837" y="2185162"/>
                  </a:cubicBezTo>
                  <a:lnTo>
                    <a:pt x="364236" y="2185162"/>
                  </a:lnTo>
                  <a:cubicBezTo>
                    <a:pt x="163068" y="2185035"/>
                    <a:pt x="0" y="2022094"/>
                    <a:pt x="0" y="182092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13982929" y="2688917"/>
            <a:ext cx="2342750" cy="555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5–6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982929" y="3421751"/>
            <a:ext cx="2342750" cy="27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villages / collector / day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827794" y="4715999"/>
            <a:ext cx="16491137" cy="3286030"/>
            <a:chOff x="0" y="0"/>
            <a:chExt cx="21988183" cy="438137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88145" cy="4381373"/>
            </a:xfrm>
            <a:custGeom>
              <a:avLst/>
              <a:gdLst/>
              <a:ahLst/>
              <a:cxnLst/>
              <a:rect r="r" b="b" t="t" l="l"/>
              <a:pathLst>
                <a:path h="4381373" w="21988145">
                  <a:moveTo>
                    <a:pt x="0" y="730250"/>
                  </a:moveTo>
                  <a:cubicBezTo>
                    <a:pt x="0" y="326898"/>
                    <a:pt x="326898" y="0"/>
                    <a:pt x="730250" y="0"/>
                  </a:cubicBezTo>
                  <a:lnTo>
                    <a:pt x="21257895" y="0"/>
                  </a:lnTo>
                  <a:cubicBezTo>
                    <a:pt x="21661247" y="0"/>
                    <a:pt x="21988145" y="326898"/>
                    <a:pt x="21988145" y="730250"/>
                  </a:cubicBezTo>
                  <a:lnTo>
                    <a:pt x="21988145" y="3651123"/>
                  </a:lnTo>
                  <a:cubicBezTo>
                    <a:pt x="21988145" y="4054475"/>
                    <a:pt x="21661247" y="4381373"/>
                    <a:pt x="21257895" y="4381373"/>
                  </a:cubicBezTo>
                  <a:lnTo>
                    <a:pt x="730250" y="4381373"/>
                  </a:lnTo>
                  <a:cubicBezTo>
                    <a:pt x="326898" y="4381373"/>
                    <a:pt x="0" y="4054475"/>
                    <a:pt x="0" y="3651123"/>
                  </a:cubicBezTo>
                  <a:close/>
                </a:path>
              </a:pathLst>
            </a:custGeom>
            <a:solidFill>
              <a:srgbClr val="180E66"/>
            </a:solidFill>
            <a:ln w="19065" cap="sq">
              <a:solidFill>
                <a:srgbClr val="180E66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1409252" y="5270659"/>
            <a:ext cx="3495799" cy="34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9FFFC0"/>
                </a:solidFill>
                <a:latin typeface="Poppins Bold"/>
                <a:ea typeface="Poppins Bold"/>
                <a:cs typeface="Poppins Bold"/>
                <a:sym typeface="Poppins Bold"/>
              </a:rPr>
              <a:t>DESIGN TARGET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09252" y="5725601"/>
            <a:ext cx="2696617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6"/>
              </a:lnSpc>
            </a:pPr>
            <a:r>
              <a:rPr lang="en-US" sz="735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~1200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554713" y="6143844"/>
            <a:ext cx="5692073" cy="61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345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PETRI DISHES / DAY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568448" y="6949526"/>
            <a:ext cx="9192387" cy="426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DCE7FF"/>
                </a:solidFill>
                <a:latin typeface="Poppins"/>
                <a:ea typeface="Poppins"/>
                <a:cs typeface="Poppins"/>
                <a:sym typeface="Poppins"/>
              </a:rPr>
              <a:t>Planning value for workflow, storage and robot duty cycle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4611807" y="5318817"/>
            <a:ext cx="1963493" cy="481003"/>
            <a:chOff x="0" y="0"/>
            <a:chExt cx="2617991" cy="64133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617978" cy="641350"/>
            </a:xfrm>
            <a:custGeom>
              <a:avLst/>
              <a:gdLst/>
              <a:ahLst/>
              <a:cxnLst/>
              <a:rect r="r" b="b" t="t" l="l"/>
              <a:pathLst>
                <a:path h="641350" w="2617978">
                  <a:moveTo>
                    <a:pt x="0" y="106934"/>
                  </a:moveTo>
                  <a:cubicBezTo>
                    <a:pt x="0" y="47879"/>
                    <a:pt x="47879" y="0"/>
                    <a:pt x="106934" y="0"/>
                  </a:cubicBezTo>
                  <a:lnTo>
                    <a:pt x="2511044" y="0"/>
                  </a:lnTo>
                  <a:cubicBezTo>
                    <a:pt x="2570099" y="0"/>
                    <a:pt x="2617978" y="47879"/>
                    <a:pt x="2617978" y="106934"/>
                  </a:cubicBezTo>
                  <a:lnTo>
                    <a:pt x="2617978" y="534416"/>
                  </a:lnTo>
                  <a:cubicBezTo>
                    <a:pt x="2617978" y="593471"/>
                    <a:pt x="2570099" y="641350"/>
                    <a:pt x="2511044" y="641350"/>
                  </a:cubicBezTo>
                  <a:lnTo>
                    <a:pt x="106934" y="641350"/>
                  </a:lnTo>
                  <a:cubicBezTo>
                    <a:pt x="47879" y="641350"/>
                    <a:pt x="0" y="593471"/>
                    <a:pt x="0" y="534416"/>
                  </a:cubicBezTo>
                  <a:close/>
                </a:path>
              </a:pathLst>
            </a:custGeom>
            <a:solidFill>
              <a:srgbClr val="C48723"/>
            </a:solidFill>
            <a:ln w="14299" cap="sq">
              <a:solidFill>
                <a:srgbClr val="C48723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4618960" y="5339696"/>
            <a:ext cx="1949196" cy="384353"/>
            <a:chOff x="0" y="0"/>
            <a:chExt cx="2598928" cy="51247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598926" cy="512464"/>
            </a:xfrm>
            <a:custGeom>
              <a:avLst/>
              <a:gdLst/>
              <a:ahLst/>
              <a:cxnLst/>
              <a:rect r="r" b="b" t="t" l="l"/>
              <a:pathLst>
                <a:path h="512464" w="2598926">
                  <a:moveTo>
                    <a:pt x="0" y="0"/>
                  </a:moveTo>
                  <a:lnTo>
                    <a:pt x="2598926" y="0"/>
                  </a:lnTo>
                  <a:lnTo>
                    <a:pt x="2598926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816" r="0" b="-4881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2598928" cy="5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ASSUMPTION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942537" y="9800482"/>
            <a:ext cx="109082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960">
            <a:off x="896426" y="1916982"/>
            <a:ext cx="16504872" cy="0"/>
          </a:xfrm>
          <a:prstGeom prst="line">
            <a:avLst/>
          </a:prstGeom>
          <a:ln cap="rnd" w="9525">
            <a:solidFill>
              <a:srgbClr val="D5DB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2204338" y="2351465"/>
            <a:ext cx="5183226" cy="1281922"/>
            <a:chOff x="0" y="0"/>
            <a:chExt cx="6910967" cy="17092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910980" cy="1709166"/>
            </a:xfrm>
            <a:custGeom>
              <a:avLst/>
              <a:gdLst/>
              <a:ahLst/>
              <a:cxnLst/>
              <a:rect r="r" b="b" t="t" l="l"/>
              <a:pathLst>
                <a:path h="1709166" w="6910980">
                  <a:moveTo>
                    <a:pt x="0" y="284861"/>
                  </a:moveTo>
                  <a:cubicBezTo>
                    <a:pt x="0" y="127508"/>
                    <a:pt x="159751" y="0"/>
                    <a:pt x="356894" y="0"/>
                  </a:cubicBezTo>
                  <a:lnTo>
                    <a:pt x="6554089" y="0"/>
                  </a:lnTo>
                  <a:cubicBezTo>
                    <a:pt x="6751233" y="0"/>
                    <a:pt x="6910980" y="127508"/>
                    <a:pt x="6910980" y="284861"/>
                  </a:cubicBezTo>
                  <a:lnTo>
                    <a:pt x="6910980" y="1424305"/>
                  </a:lnTo>
                  <a:cubicBezTo>
                    <a:pt x="6910980" y="1581658"/>
                    <a:pt x="6751233" y="1709166"/>
                    <a:pt x="6554089" y="1709166"/>
                  </a:cubicBezTo>
                  <a:lnTo>
                    <a:pt x="356894" y="1709166"/>
                  </a:lnTo>
                  <a:cubicBezTo>
                    <a:pt x="159751" y="1709293"/>
                    <a:pt x="0" y="1581658"/>
                    <a:pt x="0" y="142430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2315293" y="3971220"/>
            <a:ext cx="5072271" cy="1281922"/>
            <a:chOff x="0" y="0"/>
            <a:chExt cx="6763028" cy="17092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63040" cy="1709166"/>
            </a:xfrm>
            <a:custGeom>
              <a:avLst/>
              <a:gdLst/>
              <a:ahLst/>
              <a:cxnLst/>
              <a:rect r="r" b="b" t="t" l="l"/>
              <a:pathLst>
                <a:path h="1709166" w="6763040">
                  <a:moveTo>
                    <a:pt x="0" y="284861"/>
                  </a:moveTo>
                  <a:cubicBezTo>
                    <a:pt x="0" y="127508"/>
                    <a:pt x="156331" y="0"/>
                    <a:pt x="349254" y="0"/>
                  </a:cubicBezTo>
                  <a:lnTo>
                    <a:pt x="6413789" y="0"/>
                  </a:lnTo>
                  <a:cubicBezTo>
                    <a:pt x="6606712" y="0"/>
                    <a:pt x="6763040" y="127508"/>
                    <a:pt x="6763040" y="284861"/>
                  </a:cubicBezTo>
                  <a:lnTo>
                    <a:pt x="6763040" y="1424305"/>
                  </a:lnTo>
                  <a:cubicBezTo>
                    <a:pt x="6763040" y="1581658"/>
                    <a:pt x="6606712" y="1709166"/>
                    <a:pt x="6413789" y="1709166"/>
                  </a:cubicBezTo>
                  <a:lnTo>
                    <a:pt x="349254" y="1709166"/>
                  </a:lnTo>
                  <a:cubicBezTo>
                    <a:pt x="156331" y="1709293"/>
                    <a:pt x="0" y="1581658"/>
                    <a:pt x="0" y="142430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442099" y="5590975"/>
            <a:ext cx="4945465" cy="1281922"/>
            <a:chOff x="0" y="0"/>
            <a:chExt cx="6593953" cy="17092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593966" cy="1709166"/>
            </a:xfrm>
            <a:custGeom>
              <a:avLst/>
              <a:gdLst/>
              <a:ahLst/>
              <a:cxnLst/>
              <a:rect r="r" b="b" t="t" l="l"/>
              <a:pathLst>
                <a:path h="1709166" w="6593966">
                  <a:moveTo>
                    <a:pt x="0" y="284861"/>
                  </a:moveTo>
                  <a:cubicBezTo>
                    <a:pt x="0" y="127508"/>
                    <a:pt x="152423" y="0"/>
                    <a:pt x="340523" y="0"/>
                  </a:cubicBezTo>
                  <a:lnTo>
                    <a:pt x="6253446" y="0"/>
                  </a:lnTo>
                  <a:cubicBezTo>
                    <a:pt x="6441546" y="0"/>
                    <a:pt x="6593966" y="127508"/>
                    <a:pt x="6593966" y="284861"/>
                  </a:cubicBezTo>
                  <a:lnTo>
                    <a:pt x="6593966" y="1424305"/>
                  </a:lnTo>
                  <a:cubicBezTo>
                    <a:pt x="6593966" y="1581658"/>
                    <a:pt x="6441546" y="1709166"/>
                    <a:pt x="6253446" y="1709166"/>
                  </a:cubicBezTo>
                  <a:lnTo>
                    <a:pt x="340523" y="1709166"/>
                  </a:lnTo>
                  <a:cubicBezTo>
                    <a:pt x="152423" y="1709293"/>
                    <a:pt x="0" y="1581658"/>
                    <a:pt x="0" y="1424305"/>
                  </a:cubicBezTo>
                  <a:close/>
                </a:path>
              </a:pathLst>
            </a:custGeom>
            <a:solidFill>
              <a:srgbClr val="180E66"/>
            </a:solidFill>
            <a:ln w="19065" cap="sq">
              <a:solidFill>
                <a:srgbClr val="180E66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442099" y="7210720"/>
            <a:ext cx="4945465" cy="1281922"/>
            <a:chOff x="0" y="0"/>
            <a:chExt cx="6593953" cy="17092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593966" cy="1709166"/>
            </a:xfrm>
            <a:custGeom>
              <a:avLst/>
              <a:gdLst/>
              <a:ahLst/>
              <a:cxnLst/>
              <a:rect r="r" b="b" t="t" l="l"/>
              <a:pathLst>
                <a:path h="1709166" w="6593966">
                  <a:moveTo>
                    <a:pt x="0" y="284861"/>
                  </a:moveTo>
                  <a:cubicBezTo>
                    <a:pt x="0" y="127508"/>
                    <a:pt x="152423" y="0"/>
                    <a:pt x="340523" y="0"/>
                  </a:cubicBezTo>
                  <a:lnTo>
                    <a:pt x="6253446" y="0"/>
                  </a:lnTo>
                  <a:cubicBezTo>
                    <a:pt x="6441546" y="0"/>
                    <a:pt x="6593966" y="127508"/>
                    <a:pt x="6593966" y="284861"/>
                  </a:cubicBezTo>
                  <a:lnTo>
                    <a:pt x="6593966" y="1424305"/>
                  </a:lnTo>
                  <a:cubicBezTo>
                    <a:pt x="6593966" y="1581658"/>
                    <a:pt x="6441546" y="1709166"/>
                    <a:pt x="6253446" y="1709166"/>
                  </a:cubicBezTo>
                  <a:lnTo>
                    <a:pt x="340523" y="1709166"/>
                  </a:lnTo>
                  <a:cubicBezTo>
                    <a:pt x="152423" y="1709293"/>
                    <a:pt x="0" y="1581658"/>
                    <a:pt x="0" y="142430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942537" y="2269389"/>
            <a:ext cx="10549225" cy="6896868"/>
          </a:xfrm>
          <a:custGeom>
            <a:avLst/>
            <a:gdLst/>
            <a:ahLst/>
            <a:cxnLst/>
            <a:rect r="r" b="b" t="t" l="l"/>
            <a:pathLst>
              <a:path h="6896868" w="10549225">
                <a:moveTo>
                  <a:pt x="0" y="0"/>
                </a:moveTo>
                <a:lnTo>
                  <a:pt x="10549225" y="0"/>
                </a:lnTo>
                <a:lnTo>
                  <a:pt x="10549225" y="6896867"/>
                </a:lnTo>
                <a:lnTo>
                  <a:pt x="0" y="68968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9408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42537" y="945623"/>
            <a:ext cx="1626165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Iteration - I  ·  3D-printer / gantry frame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810634" y="566595"/>
            <a:ext cx="544554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98576" y="2598153"/>
            <a:ext cx="393554" cy="19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147644" y="2566492"/>
            <a:ext cx="3200000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300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FULL XY GANTRY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147644" y="2966492"/>
            <a:ext cx="3200000" cy="56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05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Whole frame rides the gantry; nothing moves independently of it.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98576" y="4217908"/>
            <a:ext cx="393554" cy="19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147644" y="4186247"/>
            <a:ext cx="3200000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300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RESTRICTED REACH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147644" y="4586247"/>
            <a:ext cx="3200000" cy="56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05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Gripper travel is tied to the frame axis — cannot reach every individual dish slot at the carousel.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98576" y="5837653"/>
            <a:ext cx="393554" cy="19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9FFFC0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147644" y="5806002"/>
            <a:ext cx="3200000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3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MATERIAL WASTE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147644" y="6206002"/>
            <a:ext cx="3200000" cy="56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050">
                <a:solidFill>
                  <a:srgbClr val="DCE7FF"/>
                </a:solidFill>
                <a:latin typeface="Poppins"/>
                <a:ea typeface="Poppins"/>
                <a:cs typeface="Poppins"/>
                <a:sym typeface="Poppins"/>
              </a:rPr>
              <a:t>Rails sized to the full base footprint even though only the carousel radius is used.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98576" y="7457408"/>
            <a:ext cx="393554" cy="19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147644" y="7425757"/>
            <a:ext cx="3200000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300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VERDICT: REJECTED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147644" y="7825757"/>
            <a:ext cx="3200000" cy="56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05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Frame motion, not the gripper, was the actual constraint. Scrapped before build.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2537" y="9800482"/>
            <a:ext cx="109082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960">
            <a:off x="896426" y="1916982"/>
            <a:ext cx="16504872" cy="0"/>
          </a:xfrm>
          <a:prstGeom prst="line">
            <a:avLst/>
          </a:prstGeom>
          <a:ln cap="rnd" w="9525">
            <a:solidFill>
              <a:srgbClr val="D5DB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3250485" y="2351465"/>
            <a:ext cx="4137079" cy="1281922"/>
            <a:chOff x="0" y="0"/>
            <a:chExt cx="5516105" cy="17092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16118" cy="1709166"/>
            </a:xfrm>
            <a:custGeom>
              <a:avLst/>
              <a:gdLst/>
              <a:ahLst/>
              <a:cxnLst/>
              <a:rect r="r" b="b" t="t" l="l"/>
              <a:pathLst>
                <a:path h="1709166" w="5516118">
                  <a:moveTo>
                    <a:pt x="0" y="284861"/>
                  </a:moveTo>
                  <a:cubicBezTo>
                    <a:pt x="0" y="127508"/>
                    <a:pt x="127508" y="0"/>
                    <a:pt x="284861" y="0"/>
                  </a:cubicBezTo>
                  <a:lnTo>
                    <a:pt x="5231257" y="0"/>
                  </a:lnTo>
                  <a:cubicBezTo>
                    <a:pt x="5388610" y="0"/>
                    <a:pt x="5516118" y="127508"/>
                    <a:pt x="5516118" y="284861"/>
                  </a:cubicBezTo>
                  <a:lnTo>
                    <a:pt x="5516118" y="1424305"/>
                  </a:lnTo>
                  <a:cubicBezTo>
                    <a:pt x="5516118" y="1581658"/>
                    <a:pt x="5388610" y="1709166"/>
                    <a:pt x="5231257" y="1709166"/>
                  </a:cubicBezTo>
                  <a:lnTo>
                    <a:pt x="284861" y="1709166"/>
                  </a:lnTo>
                  <a:cubicBezTo>
                    <a:pt x="127508" y="1709293"/>
                    <a:pt x="0" y="1581658"/>
                    <a:pt x="0" y="142430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3250485" y="3971220"/>
            <a:ext cx="4137079" cy="1281922"/>
            <a:chOff x="0" y="0"/>
            <a:chExt cx="5516105" cy="17092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16118" cy="1709166"/>
            </a:xfrm>
            <a:custGeom>
              <a:avLst/>
              <a:gdLst/>
              <a:ahLst/>
              <a:cxnLst/>
              <a:rect r="r" b="b" t="t" l="l"/>
              <a:pathLst>
                <a:path h="1709166" w="5516118">
                  <a:moveTo>
                    <a:pt x="0" y="284861"/>
                  </a:moveTo>
                  <a:cubicBezTo>
                    <a:pt x="0" y="127508"/>
                    <a:pt x="127508" y="0"/>
                    <a:pt x="284861" y="0"/>
                  </a:cubicBezTo>
                  <a:lnTo>
                    <a:pt x="5231257" y="0"/>
                  </a:lnTo>
                  <a:cubicBezTo>
                    <a:pt x="5388610" y="0"/>
                    <a:pt x="5516118" y="127508"/>
                    <a:pt x="5516118" y="284861"/>
                  </a:cubicBezTo>
                  <a:lnTo>
                    <a:pt x="5516118" y="1424305"/>
                  </a:lnTo>
                  <a:cubicBezTo>
                    <a:pt x="5516118" y="1581658"/>
                    <a:pt x="5388610" y="1709166"/>
                    <a:pt x="5231257" y="1709166"/>
                  </a:cubicBezTo>
                  <a:lnTo>
                    <a:pt x="284861" y="1709166"/>
                  </a:lnTo>
                  <a:cubicBezTo>
                    <a:pt x="127508" y="1709293"/>
                    <a:pt x="0" y="1581658"/>
                    <a:pt x="0" y="142430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250485" y="5590975"/>
            <a:ext cx="4137079" cy="1281922"/>
            <a:chOff x="0" y="0"/>
            <a:chExt cx="5516105" cy="17092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16118" cy="1709166"/>
            </a:xfrm>
            <a:custGeom>
              <a:avLst/>
              <a:gdLst/>
              <a:ahLst/>
              <a:cxnLst/>
              <a:rect r="r" b="b" t="t" l="l"/>
              <a:pathLst>
                <a:path h="1709166" w="5516118">
                  <a:moveTo>
                    <a:pt x="0" y="284861"/>
                  </a:moveTo>
                  <a:cubicBezTo>
                    <a:pt x="0" y="127508"/>
                    <a:pt x="127508" y="0"/>
                    <a:pt x="284861" y="0"/>
                  </a:cubicBezTo>
                  <a:lnTo>
                    <a:pt x="5231257" y="0"/>
                  </a:lnTo>
                  <a:cubicBezTo>
                    <a:pt x="5388610" y="0"/>
                    <a:pt x="5516118" y="127508"/>
                    <a:pt x="5516118" y="284861"/>
                  </a:cubicBezTo>
                  <a:lnTo>
                    <a:pt x="5516118" y="1424305"/>
                  </a:lnTo>
                  <a:cubicBezTo>
                    <a:pt x="5516118" y="1581658"/>
                    <a:pt x="5388610" y="1709166"/>
                    <a:pt x="5231257" y="1709166"/>
                  </a:cubicBezTo>
                  <a:lnTo>
                    <a:pt x="284861" y="1709166"/>
                  </a:lnTo>
                  <a:cubicBezTo>
                    <a:pt x="127508" y="1709293"/>
                    <a:pt x="0" y="1581658"/>
                    <a:pt x="0" y="1424305"/>
                  </a:cubicBezTo>
                  <a:close/>
                </a:path>
              </a:pathLst>
            </a:custGeom>
            <a:solidFill>
              <a:srgbClr val="180E66"/>
            </a:solidFill>
            <a:ln w="19065" cap="sq">
              <a:solidFill>
                <a:srgbClr val="180E66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250485" y="7210720"/>
            <a:ext cx="4137079" cy="1281922"/>
            <a:chOff x="0" y="0"/>
            <a:chExt cx="5516105" cy="17092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16118" cy="1709166"/>
            </a:xfrm>
            <a:custGeom>
              <a:avLst/>
              <a:gdLst/>
              <a:ahLst/>
              <a:cxnLst/>
              <a:rect r="r" b="b" t="t" l="l"/>
              <a:pathLst>
                <a:path h="1709166" w="5516118">
                  <a:moveTo>
                    <a:pt x="0" y="284861"/>
                  </a:moveTo>
                  <a:cubicBezTo>
                    <a:pt x="0" y="127508"/>
                    <a:pt x="127508" y="0"/>
                    <a:pt x="284861" y="0"/>
                  </a:cubicBezTo>
                  <a:lnTo>
                    <a:pt x="5231257" y="0"/>
                  </a:lnTo>
                  <a:cubicBezTo>
                    <a:pt x="5388610" y="0"/>
                    <a:pt x="5516118" y="127508"/>
                    <a:pt x="5516118" y="284861"/>
                  </a:cubicBezTo>
                  <a:lnTo>
                    <a:pt x="5516118" y="1424305"/>
                  </a:lnTo>
                  <a:cubicBezTo>
                    <a:pt x="5516118" y="1581658"/>
                    <a:pt x="5388610" y="1709166"/>
                    <a:pt x="5231257" y="1709166"/>
                  </a:cubicBezTo>
                  <a:lnTo>
                    <a:pt x="284861" y="1709166"/>
                  </a:lnTo>
                  <a:cubicBezTo>
                    <a:pt x="127508" y="1709293"/>
                    <a:pt x="0" y="1581658"/>
                    <a:pt x="0" y="142430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896432" y="2049344"/>
            <a:ext cx="11957118" cy="7285592"/>
          </a:xfrm>
          <a:custGeom>
            <a:avLst/>
            <a:gdLst/>
            <a:ahLst/>
            <a:cxnLst/>
            <a:rect r="r" b="b" t="t" l="l"/>
            <a:pathLst>
              <a:path h="7285592" w="11957118">
                <a:moveTo>
                  <a:pt x="0" y="0"/>
                </a:moveTo>
                <a:lnTo>
                  <a:pt x="11957118" y="0"/>
                </a:lnTo>
                <a:lnTo>
                  <a:pt x="11957118" y="7285592"/>
                </a:lnTo>
                <a:lnTo>
                  <a:pt x="0" y="72855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42537" y="945623"/>
            <a:ext cx="1626165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Iteration - II  ·  SCARA arm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810634" y="566595"/>
            <a:ext cx="544554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98576" y="2598153"/>
            <a:ext cx="393554" cy="19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147644" y="2566492"/>
            <a:ext cx="3200000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300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FULL WORKSPACE REACH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147644" y="2966492"/>
            <a:ext cx="3200000" cy="56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05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Arm swept the entire carousel; range of motion was exactly enough.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98576" y="4217908"/>
            <a:ext cx="393554" cy="19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147644" y="4186247"/>
            <a:ext cx="3200000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300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HARDER CONTROL MATH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147644" y="4586247"/>
            <a:ext cx="3200000" cy="56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05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Coupled joint angles replace simple XY moves — more complex than iteration I.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98576" y="5837653"/>
            <a:ext cx="393554" cy="19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9FFFC0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147644" y="5806002"/>
            <a:ext cx="3200000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3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FULLY CUSTOM BUILD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147644" y="6206002"/>
            <a:ext cx="3200000" cy="56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050">
                <a:solidFill>
                  <a:srgbClr val="DCE7FF"/>
                </a:solidFill>
                <a:latin typeface="Poppins"/>
                <a:ea typeface="Poppins"/>
                <a:cs typeface="Poppins"/>
                <a:sym typeface="Poppins"/>
              </a:rPr>
              <a:t>Every link had to be designed and 3D-printed from zero — no off-the-shelf part fit.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98576" y="7457408"/>
            <a:ext cx="393554" cy="19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147644" y="7425757"/>
            <a:ext cx="3200000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300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VERDICT: TOO SLOW TO BUILD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147644" y="7825757"/>
            <a:ext cx="3200000" cy="56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05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Print-fit-reprint cycles on every joint made the build timeline the real blocker.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2537" y="9800482"/>
            <a:ext cx="109082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91569" y="1396570"/>
            <a:ext cx="16504861" cy="19012"/>
          </a:xfrm>
          <a:prstGeom prst="line">
            <a:avLst/>
          </a:prstGeom>
          <a:ln cap="rnd" w="9525">
            <a:solidFill>
              <a:srgbClr val="D5DB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599857" y="1535269"/>
            <a:ext cx="17072806" cy="8479314"/>
            <a:chOff x="0" y="0"/>
            <a:chExt cx="4496541" cy="22332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96541" cy="2233235"/>
            </a:xfrm>
            <a:custGeom>
              <a:avLst/>
              <a:gdLst/>
              <a:ahLst/>
              <a:cxnLst/>
              <a:rect r="r" b="b" t="t" l="l"/>
              <a:pathLst>
                <a:path h="2233235" w="4496541">
                  <a:moveTo>
                    <a:pt x="0" y="0"/>
                  </a:moveTo>
                  <a:lnTo>
                    <a:pt x="4496541" y="0"/>
                  </a:lnTo>
                  <a:lnTo>
                    <a:pt x="4496541" y="2233235"/>
                  </a:lnTo>
                  <a:lnTo>
                    <a:pt x="0" y="2233235"/>
                  </a:lnTo>
                  <a:close/>
                </a:path>
              </a:pathLst>
            </a:custGeom>
            <a:solidFill>
              <a:srgbClr val="31394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496541" cy="2252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158833" y="1535269"/>
            <a:ext cx="13698749" cy="8479314"/>
          </a:xfrm>
          <a:custGeom>
            <a:avLst/>
            <a:gdLst/>
            <a:ahLst/>
            <a:cxnLst/>
            <a:rect r="r" b="b" t="t" l="l"/>
            <a:pathLst>
              <a:path h="8479314" w="13698749">
                <a:moveTo>
                  <a:pt x="0" y="0"/>
                </a:moveTo>
                <a:lnTo>
                  <a:pt x="13698749" y="0"/>
                </a:lnTo>
                <a:lnTo>
                  <a:pt x="13698749" y="8479315"/>
                </a:lnTo>
                <a:lnTo>
                  <a:pt x="0" y="84793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29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33012" y="450332"/>
            <a:ext cx="7888348" cy="3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FULL-PROJECT LAYOUT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7382" y="648233"/>
            <a:ext cx="1626165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Final design  ·  6-DOF arm replaces the SCARA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810634" y="566595"/>
            <a:ext cx="544554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9649" y="10076088"/>
            <a:ext cx="109082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· ELD411 · Mid-Term Review 2026</a:t>
            </a:r>
          </a:p>
        </p:txBody>
      </p:sp>
      <p:sp>
        <p:nvSpPr>
          <p:cNvPr id="11" name="Oval 10"/>
          <p:cNvSpPr/>
          <p:nvPr/>
        </p:nvSpPr>
        <p:spPr>
          <a:xfrm>
            <a:off x="9291153" y="2085598"/>
            <a:ext cx="256032" cy="256032"/>
          </a:xfrm>
          <a:prstGeom prst="ellipse">
            <a:avLst/>
          </a:prstGeom>
          <a:solidFill>
            <a:srgbClr val="180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91153" y="2081026"/>
            <a:ext cx="25603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218920" y="1783080"/>
            <a:ext cx="27889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310360" y="1883664"/>
            <a:ext cx="256032" cy="256032"/>
          </a:xfrm>
          <a:prstGeom prst="ellipse">
            <a:avLst/>
          </a:prstGeom>
          <a:solidFill>
            <a:srgbClr val="180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310360" y="1888236"/>
            <a:ext cx="25603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9544" y="1837943"/>
            <a:ext cx="22860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19202A"/>
                </a:solidFill>
                <a:latin typeface="Poppins"/>
              </a:rPr>
              <a:t>Frame — aluminium extrusion cell</a:t>
            </a:r>
          </a:p>
        </p:txBody>
      </p:sp>
      <p:sp>
        <p:nvSpPr>
          <p:cNvPr id="17" name="Oval 16"/>
          <p:cNvSpPr/>
          <p:nvPr/>
        </p:nvSpPr>
        <p:spPr>
          <a:xfrm>
            <a:off x="9154166" y="4290219"/>
            <a:ext cx="256032" cy="256032"/>
          </a:xfrm>
          <a:prstGeom prst="ellipse">
            <a:avLst/>
          </a:prstGeom>
          <a:solidFill>
            <a:srgbClr val="180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4166" y="4285647"/>
            <a:ext cx="25603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218920" y="2350008"/>
            <a:ext cx="27889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310360" y="2450591"/>
            <a:ext cx="256032" cy="256032"/>
          </a:xfrm>
          <a:prstGeom prst="ellipse">
            <a:avLst/>
          </a:prstGeom>
          <a:solidFill>
            <a:srgbClr val="180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310360" y="2455164"/>
            <a:ext cx="25603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9544" y="2404872"/>
            <a:ext cx="22860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19202A"/>
                </a:solidFill>
                <a:latin typeface="Poppins"/>
              </a:rPr>
              <a:t>Carousel A — dish storage column</a:t>
            </a:r>
          </a:p>
        </p:txBody>
      </p:sp>
      <p:sp>
        <p:nvSpPr>
          <p:cNvPr id="23" name="Oval 22"/>
          <p:cNvSpPr/>
          <p:nvPr/>
        </p:nvSpPr>
        <p:spPr>
          <a:xfrm>
            <a:off x="11619941" y="4290219"/>
            <a:ext cx="256032" cy="256032"/>
          </a:xfrm>
          <a:prstGeom prst="ellipse">
            <a:avLst/>
          </a:prstGeom>
          <a:solidFill>
            <a:srgbClr val="180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19941" y="4285647"/>
            <a:ext cx="25603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18920" y="2916936"/>
            <a:ext cx="27889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310360" y="3017520"/>
            <a:ext cx="256032" cy="256032"/>
          </a:xfrm>
          <a:prstGeom prst="ellipse">
            <a:avLst/>
          </a:prstGeom>
          <a:solidFill>
            <a:srgbClr val="180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310360" y="3022092"/>
            <a:ext cx="25603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9544" y="2971800"/>
            <a:ext cx="22860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19202A"/>
                </a:solidFill>
                <a:latin typeface="Poppins"/>
              </a:rPr>
              <a:t>Carousel B — dish storage column</a:t>
            </a:r>
          </a:p>
        </p:txBody>
      </p:sp>
      <p:sp>
        <p:nvSpPr>
          <p:cNvPr id="29" name="Oval 28"/>
          <p:cNvSpPr/>
          <p:nvPr/>
        </p:nvSpPr>
        <p:spPr>
          <a:xfrm>
            <a:off x="6140441" y="5138151"/>
            <a:ext cx="256032" cy="256032"/>
          </a:xfrm>
          <a:prstGeom prst="ellipse">
            <a:avLst/>
          </a:prstGeom>
          <a:solidFill>
            <a:srgbClr val="180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40441" y="5133579"/>
            <a:ext cx="25603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218920" y="3483863"/>
            <a:ext cx="27889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4310360" y="3584447"/>
            <a:ext cx="256032" cy="256032"/>
          </a:xfrm>
          <a:prstGeom prst="ellipse">
            <a:avLst/>
          </a:prstGeom>
          <a:solidFill>
            <a:srgbClr val="180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310360" y="3589020"/>
            <a:ext cx="25603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9544" y="3538727"/>
            <a:ext cx="22860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19202A"/>
                </a:solidFill>
                <a:latin typeface="Poppins"/>
              </a:rPr>
              <a:t>Robotic arm — 6-DOF (final swap-in)</a:t>
            </a:r>
          </a:p>
        </p:txBody>
      </p:sp>
      <p:sp>
        <p:nvSpPr>
          <p:cNvPr id="35" name="Oval 34"/>
          <p:cNvSpPr/>
          <p:nvPr/>
        </p:nvSpPr>
        <p:spPr>
          <a:xfrm>
            <a:off x="7784291" y="7427565"/>
            <a:ext cx="256032" cy="256032"/>
          </a:xfrm>
          <a:prstGeom prst="ellipse">
            <a:avLst/>
          </a:prstGeom>
          <a:solidFill>
            <a:srgbClr val="180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84291" y="7422993"/>
            <a:ext cx="25603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218920" y="4050791"/>
            <a:ext cx="27889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4310360" y="4151376"/>
            <a:ext cx="256032" cy="256032"/>
          </a:xfrm>
          <a:prstGeom prst="ellipse">
            <a:avLst/>
          </a:prstGeom>
          <a:solidFill>
            <a:srgbClr val="180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310360" y="4155948"/>
            <a:ext cx="25603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9544" y="4105655"/>
            <a:ext cx="22860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19202A"/>
                </a:solidFill>
                <a:latin typeface="Poppins"/>
              </a:rPr>
              <a:t>Imaging station — staging table</a:t>
            </a:r>
          </a:p>
        </p:txBody>
      </p:sp>
      <p:sp>
        <p:nvSpPr>
          <p:cNvPr id="41" name="Oval 40"/>
          <p:cNvSpPr/>
          <p:nvPr/>
        </p:nvSpPr>
        <p:spPr>
          <a:xfrm>
            <a:off x="4359604" y="6579634"/>
            <a:ext cx="256032" cy="256032"/>
          </a:xfrm>
          <a:prstGeom prst="ellipse">
            <a:avLst/>
          </a:prstGeom>
          <a:solidFill>
            <a:srgbClr val="180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59604" y="6575062"/>
            <a:ext cx="25603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218920" y="4617720"/>
            <a:ext cx="27889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4310360" y="4718304"/>
            <a:ext cx="256032" cy="256032"/>
          </a:xfrm>
          <a:prstGeom prst="ellipse">
            <a:avLst/>
          </a:prstGeom>
          <a:solidFill>
            <a:srgbClr val="180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4310360" y="4722876"/>
            <a:ext cx="25603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39544" y="4672583"/>
            <a:ext cx="22860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19202A"/>
                </a:solidFill>
                <a:latin typeface="Poppins"/>
              </a:rPr>
              <a:t>Control box — drivers / electronics</a:t>
            </a:r>
          </a:p>
        </p:txBody>
      </p:sp>
      <p:sp>
        <p:nvSpPr>
          <p:cNvPr id="47" name="Oval 46"/>
          <p:cNvSpPr/>
          <p:nvPr/>
        </p:nvSpPr>
        <p:spPr>
          <a:xfrm>
            <a:off x="8880191" y="8953842"/>
            <a:ext cx="256032" cy="256032"/>
          </a:xfrm>
          <a:prstGeom prst="ellipse">
            <a:avLst/>
          </a:prstGeom>
          <a:solidFill>
            <a:srgbClr val="180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80191" y="8949270"/>
            <a:ext cx="25603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oppins"/>
              </a:rPr>
              <a:t>7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4218920" y="5184648"/>
            <a:ext cx="27889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4310360" y="5285232"/>
            <a:ext cx="256032" cy="256032"/>
          </a:xfrm>
          <a:prstGeom prst="ellipse">
            <a:avLst/>
          </a:prstGeom>
          <a:solidFill>
            <a:srgbClr val="180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4310360" y="5289804"/>
            <a:ext cx="25603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639544" y="5239512"/>
            <a:ext cx="22860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19202A"/>
                </a:solidFill>
                <a:latin typeface="Poppins"/>
              </a:rPr>
              <a:t>Base plate — mounting deck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20932" y="1737855"/>
            <a:ext cx="16504861" cy="19012"/>
          </a:xfrm>
          <a:prstGeom prst="line">
            <a:avLst/>
          </a:prstGeom>
          <a:ln cap="rnd" w="9525">
            <a:solidFill>
              <a:srgbClr val="D5DB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942537" y="497957"/>
            <a:ext cx="7888348" cy="3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MANIPULATOR HARDWARE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42537" y="945623"/>
            <a:ext cx="16261652" cy="816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Selected 6-DOF Robotic Arm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10634" y="566595"/>
            <a:ext cx="544554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07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9282" y="9676657"/>
            <a:ext cx="109082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· ELD411 · Mid-Term Review 2026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081467" y="2120629"/>
            <a:ext cx="7610928" cy="5722855"/>
          </a:xfrm>
          <a:custGeom>
            <a:avLst/>
            <a:gdLst/>
            <a:ahLst/>
            <a:cxnLst/>
            <a:rect r="r" b="b" t="t" l="l"/>
            <a:pathLst>
              <a:path h="5722855" w="7610928">
                <a:moveTo>
                  <a:pt x="0" y="0"/>
                </a:moveTo>
                <a:lnTo>
                  <a:pt x="7610928" y="0"/>
                </a:lnTo>
                <a:lnTo>
                  <a:pt x="7610928" y="5722855"/>
                </a:lnTo>
                <a:lnTo>
                  <a:pt x="0" y="57228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20932" y="2873238"/>
            <a:ext cx="8959432" cy="6385062"/>
          </a:xfrm>
          <a:custGeom>
            <a:avLst/>
            <a:gdLst/>
            <a:ahLst/>
            <a:cxnLst/>
            <a:rect r="r" b="b" t="t" l="l"/>
            <a:pathLst>
              <a:path h="6385062" w="8959432">
                <a:moveTo>
                  <a:pt x="0" y="0"/>
                </a:moveTo>
                <a:lnTo>
                  <a:pt x="8959432" y="0"/>
                </a:lnTo>
                <a:lnTo>
                  <a:pt x="8959432" y="6385062"/>
                </a:lnTo>
                <a:lnTo>
                  <a:pt x="0" y="638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9" name="TextBox 8"/>
          <p:cNvSpPr txBox="1"/>
          <p:nvPr/>
        </p:nvSpPr>
        <p:spPr>
          <a:xfrm>
            <a:off x="10081467" y="7953211"/>
            <a:ext cx="7610927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180E66"/>
                </a:solidFill>
                <a:latin typeface="Poppins"/>
              </a:rPr>
              <a:t>Elevation  ·  reach check against carousel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932" y="9304020"/>
            <a:ext cx="895943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80E66"/>
                </a:solidFill>
                <a:latin typeface="Poppins"/>
              </a:rPr>
              <a:t>Full assembly, dimensioned  ·  650 × 800 × 525 mm envelope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2537" y="497957"/>
            <a:ext cx="7888348" cy="3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MECHANICAL ADAPTATION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2537" y="945623"/>
            <a:ext cx="16261652" cy="816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Manipulator Modifications for Petri-Dish Reach</a:t>
            </a:r>
          </a:p>
        </p:txBody>
      </p:sp>
      <p:sp>
        <p:nvSpPr>
          <p:cNvPr name="AutoShape 4" id="4"/>
          <p:cNvSpPr/>
          <p:nvPr/>
        </p:nvSpPr>
        <p:spPr>
          <a:xfrm rot="3960">
            <a:off x="896426" y="1916982"/>
            <a:ext cx="16504872" cy="0"/>
          </a:xfrm>
          <a:prstGeom prst="line">
            <a:avLst/>
          </a:prstGeom>
          <a:ln cap="rnd" w="9525">
            <a:solidFill>
              <a:srgbClr val="D5DB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6810634" y="566595"/>
            <a:ext cx="544554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08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015073" y="2351465"/>
            <a:ext cx="5372491" cy="1281922"/>
            <a:chOff x="0" y="0"/>
            <a:chExt cx="7163321" cy="17092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63308" cy="1709166"/>
            </a:xfrm>
            <a:custGeom>
              <a:avLst/>
              <a:gdLst/>
              <a:ahLst/>
              <a:cxnLst/>
              <a:rect r="r" b="b" t="t" l="l"/>
              <a:pathLst>
                <a:path h="1709166" w="7163308">
                  <a:moveTo>
                    <a:pt x="0" y="284861"/>
                  </a:moveTo>
                  <a:cubicBezTo>
                    <a:pt x="0" y="127508"/>
                    <a:pt x="127508" y="0"/>
                    <a:pt x="284861" y="0"/>
                  </a:cubicBezTo>
                  <a:lnTo>
                    <a:pt x="6878447" y="0"/>
                  </a:lnTo>
                  <a:cubicBezTo>
                    <a:pt x="7035800" y="0"/>
                    <a:pt x="7163308" y="127508"/>
                    <a:pt x="7163308" y="284861"/>
                  </a:cubicBezTo>
                  <a:lnTo>
                    <a:pt x="7163308" y="1424305"/>
                  </a:lnTo>
                  <a:cubicBezTo>
                    <a:pt x="7163308" y="1581658"/>
                    <a:pt x="7035800" y="1709166"/>
                    <a:pt x="6878447" y="1709166"/>
                  </a:cubicBezTo>
                  <a:lnTo>
                    <a:pt x="284861" y="1709166"/>
                  </a:lnTo>
                  <a:cubicBezTo>
                    <a:pt x="127508" y="1709293"/>
                    <a:pt x="0" y="1581658"/>
                    <a:pt x="0" y="142430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2390625" y="2584428"/>
            <a:ext cx="421015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04419" y="2552767"/>
            <a:ext cx="3633064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LONGER LINKS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04419" y="2968771"/>
            <a:ext cx="3633064" cy="3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Extend joints so the gripper clears the outer carousel ring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015073" y="3971220"/>
            <a:ext cx="5372491" cy="1281922"/>
            <a:chOff x="0" y="0"/>
            <a:chExt cx="7163321" cy="17092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63308" cy="1709166"/>
            </a:xfrm>
            <a:custGeom>
              <a:avLst/>
              <a:gdLst/>
              <a:ahLst/>
              <a:cxnLst/>
              <a:rect r="r" b="b" t="t" l="l"/>
              <a:pathLst>
                <a:path h="1709166" w="7163308">
                  <a:moveTo>
                    <a:pt x="0" y="284861"/>
                  </a:moveTo>
                  <a:cubicBezTo>
                    <a:pt x="0" y="127508"/>
                    <a:pt x="127508" y="0"/>
                    <a:pt x="284861" y="0"/>
                  </a:cubicBezTo>
                  <a:lnTo>
                    <a:pt x="6878447" y="0"/>
                  </a:lnTo>
                  <a:cubicBezTo>
                    <a:pt x="7035800" y="0"/>
                    <a:pt x="7163308" y="127508"/>
                    <a:pt x="7163308" y="284861"/>
                  </a:cubicBezTo>
                  <a:lnTo>
                    <a:pt x="7163308" y="1424305"/>
                  </a:lnTo>
                  <a:cubicBezTo>
                    <a:pt x="7163308" y="1581658"/>
                    <a:pt x="7035800" y="1709166"/>
                    <a:pt x="6878447" y="1709166"/>
                  </a:cubicBezTo>
                  <a:lnTo>
                    <a:pt x="284861" y="1709166"/>
                  </a:lnTo>
                  <a:cubicBezTo>
                    <a:pt x="127508" y="1709293"/>
                    <a:pt x="0" y="1581658"/>
                    <a:pt x="0" y="142430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2390625" y="4204173"/>
            <a:ext cx="421015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04419" y="4172521"/>
            <a:ext cx="3633064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CAMERA MOUNT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04419" y="4588526"/>
            <a:ext cx="3633064" cy="3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Rigid mount above gripper, aligned with the QR scan axis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15073" y="5590975"/>
            <a:ext cx="5372491" cy="1281922"/>
            <a:chOff x="0" y="0"/>
            <a:chExt cx="7163321" cy="17092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63308" cy="1709166"/>
            </a:xfrm>
            <a:custGeom>
              <a:avLst/>
              <a:gdLst/>
              <a:ahLst/>
              <a:cxnLst/>
              <a:rect r="r" b="b" t="t" l="l"/>
              <a:pathLst>
                <a:path h="1709166" w="7163308">
                  <a:moveTo>
                    <a:pt x="0" y="284861"/>
                  </a:moveTo>
                  <a:cubicBezTo>
                    <a:pt x="0" y="127508"/>
                    <a:pt x="127508" y="0"/>
                    <a:pt x="284861" y="0"/>
                  </a:cubicBezTo>
                  <a:lnTo>
                    <a:pt x="6878447" y="0"/>
                  </a:lnTo>
                  <a:cubicBezTo>
                    <a:pt x="7035800" y="0"/>
                    <a:pt x="7163308" y="127508"/>
                    <a:pt x="7163308" y="284861"/>
                  </a:cubicBezTo>
                  <a:lnTo>
                    <a:pt x="7163308" y="1424305"/>
                  </a:lnTo>
                  <a:cubicBezTo>
                    <a:pt x="7163308" y="1581658"/>
                    <a:pt x="7035800" y="1709166"/>
                    <a:pt x="6878447" y="1709166"/>
                  </a:cubicBezTo>
                  <a:lnTo>
                    <a:pt x="284861" y="1709166"/>
                  </a:lnTo>
                  <a:cubicBezTo>
                    <a:pt x="127508" y="1709293"/>
                    <a:pt x="0" y="1581658"/>
                    <a:pt x="0" y="142430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390625" y="5823928"/>
            <a:ext cx="421015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04419" y="5792276"/>
            <a:ext cx="3633064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CABLE ROUTING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104419" y="6208281"/>
            <a:ext cx="3633064" cy="3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Slack CSI + power routing so cables survive full joint travel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2537" y="9800482"/>
            <a:ext cx="109082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· ELD411 · Mid-Term Review 2026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028700" y="2504875"/>
            <a:ext cx="9029047" cy="6172200"/>
          </a:xfrm>
          <a:custGeom>
            <a:avLst/>
            <a:gdLst/>
            <a:ahLst/>
            <a:cxnLst/>
            <a:rect r="r" b="b" t="t" l="l"/>
            <a:pathLst>
              <a:path h="6172200" w="9029047">
                <a:moveTo>
                  <a:pt x="0" y="0"/>
                </a:moveTo>
                <a:lnTo>
                  <a:pt x="9029047" y="0"/>
                </a:lnTo>
                <a:lnTo>
                  <a:pt x="9029047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23" name="Rounded Rectangle 22"/>
          <p:cNvSpPr/>
          <p:nvPr/>
        </p:nvSpPr>
        <p:spPr>
          <a:xfrm>
            <a:off x="12015216" y="7223760"/>
            <a:ext cx="5376672" cy="1280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90120" y="7488936"/>
            <a:ext cx="42062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2BA7A0"/>
                </a:solidFill>
                <a:latin typeface="Poppin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94208" y="7461504"/>
            <a:ext cx="363016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80E66"/>
                </a:solidFill>
                <a:latin typeface="Poppins"/>
              </a:rPr>
              <a:t>WIDER 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94208" y="7799831"/>
            <a:ext cx="3630168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646E7A"/>
                </a:solidFill>
                <a:latin typeface="Poppins"/>
              </a:rPr>
              <a:t>Widen 2 base-side links so reach stays even across the full carousel span.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2BA7A0"/>
                </a:solidFill>
                <a:latin typeface="Poppins"/>
              </a:rPr>
              <a:t>MECHANICAL ADAPTATION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50876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000" b="1">
                <a:solidFill>
                  <a:srgbClr val="180E66"/>
                </a:solidFill>
                <a:latin typeface="Poppins"/>
              </a:rPr>
              <a:t>Modified Arm — Dimensioned Drawing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7007840" cy="13716"/>
          </a:xfrm>
          <a:prstGeom prst="rect">
            <a:avLst/>
          </a:prstGeom>
          <a:solidFill>
            <a:srgbClr val="D5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0" y="329184"/>
            <a:ext cx="7315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300" b="1">
                <a:solidFill>
                  <a:srgbClr val="646E7A"/>
                </a:solidFill>
                <a:latin typeface="Poppin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1155680" cy="763524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52160" y="4663440"/>
            <a:ext cx="640080" cy="640080"/>
          </a:xfrm>
          <a:prstGeom prst="ellipse">
            <a:avLst/>
          </a:prstGeom>
          <a:solidFill>
            <a:srgbClr val="E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53328" y="4718304"/>
            <a:ext cx="3657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200" b="1">
                <a:solidFill>
                  <a:srgbClr val="2BA7A0"/>
                </a:solidFill>
                <a:latin typeface="Poppins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180E66"/>
                </a:solidFill>
                <a:latin typeface="Poppins"/>
              </a:rPr>
              <a:t>DROP THE UPDATED ARM DRAWING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23560"/>
            <a:ext cx="10789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46E7A"/>
                </a:solidFill>
                <a:latin typeface="Poppins"/>
              </a:rPr>
              <a:t>2 lengthened base-side links + wider base, with full dimensions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161520" y="1600200"/>
            <a:ext cx="4846320" cy="7635240"/>
          </a:xfrm>
          <a:prstGeom prst="roundRect">
            <a:avLst/>
          </a:prstGeom>
          <a:solidFill>
            <a:srgbClr val="180E66"/>
          </a:solidFill>
          <a:ln w="15875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81560" y="1874519"/>
            <a:ext cx="4206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9FFFC0"/>
                </a:solidFill>
                <a:latin typeface="Poppins"/>
              </a:rPr>
              <a:t>MEASUREMENTS NEEDED</a:t>
            </a:r>
          </a:p>
        </p:txBody>
      </p:sp>
      <p:sp>
        <p:nvSpPr>
          <p:cNvPr id="13" name="Oval 12"/>
          <p:cNvSpPr/>
          <p:nvPr/>
        </p:nvSpPr>
        <p:spPr>
          <a:xfrm>
            <a:off x="12481560" y="2377439"/>
            <a:ext cx="128016" cy="128016"/>
          </a:xfrm>
          <a:prstGeom prst="ellipse">
            <a:avLst/>
          </a:prstGeom>
          <a:solidFill>
            <a:srgbClr val="2B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0" y="2331720"/>
            <a:ext cx="41148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oppins"/>
              </a:rPr>
              <a:t>Link 1 — new length (mm)</a:t>
            </a:r>
          </a:p>
        </p:txBody>
      </p:sp>
      <p:sp>
        <p:nvSpPr>
          <p:cNvPr id="15" name="Oval 14"/>
          <p:cNvSpPr/>
          <p:nvPr/>
        </p:nvSpPr>
        <p:spPr>
          <a:xfrm>
            <a:off x="12481560" y="2944368"/>
            <a:ext cx="128016" cy="128016"/>
          </a:xfrm>
          <a:prstGeom prst="ellipse">
            <a:avLst/>
          </a:prstGeom>
          <a:solidFill>
            <a:srgbClr val="2B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710160" y="2898648"/>
            <a:ext cx="41148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oppins"/>
              </a:rPr>
              <a:t>Link 2 — new length (mm)</a:t>
            </a:r>
          </a:p>
        </p:txBody>
      </p:sp>
      <p:sp>
        <p:nvSpPr>
          <p:cNvPr id="17" name="Oval 16"/>
          <p:cNvSpPr/>
          <p:nvPr/>
        </p:nvSpPr>
        <p:spPr>
          <a:xfrm>
            <a:off x="12481560" y="3511296"/>
            <a:ext cx="128016" cy="128016"/>
          </a:xfrm>
          <a:prstGeom prst="ellipse">
            <a:avLst/>
          </a:prstGeom>
          <a:solidFill>
            <a:srgbClr val="2B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710160" y="3465576"/>
            <a:ext cx="41148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oppins"/>
              </a:rPr>
              <a:t>Base width — new (mm)</a:t>
            </a:r>
          </a:p>
        </p:txBody>
      </p:sp>
      <p:sp>
        <p:nvSpPr>
          <p:cNvPr id="19" name="Oval 18"/>
          <p:cNvSpPr/>
          <p:nvPr/>
        </p:nvSpPr>
        <p:spPr>
          <a:xfrm>
            <a:off x="12481560" y="4078224"/>
            <a:ext cx="128016" cy="128016"/>
          </a:xfrm>
          <a:prstGeom prst="ellipse">
            <a:avLst/>
          </a:prstGeom>
          <a:solidFill>
            <a:srgbClr val="2B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710160" y="4032504"/>
            <a:ext cx="41148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oppins"/>
              </a:rPr>
              <a:t>Joint offsets after extension</a:t>
            </a:r>
          </a:p>
        </p:txBody>
      </p:sp>
      <p:sp>
        <p:nvSpPr>
          <p:cNvPr id="21" name="Oval 20"/>
          <p:cNvSpPr/>
          <p:nvPr/>
        </p:nvSpPr>
        <p:spPr>
          <a:xfrm>
            <a:off x="12481560" y="4645151"/>
            <a:ext cx="128016" cy="128016"/>
          </a:xfrm>
          <a:prstGeom prst="ellipse">
            <a:avLst/>
          </a:prstGeom>
          <a:solidFill>
            <a:srgbClr val="2B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710160" y="4599431"/>
            <a:ext cx="41148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oppins"/>
              </a:rPr>
              <a:t>Updated reach vs carousel radius</a:t>
            </a:r>
          </a:p>
        </p:txBody>
      </p:sp>
      <p:sp>
        <p:nvSpPr>
          <p:cNvPr id="23" name="Oval 22"/>
          <p:cNvSpPr/>
          <p:nvPr/>
        </p:nvSpPr>
        <p:spPr>
          <a:xfrm>
            <a:off x="12481560" y="5212080"/>
            <a:ext cx="128016" cy="128016"/>
          </a:xfrm>
          <a:prstGeom prst="ellipse">
            <a:avLst/>
          </a:prstGeom>
          <a:solidFill>
            <a:srgbClr val="2B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710160" y="5166360"/>
            <a:ext cx="41148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oppins"/>
              </a:rPr>
              <a:t>Torque check at new lever arm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9765792"/>
            <a:ext cx="9144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46E7A"/>
                </a:solidFill>
                <a:latin typeface="Poppins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2BA7A0"/>
                </a:solidFill>
                <a:latin typeface="Poppins"/>
              </a:rPr>
              <a:t>COMPUTE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50876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000" b="1">
                <a:solidFill>
                  <a:srgbClr val="180E66"/>
                </a:solidFill>
                <a:latin typeface="Poppins"/>
              </a:rPr>
              <a:t>Raspberry Pi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7007840" cy="13716"/>
          </a:xfrm>
          <a:prstGeom prst="rect">
            <a:avLst/>
          </a:prstGeom>
          <a:solidFill>
            <a:srgbClr val="D5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0" y="329184"/>
            <a:ext cx="7315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300" b="1">
                <a:solidFill>
                  <a:srgbClr val="646E7A"/>
                </a:solidFill>
                <a:latin typeface="Poppin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303520" cy="3108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9144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BA7A0"/>
                </a:solidFill>
                <a:latin typeface="Poppi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7548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900" b="1">
                <a:solidFill>
                  <a:srgbClr val="180E66"/>
                </a:solidFill>
                <a:latin typeface="Poppins"/>
              </a:rPr>
              <a:t>UBUNTU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4754880" cy="1463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646E7A"/>
                </a:solidFill>
                <a:latin typeface="Poppins"/>
              </a:rPr>
              <a:t>First OS on the Pi. Chosen because ROS 2 install and packaging is easier on Ubuntu.</a:t>
            </a:r>
          </a:p>
        </p:txBody>
      </p:sp>
      <p:sp>
        <p:nvSpPr>
          <p:cNvPr id="10" name="Oval 9"/>
          <p:cNvSpPr/>
          <p:nvPr/>
        </p:nvSpPr>
        <p:spPr>
          <a:xfrm>
            <a:off x="5998464" y="3127248"/>
            <a:ext cx="228600" cy="228600"/>
          </a:xfrm>
          <a:prstGeom prst="ellipse">
            <a:avLst/>
          </a:prstGeom>
          <a:solidFill>
            <a:srgbClr val="2B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645920"/>
            <a:ext cx="5303520" cy="3108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9144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BA7A0"/>
                </a:solidFill>
                <a:latin typeface="Poppi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31720"/>
            <a:ext cx="47548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900" b="1">
                <a:solidFill>
                  <a:srgbClr val="180E66"/>
                </a:solidFill>
                <a:latin typeface="Poppins"/>
              </a:rPr>
              <a:t>CAMERA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017520"/>
            <a:ext cx="4754880" cy="1463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646E7A"/>
                </a:solidFill>
                <a:latin typeface="Poppins"/>
              </a:rPr>
              <a:t>Camera Module verified working under Ubuntu Server before anything else was built.</a:t>
            </a:r>
          </a:p>
        </p:txBody>
      </p:sp>
      <p:sp>
        <p:nvSpPr>
          <p:cNvPr id="15" name="Oval 14"/>
          <p:cNvSpPr/>
          <p:nvPr/>
        </p:nvSpPr>
        <p:spPr>
          <a:xfrm>
            <a:off x="11667744" y="3127248"/>
            <a:ext cx="228600" cy="228600"/>
          </a:xfrm>
          <a:prstGeom prst="ellipse">
            <a:avLst/>
          </a:prstGeom>
          <a:solidFill>
            <a:srgbClr val="2B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978640" y="1645920"/>
            <a:ext cx="5303520" cy="3108960"/>
          </a:xfrm>
          <a:prstGeom prst="roundRect">
            <a:avLst/>
          </a:prstGeom>
          <a:solidFill>
            <a:srgbClr val="180E66"/>
          </a:solidFill>
          <a:ln w="15875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252960" y="1920240"/>
            <a:ext cx="9144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9FFFC0"/>
                </a:solidFill>
                <a:latin typeface="Poppi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0" y="2331720"/>
            <a:ext cx="47548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Poppins"/>
              </a:rPr>
              <a:t>SWITCH TO RASPBERRY PI 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0" y="3017520"/>
            <a:ext cx="4754880" cy="1463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DCE7FF"/>
                </a:solidFill>
                <a:latin typeface="Poppins"/>
              </a:rPr>
              <a:t>Final OS. The add-on HAT board is only supported on Raspberry Pi OS, not Ubuntu.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120640"/>
            <a:ext cx="16642080" cy="2377440"/>
          </a:xfrm>
          <a:prstGeom prst="roundRect">
            <a:avLst/>
          </a:prstGeom>
          <a:solidFill>
            <a:srgbClr val="FFF5E5"/>
          </a:solidFill>
          <a:ln w="15875">
            <a:solidFill>
              <a:srgbClr val="C4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440680"/>
            <a:ext cx="5486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C48723"/>
                </a:solidFill>
                <a:latin typeface="Poppins"/>
              </a:rPr>
              <a:t>WHY RASPBERRY PI OS WON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852160"/>
            <a:ext cx="16093440" cy="1371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9202A"/>
                </a:solidFill>
                <a:latin typeface="Poppins"/>
              </a:rPr>
              <a:t>HAT compatibility decided it: the camera/control HAT ships drivers for Raspberry Pi OS only. Ubuntu stayed useful for early ROS 2 experiments, but the deployed board runs Raspberry Pi 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9765792"/>
            <a:ext cx="9144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46E7A"/>
                </a:solidFill>
                <a:latin typeface="Poppins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DAHVRa7o4BI</dc:identifier>
  <dcterms:modified xsi:type="dcterms:W3CDTF">2011-08-01T06:04:30Z</dcterms:modified>
  <cp:revision>1</cp:revision>
  <dc:title>ELD411 mid term </dc:title>
</cp:coreProperties>
</file>
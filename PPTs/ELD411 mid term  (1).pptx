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Inter" charset="1" panose="020B0502030000000004"/>
      <p:regular r:id="rId18"/>
    </p:embeddedFont>
    <p:embeddedFont>
      <p:font typeface="Poppins" charset="1" panose="00000500000000000000"/>
      <p:regular r:id="rId19"/>
    </p:embeddedFont>
    <p:embeddedFont>
      <p:font typeface="Aptos Bold" charset="1" panose="020B0004020202020204"/>
      <p:regular r:id="rId20"/>
    </p:embeddedFont>
    <p:embeddedFont>
      <p:font typeface="Aptos" charset="1" panose="020B00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chat.whatsapp.com/I9lyLp4iAsn1qEpl1PTXJ2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5DBFF">
                <a:alpha val="100000"/>
              </a:srgbClr>
            </a:gs>
            <a:gs pos="50000">
              <a:srgbClr val="9FFFC0">
                <a:alpha val="100000"/>
              </a:srgbClr>
            </a:gs>
            <a:gs pos="100000">
              <a:srgbClr val="D5DB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668437"/>
            <a:ext cx="18288000" cy="2676937"/>
            <a:chOff x="0" y="0"/>
            <a:chExt cx="4816593" cy="7050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705037"/>
            </a:xfrm>
            <a:custGeom>
              <a:avLst/>
              <a:gdLst/>
              <a:ahLst/>
              <a:cxnLst/>
              <a:rect r="r" b="b" t="t" l="l"/>
              <a:pathLst>
                <a:path h="70503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05037"/>
                  </a:lnTo>
                  <a:lnTo>
                    <a:pt x="0" y="705037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762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56205" y="1796162"/>
            <a:ext cx="14194690" cy="7113776"/>
            <a:chOff x="0" y="0"/>
            <a:chExt cx="3738519" cy="18735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46655" y="1586612"/>
            <a:ext cx="14194690" cy="7113776"/>
            <a:chOff x="0" y="0"/>
            <a:chExt cx="3738519" cy="18735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62591" y="-988210"/>
            <a:ext cx="5762818" cy="3296724"/>
            <a:chOff x="0" y="0"/>
            <a:chExt cx="1517779" cy="8682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7779" cy="868273"/>
            </a:xfrm>
            <a:custGeom>
              <a:avLst/>
              <a:gdLst/>
              <a:ahLst/>
              <a:cxnLst/>
              <a:rect r="r" b="b" t="t" l="l"/>
              <a:pathLst>
                <a:path h="868273" w="1517779">
                  <a:moveTo>
                    <a:pt x="68515" y="0"/>
                  </a:moveTo>
                  <a:lnTo>
                    <a:pt x="1449265" y="0"/>
                  </a:lnTo>
                  <a:cubicBezTo>
                    <a:pt x="1487104" y="0"/>
                    <a:pt x="1517779" y="30675"/>
                    <a:pt x="1517779" y="68515"/>
                  </a:cubicBezTo>
                  <a:lnTo>
                    <a:pt x="1517779" y="799758"/>
                  </a:lnTo>
                  <a:cubicBezTo>
                    <a:pt x="1517779" y="817930"/>
                    <a:pt x="1510561" y="835357"/>
                    <a:pt x="1497712" y="848206"/>
                  </a:cubicBezTo>
                  <a:cubicBezTo>
                    <a:pt x="1484863" y="861055"/>
                    <a:pt x="1467436" y="868273"/>
                    <a:pt x="1449265" y="868273"/>
                  </a:cubicBezTo>
                  <a:lnTo>
                    <a:pt x="68515" y="868273"/>
                  </a:lnTo>
                  <a:cubicBezTo>
                    <a:pt x="30675" y="868273"/>
                    <a:pt x="0" y="837598"/>
                    <a:pt x="0" y="799758"/>
                  </a:cubicBezTo>
                  <a:lnTo>
                    <a:pt x="0" y="68515"/>
                  </a:lnTo>
                  <a:cubicBezTo>
                    <a:pt x="0" y="50343"/>
                    <a:pt x="7218" y="32917"/>
                    <a:pt x="20067" y="20067"/>
                  </a:cubicBezTo>
                  <a:cubicBezTo>
                    <a:pt x="32917" y="7218"/>
                    <a:pt x="50343" y="0"/>
                    <a:pt x="685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517779" cy="925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9942" y="66015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884631" y="714624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938940" y="5787345"/>
            <a:ext cx="863203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</a:pPr>
            <a:r>
              <a:rPr lang="en-US" b="true" sz="3600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Autonomous robotic manipulator for AMR sampling (Petri Dish)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18184" y="3305153"/>
            <a:ext cx="10194102" cy="228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45"/>
              </a:lnSpc>
            </a:pPr>
            <a:r>
              <a:rPr lang="en-US" b="true" sz="1267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ELD411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6560" y="9156333"/>
            <a:ext cx="4162875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Arnav Panjla 2023EE10978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Manashvi Garg 2023EE1141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29719" y="5113890"/>
            <a:ext cx="3971032" cy="44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Mid-Term Review —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44382"/>
            <a:ext cx="18288000" cy="942618"/>
            <a:chOff x="0" y="0"/>
            <a:chExt cx="4816593" cy="24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48262"/>
            </a:xfrm>
            <a:custGeom>
              <a:avLst/>
              <a:gdLst/>
              <a:ahLst/>
              <a:cxnLst/>
              <a:rect r="r" b="b" t="t" l="l"/>
              <a:pathLst>
                <a:path h="2482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262"/>
                  </a:lnTo>
                  <a:lnTo>
                    <a:pt x="0" y="248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05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07688" y="470903"/>
            <a:ext cx="15295730" cy="129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78"/>
              </a:lnSpc>
              <a:spcBef>
                <a:spcPct val="0"/>
              </a:spcBef>
            </a:pPr>
            <a:r>
              <a:rPr lang="en-US" b="true" sz="7199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8043" y="2180660"/>
            <a:ext cx="17130898" cy="349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185" indent="-355093" lvl="1">
              <a:lnSpc>
                <a:spcPts val="4605"/>
              </a:lnSpc>
              <a:buFont typeface="Arial"/>
              <a:buChar char="•"/>
            </a:pPr>
            <a:r>
              <a:rPr lang="en-US" sz="32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Antimicrobial resistance (AMR) requires continuous surveillance.</a:t>
            </a:r>
          </a:p>
          <a:p>
            <a:pPr algn="l" marL="710185" indent="-355093" lvl="1">
              <a:lnSpc>
                <a:spcPts val="4605"/>
              </a:lnSpc>
              <a:buFont typeface="Arial"/>
              <a:buChar char="•"/>
            </a:pPr>
            <a:r>
              <a:rPr lang="en-US" sz="32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Rural/village-level sampling can generate many biological samples.</a:t>
            </a:r>
          </a:p>
          <a:p>
            <a:pPr algn="l" marL="710185" indent="-355093" lvl="1">
              <a:lnSpc>
                <a:spcPts val="4605"/>
              </a:lnSpc>
              <a:buFont typeface="Arial"/>
              <a:buChar char="•"/>
            </a:pPr>
            <a:r>
              <a:rPr lang="en-US" sz="32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Samples need to be collected, transported, incubated/processed and analyzed.</a:t>
            </a:r>
          </a:p>
          <a:p>
            <a:pPr algn="l" marL="710185" indent="-355093" lvl="1">
              <a:lnSpc>
                <a:spcPts val="4605"/>
              </a:lnSpc>
              <a:buFont typeface="Arial"/>
              <a:buChar char="•"/>
            </a:pPr>
            <a:r>
              <a:rPr lang="en-US" sz="32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Petri-dish handling becomes a bottleneck as sample volume increases.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8043" y="6403631"/>
            <a:ext cx="16043765" cy="1164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3"/>
              </a:lnSpc>
              <a:spcBef>
                <a:spcPct val="0"/>
              </a:spcBef>
            </a:pPr>
            <a:r>
              <a:rPr lang="en-US" b="true" sz="327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</a:t>
            </a:r>
            <a:r>
              <a:rPr lang="en-US" b="true" sz="327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 a robotic manipulator autonomously handle Petri dishes and perform repetitive laboratory operations required for AMR sampling?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44382"/>
            <a:ext cx="18288000" cy="942618"/>
            <a:chOff x="0" y="0"/>
            <a:chExt cx="4816593" cy="24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48262"/>
            </a:xfrm>
            <a:custGeom>
              <a:avLst/>
              <a:gdLst/>
              <a:ahLst/>
              <a:cxnLst/>
              <a:rect r="r" b="b" t="t" l="l"/>
              <a:pathLst>
                <a:path h="2482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262"/>
                  </a:lnTo>
                  <a:lnTo>
                    <a:pt x="0" y="248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05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7609" y="280122"/>
            <a:ext cx="15295730" cy="129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78"/>
              </a:lnSpc>
              <a:spcBef>
                <a:spcPct val="0"/>
              </a:spcBef>
            </a:pPr>
            <a:r>
              <a:rPr lang="en-US" b="true" sz="7199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/ System Scale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0125" y="1780224"/>
            <a:ext cx="16581340" cy="751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6"/>
              </a:lnSpc>
              <a:spcBef>
                <a:spcPct val="0"/>
              </a:spcBef>
            </a:pPr>
            <a:r>
              <a:rPr lang="en-US" sz="3026">
                <a:solidFill>
                  <a:srgbClr val="180E66"/>
                </a:solidFill>
                <a:latin typeface="Poppins"/>
                <a:ea typeface="Poppins"/>
                <a:cs typeface="Poppins"/>
                <a:sym typeface="Poppins"/>
              </a:rPr>
              <a:t>Esti</a:t>
            </a:r>
            <a:r>
              <a:rPr lang="en-US" sz="3026">
                <a:solidFill>
                  <a:srgbClr val="180E66"/>
                </a:solidFill>
                <a:latin typeface="Poppins"/>
                <a:ea typeface="Poppins"/>
                <a:cs typeface="Poppins"/>
                <a:sym typeface="Poppins"/>
              </a:rPr>
              <a:t>mating the Sampling Scale</a:t>
            </a:r>
          </a:p>
          <a:p>
            <a:pPr algn="just" marL="653352" indent="-326676" lvl="1">
              <a:lnSpc>
                <a:spcPts val="4236"/>
              </a:lnSpc>
              <a:spcBef>
                <a:spcPct val="0"/>
              </a:spcBef>
              <a:buFont typeface="Arial"/>
              <a:buChar char="•"/>
            </a:pPr>
            <a:r>
              <a:rPr lang="en-US" sz="3026">
                <a:solidFill>
                  <a:srgbClr val="180E66"/>
                </a:solidFill>
                <a:latin typeface="Poppins"/>
                <a:ea typeface="Poppins"/>
                <a:cs typeface="Poppins"/>
                <a:sym typeface="Poppins"/>
              </a:rPr>
              <a:t>Village population: ~100 people</a:t>
            </a:r>
          </a:p>
          <a:p>
            <a:pPr algn="just" marL="653352" indent="-326676" lvl="1">
              <a:lnSpc>
                <a:spcPts val="4236"/>
              </a:lnSpc>
              <a:spcBef>
                <a:spcPct val="0"/>
              </a:spcBef>
              <a:buFont typeface="Arial"/>
              <a:buChar char="•"/>
            </a:pPr>
            <a:r>
              <a:rPr lang="en-US" sz="3026">
                <a:solidFill>
                  <a:srgbClr val="180E66"/>
                </a:solidFill>
                <a:latin typeface="Poppins"/>
                <a:ea typeface="Poppins"/>
                <a:cs typeface="Poppins"/>
                <a:sym typeface="Poppins"/>
              </a:rPr>
              <a:t>Estimated sampling fraction: 2–5% → 2–5 samples/village</a:t>
            </a:r>
          </a:p>
          <a:p>
            <a:pPr algn="just" marL="653352" indent="-326676" lvl="1">
              <a:lnSpc>
                <a:spcPts val="4236"/>
              </a:lnSpc>
              <a:spcBef>
                <a:spcPct val="0"/>
              </a:spcBef>
              <a:buFont typeface="Arial"/>
              <a:buChar char="•"/>
            </a:pPr>
            <a:r>
              <a:rPr lang="en-US" sz="3026">
                <a:solidFill>
                  <a:srgbClr val="180E66"/>
                </a:solidFill>
                <a:latin typeface="Poppins"/>
                <a:ea typeface="Poppins"/>
                <a:cs typeface="Poppins"/>
                <a:sym typeface="Poppins"/>
              </a:rPr>
              <a:t>Collection capacity: 4–5 field collectors</a:t>
            </a:r>
          </a:p>
          <a:p>
            <a:pPr algn="just" marL="653352" indent="-326676" lvl="1">
              <a:lnSpc>
                <a:spcPts val="4236"/>
              </a:lnSpc>
              <a:spcBef>
                <a:spcPct val="0"/>
              </a:spcBef>
              <a:buFont typeface="Arial"/>
              <a:buChar char="•"/>
            </a:pPr>
            <a:r>
              <a:rPr lang="en-US" sz="3026">
                <a:solidFill>
                  <a:srgbClr val="180E66"/>
                </a:solidFill>
                <a:latin typeface="Poppins"/>
                <a:ea typeface="Poppins"/>
                <a:cs typeface="Poppins"/>
                <a:sym typeface="Poppins"/>
              </a:rPr>
              <a:t>Villages visited per collector: ~5–6 villages/day</a:t>
            </a:r>
          </a:p>
          <a:p>
            <a:pPr algn="just" marL="653352" indent="-326676" lvl="1">
              <a:lnSpc>
                <a:spcPts val="4236"/>
              </a:lnSpc>
              <a:spcBef>
                <a:spcPct val="0"/>
              </a:spcBef>
              <a:buFont typeface="Arial"/>
              <a:buChar char="•"/>
            </a:pPr>
            <a:r>
              <a:rPr lang="en-US" sz="3026">
                <a:solidFill>
                  <a:srgbClr val="180E66"/>
                </a:solidFill>
                <a:latin typeface="Poppins"/>
                <a:ea typeface="Poppins"/>
                <a:cs typeface="Poppins"/>
                <a:sym typeface="Poppins"/>
              </a:rPr>
              <a:t>Design target: approximately 100 Petri dishes/day</a:t>
            </a:r>
          </a:p>
          <a:p>
            <a:pPr algn="just">
              <a:lnSpc>
                <a:spcPts val="4236"/>
              </a:lnSpc>
              <a:spcBef>
                <a:spcPct val="0"/>
              </a:spcBef>
            </a:pPr>
          </a:p>
          <a:p>
            <a:pPr algn="just">
              <a:lnSpc>
                <a:spcPts val="4236"/>
              </a:lnSpc>
              <a:spcBef>
                <a:spcPct val="0"/>
              </a:spcBef>
            </a:pPr>
            <a:r>
              <a:rPr lang="en-US" sz="3026">
                <a:solidFill>
                  <a:srgbClr val="180E66"/>
                </a:solidFill>
                <a:latin typeface="Poppins"/>
                <a:ea typeface="Poppins"/>
                <a:cs typeface="Poppins"/>
                <a:sym typeface="Poppins"/>
              </a:rPr>
              <a:t>Processing Time Creates a Capacity Requirement</a:t>
            </a:r>
          </a:p>
          <a:p>
            <a:pPr algn="just" marL="653352" indent="-326676" lvl="1">
              <a:lnSpc>
                <a:spcPts val="4236"/>
              </a:lnSpc>
              <a:spcBef>
                <a:spcPct val="0"/>
              </a:spcBef>
              <a:buFont typeface="Arial"/>
              <a:buChar char="•"/>
            </a:pPr>
            <a:r>
              <a:rPr lang="en-US" sz="3026">
                <a:solidFill>
                  <a:srgbClr val="180E66"/>
                </a:solidFill>
                <a:latin typeface="Poppins"/>
                <a:ea typeface="Poppins"/>
                <a:cs typeface="Poppins"/>
                <a:sym typeface="Poppins"/>
              </a:rPr>
              <a:t>Target incoming throughput: ~100 dishes/day</a:t>
            </a:r>
          </a:p>
          <a:p>
            <a:pPr algn="just" marL="653352" indent="-326676" lvl="1">
              <a:lnSpc>
                <a:spcPts val="4236"/>
              </a:lnSpc>
              <a:spcBef>
                <a:spcPct val="0"/>
              </a:spcBef>
              <a:buFont typeface="Arial"/>
              <a:buChar char="•"/>
            </a:pPr>
            <a:r>
              <a:rPr lang="en-US" sz="3026">
                <a:solidFill>
                  <a:srgbClr val="180E66"/>
                </a:solidFill>
                <a:latin typeface="Poppins"/>
                <a:ea typeface="Poppins"/>
                <a:cs typeface="Poppins"/>
                <a:sym typeface="Poppins"/>
              </a:rPr>
              <a:t>Approximate processing/observation duration: 5–6 days</a:t>
            </a:r>
          </a:p>
          <a:p>
            <a:pPr algn="just" marL="653352" indent="-326676" lvl="1">
              <a:lnSpc>
                <a:spcPts val="4236"/>
              </a:lnSpc>
              <a:spcBef>
                <a:spcPct val="0"/>
              </a:spcBef>
              <a:buFont typeface="Arial"/>
              <a:buChar char="•"/>
            </a:pPr>
            <a:r>
              <a:rPr lang="en-US" sz="3026">
                <a:solidFill>
                  <a:srgbClr val="180E66"/>
                </a:solidFill>
                <a:latin typeface="Poppins"/>
                <a:ea typeface="Poppins"/>
                <a:cs typeface="Poppins"/>
                <a:sym typeface="Poppins"/>
              </a:rPr>
              <a:t>Multiple daily batches are therefore simultaneously inside the laboratory pipeline.</a:t>
            </a:r>
          </a:p>
          <a:p>
            <a:pPr algn="just" marL="653352" indent="-326676" lvl="1">
              <a:lnSpc>
                <a:spcPts val="4236"/>
              </a:lnSpc>
              <a:spcBef>
                <a:spcPct val="0"/>
              </a:spcBef>
              <a:buFont typeface="Arial"/>
              <a:buChar char="•"/>
            </a:pPr>
            <a:r>
              <a:rPr lang="en-US" sz="3026">
                <a:solidFill>
                  <a:srgbClr val="180E66"/>
                </a:solidFill>
                <a:latin typeface="Poppins"/>
                <a:ea typeface="Poppins"/>
                <a:cs typeface="Poppins"/>
                <a:sym typeface="Poppins"/>
              </a:rPr>
              <a:t>Required in-process capacity:</a:t>
            </a:r>
          </a:p>
          <a:p>
            <a:pPr algn="just" marL="653352" indent="-326676" lvl="1">
              <a:lnSpc>
                <a:spcPts val="4236"/>
              </a:lnSpc>
              <a:spcBef>
                <a:spcPct val="0"/>
              </a:spcBef>
              <a:buFont typeface="Arial"/>
              <a:buChar char="•"/>
            </a:pPr>
            <a:r>
              <a:rPr lang="en-US" sz="3026">
                <a:solidFill>
                  <a:srgbClr val="180E66"/>
                </a:solidFill>
                <a:latin typeface="Poppins"/>
                <a:ea typeface="Poppins"/>
                <a:cs typeface="Poppins"/>
                <a:sym typeface="Poppins"/>
              </a:rPr>
              <a:t>100 dishes/day×5−6 days≈500−600 </a:t>
            </a:r>
          </a:p>
          <a:p>
            <a:pPr algn="just" marL="653352" indent="-326676" lvl="1">
              <a:lnSpc>
                <a:spcPts val="4236"/>
              </a:lnSpc>
              <a:spcBef>
                <a:spcPct val="0"/>
              </a:spcBef>
              <a:buFont typeface="Arial"/>
              <a:buChar char="•"/>
            </a:pPr>
            <a:r>
              <a:rPr lang="en-US" sz="3026">
                <a:solidFill>
                  <a:srgbClr val="180E66"/>
                </a:solidFill>
                <a:latin typeface="Poppins"/>
                <a:ea typeface="Poppins"/>
                <a:cs typeface="Poppins"/>
                <a:sym typeface="Poppins"/>
              </a:rPr>
              <a:t>Design capacity target: ~600 Petri dishes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44382"/>
            <a:ext cx="18288000" cy="942618"/>
            <a:chOff x="0" y="0"/>
            <a:chExt cx="4816593" cy="24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48262"/>
            </a:xfrm>
            <a:custGeom>
              <a:avLst/>
              <a:gdLst/>
              <a:ahLst/>
              <a:cxnLst/>
              <a:rect r="r" b="b" t="t" l="l"/>
              <a:pathLst>
                <a:path h="2482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262"/>
                  </a:lnTo>
                  <a:lnTo>
                    <a:pt x="0" y="248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05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96733" y="280122"/>
            <a:ext cx="15295730" cy="129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78"/>
              </a:lnSpc>
              <a:spcBef>
                <a:spcPct val="0"/>
              </a:spcBef>
            </a:pPr>
            <a:r>
              <a:rPr lang="en-US" b="true" sz="7199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44382"/>
            <a:ext cx="18288000" cy="942618"/>
            <a:chOff x="0" y="0"/>
            <a:chExt cx="4816593" cy="24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48262"/>
            </a:xfrm>
            <a:custGeom>
              <a:avLst/>
              <a:gdLst/>
              <a:ahLst/>
              <a:cxnLst/>
              <a:rect r="r" b="b" t="t" l="l"/>
              <a:pathLst>
                <a:path h="2482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262"/>
                  </a:lnTo>
                  <a:lnTo>
                    <a:pt x="0" y="248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05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5176" y="154983"/>
            <a:ext cx="15319547" cy="87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4"/>
              </a:lnSpc>
              <a:spcBef>
                <a:spcPct val="0"/>
              </a:spcBef>
            </a:pPr>
            <a:r>
              <a:rPr lang="en-US" b="true" sz="4795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Manipulator Selection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44382"/>
            <a:ext cx="18288000" cy="942618"/>
            <a:chOff x="0" y="0"/>
            <a:chExt cx="4816593" cy="24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48262"/>
            </a:xfrm>
            <a:custGeom>
              <a:avLst/>
              <a:gdLst/>
              <a:ahLst/>
              <a:cxnLst/>
              <a:rect r="r" b="b" t="t" l="l"/>
              <a:pathLst>
                <a:path h="2482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262"/>
                  </a:lnTo>
                  <a:lnTo>
                    <a:pt x="0" y="248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05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5176" y="154983"/>
            <a:ext cx="15319547" cy="87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4"/>
              </a:lnSpc>
              <a:spcBef>
                <a:spcPct val="0"/>
              </a:spcBef>
            </a:pPr>
            <a:r>
              <a:rPr lang="en-US" b="true" sz="4795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Computer Vision Pipeline &amp; setup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44382"/>
            <a:ext cx="18288000" cy="942618"/>
            <a:chOff x="0" y="0"/>
            <a:chExt cx="4816593" cy="24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48262"/>
            </a:xfrm>
            <a:custGeom>
              <a:avLst/>
              <a:gdLst/>
              <a:ahLst/>
              <a:cxnLst/>
              <a:rect r="r" b="b" t="t" l="l"/>
              <a:pathLst>
                <a:path h="2482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262"/>
                  </a:lnTo>
                  <a:lnTo>
                    <a:pt x="0" y="248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05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5176" y="154983"/>
            <a:ext cx="15319547" cy="87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4"/>
              </a:lnSpc>
              <a:spcBef>
                <a:spcPct val="0"/>
              </a:spcBef>
            </a:pPr>
            <a:r>
              <a:rPr lang="en-US" b="true" sz="4795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Gazebo Simulation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44382"/>
            <a:ext cx="18288000" cy="942618"/>
            <a:chOff x="0" y="0"/>
            <a:chExt cx="4816593" cy="24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48262"/>
            </a:xfrm>
            <a:custGeom>
              <a:avLst/>
              <a:gdLst/>
              <a:ahLst/>
              <a:cxnLst/>
              <a:rect r="r" b="b" t="t" l="l"/>
              <a:pathLst>
                <a:path h="2482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262"/>
                  </a:lnTo>
                  <a:lnTo>
                    <a:pt x="0" y="248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05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5176" y="154983"/>
            <a:ext cx="15319547" cy="87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4"/>
              </a:lnSpc>
              <a:spcBef>
                <a:spcPct val="0"/>
              </a:spcBef>
            </a:pPr>
            <a:r>
              <a:rPr lang="en-US" b="true" sz="4795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Autonomous Pick-and-Place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44382"/>
            <a:ext cx="18288000" cy="942618"/>
            <a:chOff x="0" y="0"/>
            <a:chExt cx="4816593" cy="24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48262"/>
            </a:xfrm>
            <a:custGeom>
              <a:avLst/>
              <a:gdLst/>
              <a:ahLst/>
              <a:cxnLst/>
              <a:rect r="r" b="b" t="t" l="l"/>
              <a:pathLst>
                <a:path h="2482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262"/>
                  </a:lnTo>
                  <a:lnTo>
                    <a:pt x="0" y="248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05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61794" y="1605828"/>
            <a:ext cx="16764412" cy="7045456"/>
          </a:xfrm>
          <a:custGeom>
            <a:avLst/>
            <a:gdLst/>
            <a:ahLst/>
            <a:cxnLst/>
            <a:rect r="r" b="b" t="t" l="l"/>
            <a:pathLst>
              <a:path h="7045456" w="16764412">
                <a:moveTo>
                  <a:pt x="0" y="0"/>
                </a:moveTo>
                <a:lnTo>
                  <a:pt x="16764412" y="0"/>
                </a:lnTo>
                <a:lnTo>
                  <a:pt x="16764412" y="7045457"/>
                </a:lnTo>
                <a:lnTo>
                  <a:pt x="0" y="7045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6733" y="280122"/>
            <a:ext cx="15295730" cy="129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78"/>
              </a:lnSpc>
              <a:spcBef>
                <a:spcPct val="0"/>
              </a:spcBef>
            </a:pPr>
            <a:r>
              <a:rPr lang="en-US" b="true" sz="7199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Bill of Materials &amp; Procurement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344382"/>
            <a:ext cx="18288000" cy="942618"/>
            <a:chOff x="0" y="0"/>
            <a:chExt cx="4816593" cy="24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48262"/>
            </a:xfrm>
            <a:custGeom>
              <a:avLst/>
              <a:gdLst/>
              <a:ahLst/>
              <a:cxnLst/>
              <a:rect r="r" b="b" t="t" l="l"/>
              <a:pathLst>
                <a:path h="24826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48262"/>
                  </a:lnTo>
                  <a:lnTo>
                    <a:pt x="0" y="248262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305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5176" y="154983"/>
            <a:ext cx="15319547" cy="87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4"/>
              </a:lnSpc>
              <a:spcBef>
                <a:spcPct val="0"/>
              </a:spcBef>
            </a:pPr>
            <a:r>
              <a:rPr lang="en-US" b="true" sz="4795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Progress &amp; Roadmap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8865" y="1581754"/>
            <a:ext cx="8826210" cy="421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792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MID-TERM STATUS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1523" y="2422722"/>
            <a:ext cx="8734389" cy="694468"/>
            <a:chOff x="0" y="0"/>
            <a:chExt cx="11058679" cy="8792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7426989" y="2531134"/>
            <a:ext cx="2004874" cy="477634"/>
            <a:chOff x="0" y="0"/>
            <a:chExt cx="2538387" cy="604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38400" cy="604774"/>
            </a:xfrm>
            <a:custGeom>
              <a:avLst/>
              <a:gdLst/>
              <a:ahLst/>
              <a:cxnLst/>
              <a:rect r="r" b="b" t="t" l="l"/>
              <a:pathLst>
                <a:path h="604774" w="253840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424737" y="0"/>
                  </a:lnTo>
                  <a:cubicBezTo>
                    <a:pt x="2487438" y="0"/>
                    <a:pt x="2538400" y="45085"/>
                    <a:pt x="2538400" y="100838"/>
                  </a:cubicBezTo>
                  <a:lnTo>
                    <a:pt x="2538400" y="503936"/>
                  </a:lnTo>
                  <a:cubicBezTo>
                    <a:pt x="2538400" y="559562"/>
                    <a:pt x="2487581" y="604774"/>
                    <a:pt x="242473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357852"/>
            </a:solidFill>
            <a:ln w="14299" cap="sq">
              <a:solidFill>
                <a:srgbClr val="357852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54448" y="2586815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Problem &amp; system definition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09195" y="2625844"/>
            <a:ext cx="1640451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COMPLETED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1523" y="3217778"/>
            <a:ext cx="8734389" cy="694468"/>
            <a:chOff x="0" y="0"/>
            <a:chExt cx="11058679" cy="8792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426989" y="3326191"/>
            <a:ext cx="2004874" cy="477634"/>
            <a:chOff x="0" y="0"/>
            <a:chExt cx="2538387" cy="6047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8400" cy="604774"/>
            </a:xfrm>
            <a:custGeom>
              <a:avLst/>
              <a:gdLst/>
              <a:ahLst/>
              <a:cxnLst/>
              <a:rect r="r" b="b" t="t" l="l"/>
              <a:pathLst>
                <a:path h="604774" w="253840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424737" y="0"/>
                  </a:lnTo>
                  <a:cubicBezTo>
                    <a:pt x="2487438" y="0"/>
                    <a:pt x="2538400" y="45085"/>
                    <a:pt x="2538400" y="100838"/>
                  </a:cubicBezTo>
                  <a:lnTo>
                    <a:pt x="2538400" y="503936"/>
                  </a:lnTo>
                  <a:cubicBezTo>
                    <a:pt x="2538400" y="559562"/>
                    <a:pt x="2487581" y="604774"/>
                    <a:pt x="242473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357852"/>
            </a:solidFill>
            <a:ln w="14299" cap="sq">
              <a:solidFill>
                <a:srgbClr val="357852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54448" y="3381871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Hardware architecture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09195" y="3420901"/>
            <a:ext cx="1640451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COMPLETED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11523" y="4012835"/>
            <a:ext cx="8734389" cy="694468"/>
            <a:chOff x="0" y="0"/>
            <a:chExt cx="11058679" cy="8792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426989" y="4121247"/>
            <a:ext cx="2004874" cy="477634"/>
            <a:chOff x="0" y="0"/>
            <a:chExt cx="2538387" cy="6047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38400" cy="604774"/>
            </a:xfrm>
            <a:custGeom>
              <a:avLst/>
              <a:gdLst/>
              <a:ahLst/>
              <a:cxnLst/>
              <a:rect r="r" b="b" t="t" l="l"/>
              <a:pathLst>
                <a:path h="604774" w="253840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424737" y="0"/>
                  </a:lnTo>
                  <a:cubicBezTo>
                    <a:pt x="2487438" y="0"/>
                    <a:pt x="2538400" y="45085"/>
                    <a:pt x="2538400" y="100838"/>
                  </a:cubicBezTo>
                  <a:lnTo>
                    <a:pt x="2538400" y="503936"/>
                  </a:lnTo>
                  <a:cubicBezTo>
                    <a:pt x="2538400" y="559562"/>
                    <a:pt x="2487581" y="604774"/>
                    <a:pt x="242473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357852"/>
            </a:solidFill>
            <a:ln w="14299" cap="sq">
              <a:solidFill>
                <a:srgbClr val="357852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54448" y="4176928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Raspberry Pi + camera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09195" y="4215957"/>
            <a:ext cx="1640451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COMPLETED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11523" y="4807891"/>
            <a:ext cx="8734389" cy="694468"/>
            <a:chOff x="0" y="0"/>
            <a:chExt cx="11058679" cy="8792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426989" y="4916304"/>
            <a:ext cx="2004874" cy="477634"/>
            <a:chOff x="0" y="0"/>
            <a:chExt cx="2538387" cy="6047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38476" cy="604774"/>
            </a:xfrm>
            <a:custGeom>
              <a:avLst/>
              <a:gdLst/>
              <a:ahLst/>
              <a:cxnLst/>
              <a:rect r="r" b="b" t="t" l="l"/>
              <a:pathLst>
                <a:path h="604774" w="2538476">
                  <a:moveTo>
                    <a:pt x="0" y="100838"/>
                  </a:moveTo>
                  <a:cubicBezTo>
                    <a:pt x="0" y="45085"/>
                    <a:pt x="45963" y="0"/>
                    <a:pt x="102803" y="0"/>
                  </a:cubicBezTo>
                  <a:lnTo>
                    <a:pt x="2435675" y="0"/>
                  </a:lnTo>
                  <a:cubicBezTo>
                    <a:pt x="2492384" y="0"/>
                    <a:pt x="2538476" y="45085"/>
                    <a:pt x="2538476" y="100838"/>
                  </a:cubicBezTo>
                  <a:lnTo>
                    <a:pt x="2538476" y="503936"/>
                  </a:lnTo>
                  <a:cubicBezTo>
                    <a:pt x="2538476" y="559562"/>
                    <a:pt x="2492514" y="604774"/>
                    <a:pt x="2435675" y="604774"/>
                  </a:cubicBezTo>
                  <a:lnTo>
                    <a:pt x="102803" y="604774"/>
                  </a:lnTo>
                  <a:cubicBezTo>
                    <a:pt x="45963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54448" y="4971984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Computer vision pipeline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09195" y="5011014"/>
            <a:ext cx="1852280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 PROGRESS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11523" y="5602948"/>
            <a:ext cx="8734389" cy="694468"/>
            <a:chOff x="0" y="0"/>
            <a:chExt cx="11058679" cy="8792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426989" y="5711360"/>
            <a:ext cx="2034486" cy="438374"/>
            <a:chOff x="0" y="0"/>
            <a:chExt cx="2806571" cy="6047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06660" cy="604774"/>
            </a:xfrm>
            <a:custGeom>
              <a:avLst/>
              <a:gdLst/>
              <a:ahLst/>
              <a:cxnLst/>
              <a:rect r="r" b="b" t="t" l="l"/>
              <a:pathLst>
                <a:path h="604774" w="280666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693007" y="0"/>
                  </a:lnTo>
                  <a:cubicBezTo>
                    <a:pt x="2755708" y="0"/>
                    <a:pt x="2806660" y="45085"/>
                    <a:pt x="2806660" y="100838"/>
                  </a:cubicBezTo>
                  <a:lnTo>
                    <a:pt x="2806660" y="503936"/>
                  </a:lnTo>
                  <a:cubicBezTo>
                    <a:pt x="2806660" y="559562"/>
                    <a:pt x="2755851" y="604774"/>
                    <a:pt x="269300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254448" y="5767041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ESP32 + Zephyr RTOS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09195" y="5806071"/>
            <a:ext cx="1852280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 PROGRESS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11523" y="6398005"/>
            <a:ext cx="8734389" cy="694468"/>
            <a:chOff x="0" y="0"/>
            <a:chExt cx="11058679" cy="8792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426989" y="6506417"/>
            <a:ext cx="1994795" cy="429821"/>
            <a:chOff x="0" y="0"/>
            <a:chExt cx="2806571" cy="6047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06660" cy="604774"/>
            </a:xfrm>
            <a:custGeom>
              <a:avLst/>
              <a:gdLst/>
              <a:ahLst/>
              <a:cxnLst/>
              <a:rect r="r" b="b" t="t" l="l"/>
              <a:pathLst>
                <a:path h="604774" w="280666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693007" y="0"/>
                  </a:lnTo>
                  <a:cubicBezTo>
                    <a:pt x="2755708" y="0"/>
                    <a:pt x="2806660" y="45085"/>
                    <a:pt x="2806660" y="100838"/>
                  </a:cubicBezTo>
                  <a:lnTo>
                    <a:pt x="2806660" y="503936"/>
                  </a:lnTo>
                  <a:cubicBezTo>
                    <a:pt x="2806660" y="559562"/>
                    <a:pt x="2755851" y="604774"/>
                    <a:pt x="269300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254448" y="6562098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Manipulator procurement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09195" y="6601127"/>
            <a:ext cx="1852280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 PROGRESS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11523" y="7193051"/>
            <a:ext cx="8734389" cy="694468"/>
            <a:chOff x="0" y="0"/>
            <a:chExt cx="11058679" cy="8792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426989" y="7301473"/>
            <a:ext cx="2034486" cy="438374"/>
            <a:chOff x="0" y="0"/>
            <a:chExt cx="2806571" cy="6047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06660" cy="604774"/>
            </a:xfrm>
            <a:custGeom>
              <a:avLst/>
              <a:gdLst/>
              <a:ahLst/>
              <a:cxnLst/>
              <a:rect r="r" b="b" t="t" l="l"/>
              <a:pathLst>
                <a:path h="604774" w="2806660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693007" y="0"/>
                  </a:lnTo>
                  <a:cubicBezTo>
                    <a:pt x="2755708" y="0"/>
                    <a:pt x="2806660" y="45085"/>
                    <a:pt x="2806660" y="100838"/>
                  </a:cubicBezTo>
                  <a:lnTo>
                    <a:pt x="2806660" y="503936"/>
                  </a:lnTo>
                  <a:cubicBezTo>
                    <a:pt x="2806660" y="559562"/>
                    <a:pt x="2755851" y="604774"/>
                    <a:pt x="2693007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C48723"/>
            </a:solidFill>
            <a:ln w="14299" cap="sq">
              <a:solidFill>
                <a:srgbClr val="C48723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1254448" y="7357144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Gazebo simulation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609195" y="7396184"/>
            <a:ext cx="1852280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 PROGRESS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11523" y="7988108"/>
            <a:ext cx="8734389" cy="694468"/>
            <a:chOff x="0" y="0"/>
            <a:chExt cx="11058679" cy="87927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058622" cy="879221"/>
            </a:xfrm>
            <a:custGeom>
              <a:avLst/>
              <a:gdLst/>
              <a:ahLst/>
              <a:cxnLst/>
              <a:rect r="r" b="b" t="t" l="l"/>
              <a:pathLst>
                <a:path h="879221" w="11058622">
                  <a:moveTo>
                    <a:pt x="0" y="146558"/>
                  </a:moveTo>
                  <a:cubicBezTo>
                    <a:pt x="0" y="65659"/>
                    <a:pt x="74010" y="0"/>
                    <a:pt x="165199" y="0"/>
                  </a:cubicBezTo>
                  <a:lnTo>
                    <a:pt x="10893423" y="0"/>
                  </a:lnTo>
                  <a:cubicBezTo>
                    <a:pt x="10984612" y="0"/>
                    <a:pt x="11058622" y="65659"/>
                    <a:pt x="11058622" y="146558"/>
                  </a:cubicBezTo>
                  <a:lnTo>
                    <a:pt x="11058622" y="732663"/>
                  </a:lnTo>
                  <a:cubicBezTo>
                    <a:pt x="11058622" y="813562"/>
                    <a:pt x="10984612" y="879221"/>
                    <a:pt x="10893423" y="879221"/>
                  </a:cubicBezTo>
                  <a:lnTo>
                    <a:pt x="165199" y="879221"/>
                  </a:lnTo>
                  <a:cubicBezTo>
                    <a:pt x="74010" y="879221"/>
                    <a:pt x="0" y="813689"/>
                    <a:pt x="0" y="7326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E1E4E9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426989" y="8096530"/>
            <a:ext cx="1727862" cy="477634"/>
            <a:chOff x="0" y="0"/>
            <a:chExt cx="2187660" cy="6047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87673" cy="604774"/>
            </a:xfrm>
            <a:custGeom>
              <a:avLst/>
              <a:gdLst/>
              <a:ahLst/>
              <a:cxnLst/>
              <a:rect r="r" b="b" t="t" l="l"/>
              <a:pathLst>
                <a:path h="604774" w="2187673">
                  <a:moveTo>
                    <a:pt x="0" y="100838"/>
                  </a:moveTo>
                  <a:cubicBezTo>
                    <a:pt x="0" y="45085"/>
                    <a:pt x="50820" y="0"/>
                    <a:pt x="113664" y="0"/>
                  </a:cubicBezTo>
                  <a:lnTo>
                    <a:pt x="2074011" y="0"/>
                  </a:lnTo>
                  <a:cubicBezTo>
                    <a:pt x="2136712" y="0"/>
                    <a:pt x="2187673" y="45085"/>
                    <a:pt x="2187673" y="100838"/>
                  </a:cubicBezTo>
                  <a:lnTo>
                    <a:pt x="2187673" y="503936"/>
                  </a:lnTo>
                  <a:cubicBezTo>
                    <a:pt x="2187673" y="559562"/>
                    <a:pt x="2136855" y="604774"/>
                    <a:pt x="2074011" y="604774"/>
                  </a:cubicBezTo>
                  <a:lnTo>
                    <a:pt x="113664" y="604774"/>
                  </a:lnTo>
                  <a:cubicBezTo>
                    <a:pt x="50820" y="604774"/>
                    <a:pt x="0" y="559562"/>
                    <a:pt x="0" y="503936"/>
                  </a:cubicBezTo>
                  <a:close/>
                </a:path>
              </a:pathLst>
            </a:custGeom>
            <a:solidFill>
              <a:srgbClr val="828A92"/>
            </a:solidFill>
            <a:ln w="14299" cap="sq">
              <a:solidFill>
                <a:srgbClr val="828A92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1254448" y="8152201"/>
            <a:ext cx="5893246" cy="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2081">
                <a:solidFill>
                  <a:srgbClr val="19202A"/>
                </a:solidFill>
                <a:latin typeface="Aptos"/>
                <a:ea typeface="Aptos"/>
                <a:cs typeface="Aptos"/>
                <a:sym typeface="Aptos"/>
              </a:rPr>
              <a:t>Autonomous pick &amp; place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609195" y="8191230"/>
            <a:ext cx="1363451" cy="230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UPCOMING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259064" y="1912258"/>
            <a:ext cx="777391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NEXT PHASE ROADMAP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1694521" y="2648960"/>
            <a:ext cx="51061" cy="5422059"/>
            <a:chOff x="0" y="0"/>
            <a:chExt cx="68081" cy="72294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027" cy="7229348"/>
            </a:xfrm>
            <a:custGeom>
              <a:avLst/>
              <a:gdLst/>
              <a:ahLst/>
              <a:cxnLst/>
              <a:rect r="r" b="b" t="t" l="l"/>
              <a:pathLst>
                <a:path h="7229348" w="68027">
                  <a:moveTo>
                    <a:pt x="0" y="0"/>
                  </a:moveTo>
                  <a:lnTo>
                    <a:pt x="68027" y="0"/>
                  </a:lnTo>
                  <a:lnTo>
                    <a:pt x="68027" y="7229348"/>
                  </a:lnTo>
                  <a:lnTo>
                    <a:pt x="0" y="7229348"/>
                  </a:lnTo>
                  <a:close/>
                </a:path>
              </a:pathLst>
            </a:custGeom>
            <a:solidFill>
              <a:srgbClr val="B4B9C1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382198" y="2504551"/>
            <a:ext cx="656931" cy="645728"/>
            <a:chOff x="0" y="0"/>
            <a:chExt cx="875907" cy="86097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11559306" y="2694680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418143" y="2550557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Finalize manipulator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418143" y="2918517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Procurement + end-effector integration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1382198" y="3506600"/>
            <a:ext cx="656931" cy="645728"/>
            <a:chOff x="0" y="0"/>
            <a:chExt cx="875907" cy="86097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65" id="65"/>
          <p:cNvSpPr txBox="true"/>
          <p:nvPr/>
        </p:nvSpPr>
        <p:spPr>
          <a:xfrm rot="0">
            <a:off x="11559306" y="3696738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418143" y="3552606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Complete perception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418143" y="3920566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Dish localization + feature detection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1382198" y="4508649"/>
            <a:ext cx="656931" cy="645728"/>
            <a:chOff x="0" y="0"/>
            <a:chExt cx="875907" cy="86097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70" id="70"/>
          <p:cNvSpPr txBox="true"/>
          <p:nvPr/>
        </p:nvSpPr>
        <p:spPr>
          <a:xfrm rot="0">
            <a:off x="11559306" y="4698787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418143" y="4554655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Implement robot control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418143" y="4922615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ESP32 / Zephyr + motor interface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1382198" y="5510698"/>
            <a:ext cx="656931" cy="645728"/>
            <a:chOff x="0" y="0"/>
            <a:chExt cx="875907" cy="86097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75" id="75"/>
          <p:cNvSpPr txBox="true"/>
          <p:nvPr/>
        </p:nvSpPr>
        <p:spPr>
          <a:xfrm rot="0">
            <a:off x="11559306" y="5700836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418143" y="5556704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Validate in Gazebo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418143" y="5924664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ROS 2 + trajectories + pick/place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1382198" y="6512747"/>
            <a:ext cx="656931" cy="645728"/>
            <a:chOff x="0" y="0"/>
            <a:chExt cx="875907" cy="86097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80" id="80"/>
          <p:cNvSpPr txBox="true"/>
          <p:nvPr/>
        </p:nvSpPr>
        <p:spPr>
          <a:xfrm rot="0">
            <a:off x="11559306" y="6702885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418143" y="6558753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System integration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418143" y="6926713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Vision → coordinates → manipulation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1382198" y="7514806"/>
            <a:ext cx="656931" cy="645728"/>
            <a:chOff x="0" y="0"/>
            <a:chExt cx="875907" cy="86097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75996" cy="861060"/>
            </a:xfrm>
            <a:custGeom>
              <a:avLst/>
              <a:gdLst/>
              <a:ahLst/>
              <a:cxnLst/>
              <a:rect r="r" b="b" t="t" l="l"/>
              <a:pathLst>
                <a:path h="861060" w="875996">
                  <a:moveTo>
                    <a:pt x="0" y="430530"/>
                  </a:moveTo>
                  <a:cubicBezTo>
                    <a:pt x="0" y="192786"/>
                    <a:pt x="196131" y="0"/>
                    <a:pt x="437999" y="0"/>
                  </a:cubicBezTo>
                  <a:cubicBezTo>
                    <a:pt x="679867" y="0"/>
                    <a:pt x="875996" y="192786"/>
                    <a:pt x="875996" y="430530"/>
                  </a:cubicBezTo>
                  <a:cubicBezTo>
                    <a:pt x="875996" y="668274"/>
                    <a:pt x="679867" y="861060"/>
                    <a:pt x="437999" y="861060"/>
                  </a:cubicBezTo>
                  <a:cubicBezTo>
                    <a:pt x="196131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22A35"/>
            </a:solidFill>
            <a:ln w="14299" cap="sq">
              <a:solidFill>
                <a:srgbClr val="222A35"/>
              </a:solidFill>
              <a:prstDash val="solid"/>
              <a:miter/>
            </a:ln>
          </p:spPr>
        </p:sp>
      </p:grpSp>
      <p:sp>
        <p:nvSpPr>
          <p:cNvPr name="TextBox 85" id="85"/>
          <p:cNvSpPr txBox="true"/>
          <p:nvPr/>
        </p:nvSpPr>
        <p:spPr>
          <a:xfrm rot="0">
            <a:off x="11559306" y="7704934"/>
            <a:ext cx="302713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1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418143" y="7560812"/>
            <a:ext cx="61679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19202A"/>
                </a:solidFill>
                <a:latin typeface="Aptos Bold"/>
                <a:ea typeface="Aptos Bold"/>
                <a:cs typeface="Aptos Bold"/>
                <a:sym typeface="Aptos Bold"/>
              </a:rPr>
              <a:t>Throughput testing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418143" y="7928772"/>
            <a:ext cx="637743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5B6573"/>
                </a:solidFill>
                <a:latin typeface="Aptos"/>
                <a:ea typeface="Aptos"/>
                <a:cs typeface="Aptos"/>
                <a:sym typeface="Aptos"/>
              </a:rPr>
              <a:t>Target: ~100 dishes/day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5DBFF">
                <a:alpha val="100000"/>
              </a:srgbClr>
            </a:gs>
            <a:gs pos="100000">
              <a:srgbClr val="9FB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639433"/>
            <a:ext cx="18288000" cy="2647567"/>
            <a:chOff x="0" y="0"/>
            <a:chExt cx="4816593" cy="6973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97302"/>
            </a:xfrm>
            <a:custGeom>
              <a:avLst/>
              <a:gdLst/>
              <a:ahLst/>
              <a:cxnLst/>
              <a:rect r="r" b="b" t="t" l="l"/>
              <a:pathLst>
                <a:path h="69730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97302"/>
                  </a:lnTo>
                  <a:lnTo>
                    <a:pt x="0" y="697302"/>
                  </a:lnTo>
                  <a:close/>
                </a:path>
              </a:pathLst>
            </a:custGeom>
            <a:gradFill rotWithShape="true">
              <a:gsLst>
                <a:gs pos="0">
                  <a:srgbClr val="000E6B">
                    <a:alpha val="100000"/>
                  </a:srgbClr>
                </a:gs>
                <a:gs pos="100000">
                  <a:srgbClr val="00575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754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56205" y="1796162"/>
            <a:ext cx="14194690" cy="7113776"/>
            <a:chOff x="0" y="0"/>
            <a:chExt cx="3738519" cy="18735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64646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46655" y="1586612"/>
            <a:ext cx="14194690" cy="7113776"/>
            <a:chOff x="0" y="0"/>
            <a:chExt cx="3738519" cy="1873587"/>
          </a:xfrm>
        </p:grpSpPr>
        <p:sp>
          <p:nvSpPr>
            <p:cNvPr name="Freeform 9" id="9">
              <a:hlinkClick r:id="rId2" tooltip="https://chat.whatsapp.com/I9lyLp4iAsn1qEpl1PTXJ2"/>
            </p:cNvPr>
            <p:cNvSpPr/>
            <p:nvPr/>
          </p:nvSpPr>
          <p:spPr>
            <a:xfrm flipH="false" flipV="false" rot="0">
              <a:off x="0" y="0"/>
              <a:ext cx="3738519" cy="1873587"/>
            </a:xfrm>
            <a:custGeom>
              <a:avLst/>
              <a:gdLst/>
              <a:ahLst/>
              <a:cxnLst/>
              <a:rect r="r" b="b" t="t" l="l"/>
              <a:pathLst>
                <a:path h="1873587" w="3738519">
                  <a:moveTo>
                    <a:pt x="43633" y="0"/>
                  </a:moveTo>
                  <a:lnTo>
                    <a:pt x="3694886" y="0"/>
                  </a:lnTo>
                  <a:cubicBezTo>
                    <a:pt x="3718984" y="0"/>
                    <a:pt x="3738519" y="19535"/>
                    <a:pt x="3738519" y="43633"/>
                  </a:cubicBezTo>
                  <a:lnTo>
                    <a:pt x="3738519" y="1829954"/>
                  </a:lnTo>
                  <a:cubicBezTo>
                    <a:pt x="3738519" y="1854052"/>
                    <a:pt x="3718984" y="1873587"/>
                    <a:pt x="3694886" y="1873587"/>
                  </a:cubicBezTo>
                  <a:lnTo>
                    <a:pt x="43633" y="1873587"/>
                  </a:lnTo>
                  <a:cubicBezTo>
                    <a:pt x="32061" y="1873587"/>
                    <a:pt x="20962" y="1868990"/>
                    <a:pt x="12780" y="1860807"/>
                  </a:cubicBezTo>
                  <a:cubicBezTo>
                    <a:pt x="4597" y="1852625"/>
                    <a:pt x="0" y="1841526"/>
                    <a:pt x="0" y="1829954"/>
                  </a:cubicBezTo>
                  <a:lnTo>
                    <a:pt x="0" y="43633"/>
                  </a:lnTo>
                  <a:cubicBezTo>
                    <a:pt x="0" y="32061"/>
                    <a:pt x="4597" y="20962"/>
                    <a:pt x="12780" y="12780"/>
                  </a:cubicBezTo>
                  <a:cubicBezTo>
                    <a:pt x="20962" y="4597"/>
                    <a:pt x="32061" y="0"/>
                    <a:pt x="43633" y="0"/>
                  </a:cubicBez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738519" cy="1930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89942" y="66015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84631" y="7146243"/>
            <a:ext cx="2713427" cy="2730492"/>
          </a:xfrm>
          <a:custGeom>
            <a:avLst/>
            <a:gdLst/>
            <a:ahLst/>
            <a:cxnLst/>
            <a:rect r="r" b="b" t="t" l="l"/>
            <a:pathLst>
              <a:path h="2730492" w="2713427">
                <a:moveTo>
                  <a:pt x="0" y="0"/>
                </a:moveTo>
                <a:lnTo>
                  <a:pt x="2713427" y="0"/>
                </a:lnTo>
                <a:lnTo>
                  <a:pt x="2713427" y="2730492"/>
                </a:lnTo>
                <a:lnTo>
                  <a:pt x="0" y="27304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256205" y="3646136"/>
            <a:ext cx="13898581" cy="283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66"/>
              </a:lnSpc>
            </a:pPr>
            <a:r>
              <a:rPr lang="en-US" b="true" sz="17555">
                <a:solidFill>
                  <a:srgbClr val="180E66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DAHVRa7o4BI</dc:identifier>
  <dcterms:modified xsi:type="dcterms:W3CDTF">2011-08-01T06:04:30Z</dcterms:modified>
  <cp:revision>1</cp:revision>
  <dc:title>ELD411 mid term </dc:title>
</cp:coreProperties>
</file>
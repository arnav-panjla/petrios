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inal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The Challenge: Scaling AMR Surveillance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50592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06624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VILLAGES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Distributed sampling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0016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956048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2928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Repeated visits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0" y="2011680"/>
            <a:ext cx="292608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05472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2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Central processing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98863" y="2011680"/>
            <a:ext cx="292609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454896" y="1975104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51775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DISHES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Handling + imaging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572768"/>
            <a:ext cx="18653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4" y="1709928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1938528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220370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Manual repetition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" y="3291839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3246120"/>
            <a:ext cx="6583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Poppins"/>
              </a:rPr>
              <a:t>Repeated sampling creates high laboratory load.</a:t>
            </a:r>
          </a:p>
        </p:txBody>
      </p:sp>
      <p:sp>
        <p:nvSpPr>
          <p:cNvPr id="36" name="Oval 35"/>
          <p:cNvSpPr/>
          <p:nvPr/>
        </p:nvSpPr>
        <p:spPr>
          <a:xfrm>
            <a:off x="694944" y="3913631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3867911"/>
            <a:ext cx="6583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Poppins"/>
              </a:rPr>
              <a:t>Dish transport, imaging and logging are repetitive.</a:t>
            </a:r>
          </a:p>
        </p:txBody>
      </p:sp>
      <p:sp>
        <p:nvSpPr>
          <p:cNvPr id="38" name="Oval 37"/>
          <p:cNvSpPr/>
          <p:nvPr/>
        </p:nvSpPr>
        <p:spPr>
          <a:xfrm>
            <a:off x="694944" y="4535424"/>
            <a:ext cx="146304" cy="146304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4489704"/>
            <a:ext cx="6583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9202A"/>
                </a:solidFill>
                <a:latin typeface="Poppins"/>
              </a:rPr>
              <a:t>Manual handling limits throughput and traceability.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47888" y="3127248"/>
            <a:ext cx="3291840" cy="221284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3429000"/>
            <a:ext cx="2697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FFFC0"/>
                </a:solidFill>
                <a:latin typeface="Poppins"/>
              </a:rPr>
              <a:t>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3840480"/>
            <a:ext cx="26974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Automate Petri-dish
handling + imaging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MARKET AND SCALE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From Village Sampling to Laboratory 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~100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people / village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33472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2–5%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sampling fraction*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26864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73168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82896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2–5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samples / village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0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12864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22592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7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4–5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field collectors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06256" y="2176272"/>
            <a:ext cx="182880" cy="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052560" y="213969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62288" y="1627632"/>
            <a:ext cx="186537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792224"/>
            <a:ext cx="160934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80E66"/>
                </a:solidFill>
                <a:latin typeface="Poppins"/>
              </a:rPr>
              <a:t>5–6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267712"/>
            <a:ext cx="16093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646E7A"/>
                </a:solidFill>
                <a:latin typeface="Poppins"/>
              </a:rPr>
              <a:t>villages / collector / 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3127248"/>
            <a:ext cx="10972800" cy="2176272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49300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FFFC0"/>
                </a:solidFill>
                <a:latin typeface="Poppins"/>
              </a:rPr>
              <a:t>DESIGN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40480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900" b="1">
                <a:solidFill>
                  <a:srgbClr val="FFFFFF"/>
                </a:solidFill>
                <a:latin typeface="Poppins"/>
              </a:rPr>
              <a:t>~100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087368"/>
            <a:ext cx="3840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PETRI DISHES /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2" y="4617720"/>
            <a:ext cx="6172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DCE7FF"/>
                </a:solidFill>
                <a:latin typeface="Poppins"/>
              </a:rPr>
              <a:t>Planning value for workflow, storage and robot duty cycle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3547872"/>
            <a:ext cx="1298448" cy="310896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557015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ASSUMPTION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5705856"/>
            <a:ext cx="10241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Poppins"/>
              </a:rPr>
              <a:t>*Project design assumption; not epidemiological estimate.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CAPACITY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Why a 600-Dish Processing Pipeline?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46227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2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12848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2848" y="4050791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94176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94176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94176" y="363931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75504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75504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75504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75504" y="322783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56832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56832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56832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56832" y="322783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6832" y="281635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4" y="152704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DAY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1856231"/>
            <a:ext cx="1261872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8160" y="446227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050791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8160" y="363931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0" y="322783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38160" y="2816352"/>
            <a:ext cx="1005840" cy="283464"/>
          </a:xfrm>
          <a:prstGeom prst="roundRect">
            <a:avLst/>
          </a:prstGeom>
          <a:solidFill>
            <a:srgbClr val="DDEBEF"/>
          </a:solidFill>
          <a:ln>
            <a:solidFill>
              <a:srgbClr val="DD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8160" y="2404872"/>
            <a:ext cx="1005840" cy="283464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0144" y="4992624"/>
            <a:ext cx="1261872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Poppins"/>
              </a:rPr>
              <a:t>600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47504" y="1856231"/>
            <a:ext cx="1828800" cy="357530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2212848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248" y="2779776"/>
            <a:ext cx="13533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CE7FF"/>
                </a:solidFill>
                <a:latin typeface="Poppins"/>
              </a:rPr>
              <a:t>dishes /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3200400"/>
            <a:ext cx="548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9FFFC0"/>
                </a:solidFill>
                <a:latin typeface="Poppins"/>
              </a:rPr>
              <a:t>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85248" y="3639312"/>
            <a:ext cx="135331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5–6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4206240"/>
            <a:ext cx="1353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CE7FF"/>
                </a:solidFill>
                <a:latin typeface="Poppins"/>
              </a:rPr>
              <a:t>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791456"/>
            <a:ext cx="15361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9FFFC0"/>
                </a:solidFill>
                <a:latin typeface="Poppins"/>
              </a:rPr>
              <a:t>≈ 500–600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742432"/>
            <a:ext cx="8138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46E7A"/>
                </a:solidFill>
                <a:latin typeface="Poppins"/>
              </a:rPr>
              <a:t>Design assumption: each dish remains in processing / observation for 5–6 days.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ADD FINAL 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Proposed 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7882127" cy="4553712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33672" y="3282696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3355848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014215"/>
            <a:ext cx="73334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SYSTEM ARCHITECTURE / HANDOFF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361688"/>
            <a:ext cx="73334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Replace with image /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3104" y="1572768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1719072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1691640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1984248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Petri-dish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2651760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2798064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77063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063240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Pi + imaging camera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3730752"/>
            <a:ext cx="2743200" cy="841248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3877056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849624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4142232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Manipulator + 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3104" y="4809744"/>
            <a:ext cx="2743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495604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4928616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5221224"/>
            <a:ext cx="187451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Imaging /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FULL-PROJECT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Complete System CAD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499616"/>
            <a:ext cx="10972800" cy="4882896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79008" y="3374135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7024" y="3447287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105655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DROP FULL-SIZE AUTOCAD IMAGE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453127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Use supplied full CAD render · replace blue SCARA with selected 6-DOF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MANIPULATOR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Selected 6-DOF Robotic 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499616"/>
            <a:ext cx="10972800" cy="4882896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79008" y="3374135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7024" y="3447287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105655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DROP FULL-SIZE 6-DOF ARM IMAGE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453127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Keep arm large; add model / payload / reach only after procurement is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MECHANICAL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Manipulator Modifications for Petri-Dish Reach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7040880" cy="4517136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13048" y="3264408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1063" y="3337560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995928"/>
            <a:ext cx="6492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ANNOTATED ARM / JOINT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343400"/>
            <a:ext cx="6492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Show stock arm and proposed link-length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72768"/>
            <a:ext cx="3566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09928"/>
            <a:ext cx="3291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682495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LONGER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19659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Extend selected joints for carousel reach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651760"/>
            <a:ext cx="3566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3291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761488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CAMERA 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304495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Rigid mount above gripper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730752"/>
            <a:ext cx="3566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867912"/>
            <a:ext cx="3291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840480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CABLE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23944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Protect CSI / power through motion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809744"/>
            <a:ext cx="3566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946904"/>
            <a:ext cx="32918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BA7A0"/>
                </a:solidFill>
                <a:latin typeface="Poppi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919472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5202936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Recheck torque, stiffness and collisions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5 MP RASPBERRY PI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Gripper Camera: Identification + Position Feedback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6784848" cy="4535424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85032" y="3273552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346704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005072"/>
            <a:ext cx="623620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CAMERA-ON-GRIPPER DIAGRAM /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352544"/>
            <a:ext cx="62362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Camera mounted above gripper, looking toward dish QR / barcode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572768"/>
            <a:ext cx="3822191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1810512"/>
            <a:ext cx="475488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819656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709928"/>
            <a:ext cx="932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3184" y="1691640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Read QR / barcode before pickup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56064" y="2414016"/>
            <a:ext cx="0" cy="18288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19488" y="2560320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54112" y="2642615"/>
            <a:ext cx="3822191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5279" y="2880359"/>
            <a:ext cx="475488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889503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779775"/>
            <a:ext cx="932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ALIGN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2761487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Estimate dish center and gripper offset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3483863"/>
            <a:ext cx="0" cy="182881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619488" y="3630168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54112" y="3712463"/>
            <a:ext cx="3822191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79" y="3950207"/>
            <a:ext cx="475488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959351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849624"/>
            <a:ext cx="932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80E66"/>
                </a:solidFill>
                <a:latin typeface="Poppins"/>
              </a:rPr>
              <a:t>PICK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831335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46E7A"/>
                </a:solidFill>
                <a:latin typeface="Poppins"/>
              </a:rPr>
              <a:t>Close gripper at corrected 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56064" y="4553712"/>
            <a:ext cx="0" cy="182880"/>
          </a:xfrm>
          <a:prstGeom prst="line">
            <a:avLst/>
          </a:prstGeom>
          <a:ln w="25400">
            <a:solidFill>
              <a:srgbClr val="2B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619488" y="4700016"/>
            <a:ext cx="73152" cy="73152"/>
          </a:xfrm>
          <a:prstGeom prst="ellipse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54112" y="4782312"/>
            <a:ext cx="3822191" cy="822960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55279" y="5020055"/>
            <a:ext cx="475488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5029199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919472"/>
            <a:ext cx="932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oppins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184" y="4901183"/>
            <a:ext cx="184708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DCE7FF"/>
                </a:solidFill>
                <a:latin typeface="Poppins"/>
              </a:rPr>
              <a:t>Confirm dish moved; retry if needed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779008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Same camera closes positioning loop; no separate alignment sensor needed.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VISION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Image Processing Has Two Independent Tasks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5248656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47088"/>
            <a:ext cx="786384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1"/>
            <a:ext cx="7863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PART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80E66"/>
                </a:solidFill>
                <a:latin typeface="Poppins"/>
              </a:rPr>
              <a:t>Circle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07792"/>
            <a:ext cx="2999232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9202A"/>
                </a:solidFill>
                <a:latin typeface="Poppins"/>
              </a:rPr>
              <a:t>Locate dish boundary
Measure inhibition-zone diameter
Return center + internal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2788920"/>
            <a:ext cx="1554480" cy="24688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3456432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529584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4187952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4535424"/>
            <a:ext cx="1005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572768"/>
            <a:ext cx="5248656" cy="444398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0256" y="1847088"/>
            <a:ext cx="786384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1856231"/>
            <a:ext cx="7863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PART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304288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oppins"/>
              </a:rPr>
              <a:t>Antibiotic code reading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907792"/>
            <a:ext cx="3035808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oppins"/>
              </a:rPr>
              <a:t>Crop circular antibiotic disc
Resolve rotation / orientation
Read printed character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2788920"/>
            <a:ext cx="1554480" cy="24688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77272" y="3456432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5288" y="3529584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4187952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MODEL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4535424"/>
            <a:ext cx="1005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CIRCLE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Part A: Petri-Dish and Inhibition-Zone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72768"/>
            <a:ext cx="3182112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.png"/>
          <p:cNvPicPr>
            <a:picLocks noChangeAspect="1"/>
          </p:cNvPicPr>
          <p:nvPr/>
        </p:nvPicPr>
        <p:blipFill>
          <a:blip r:embed="rId2"/>
          <a:srcRect l="8066" r="8066"/>
          <a:stretch>
            <a:fillRect/>
          </a:stretch>
        </p:blipFill>
        <p:spPr>
          <a:xfrm>
            <a:off x="713232" y="1682495"/>
            <a:ext cx="2962656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5303520"/>
            <a:ext cx="2670048" cy="310896"/>
          </a:xfrm>
          <a:prstGeom prst="roundRect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312664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RAW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572768"/>
            <a:ext cx="3182112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1_detected.png"/>
          <p:cNvPicPr>
            <a:picLocks noChangeAspect="1"/>
          </p:cNvPicPr>
          <p:nvPr/>
        </p:nvPicPr>
        <p:blipFill>
          <a:blip r:embed="rId3"/>
          <a:srcRect l="8066" r="8066"/>
          <a:stretch>
            <a:fillRect/>
          </a:stretch>
        </p:blipFill>
        <p:spPr>
          <a:xfrm>
            <a:off x="4114800" y="1682495"/>
            <a:ext cx="2962656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61104" y="5303520"/>
            <a:ext cx="2670048" cy="310896"/>
          </a:xfrm>
          <a:prstGeom prst="roundRect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5312664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DETECTED CIRCLES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72768"/>
            <a:ext cx="4169663" cy="4096512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0576" y="3054096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3127248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785615"/>
            <a:ext cx="3621023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EXTRA TEST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133087"/>
            <a:ext cx="362102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Use difficult plate / failed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870448"/>
            <a:ext cx="1883664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879592"/>
            <a:ext cx="188366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DISH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7791" y="5870448"/>
            <a:ext cx="1883664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7791" y="5879592"/>
            <a:ext cx="188366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DISC CENTERS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5870448"/>
            <a:ext cx="1883664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5879592"/>
            <a:ext cx="188366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ZONE DIAMETER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ORIENTATION WAS THE HARD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Part B: Reading the Antibiotic Code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36192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09344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Adaptive thresholding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1536192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609344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Morphology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36192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3" y="1609344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Contour filtering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0263" y="1536192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3" y="1609344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Hough circle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2066543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139696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PCA deskew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2424" y="2066543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2139696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Template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066543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139696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ORB / SIFT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066543"/>
            <a:ext cx="250545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3" y="2139696"/>
            <a:ext cx="23225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80E66"/>
                </a:solidFill>
                <a:latin typeface="Poppins"/>
              </a:rPr>
              <a:t>Tesseract OCR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761488"/>
            <a:ext cx="6748272" cy="3236976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66744" y="3813048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59" y="3886200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44568"/>
            <a:ext cx="61996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ADD ROTATED DISC CROPS / FAILED ORIENTATION EXAMPLES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92040"/>
            <a:ext cx="61996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Main issue: rotate circular disc to consistent character orientation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2761488"/>
            <a:ext cx="3877056" cy="3236976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10144" y="3090672"/>
            <a:ext cx="1389888" cy="310896"/>
          </a:xfrm>
          <a:prstGeom prst="roundRect">
            <a:avLst/>
          </a:prstGeom>
          <a:solidFill>
            <a:srgbClr val="2BA7A0"/>
          </a:solidFill>
          <a:ln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3099815"/>
            <a:ext cx="13898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FINAL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675887"/>
            <a:ext cx="2980944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oppins"/>
              </a:rPr>
              <a:t>Gemma
running locally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4754880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E7FF"/>
                </a:solidFill>
                <a:latin typeface="Poppins"/>
              </a:rPr>
              <a:t>Input: cropped disc image
Output: antibiotic code reading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5559552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9FFFC0"/>
                </a:solidFill>
                <a:latin typeface="Poppins"/>
              </a:rPr>
              <a:t>Local inference keeps workflow offline.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VIDEO 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Gazebo Simulation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499616"/>
            <a:ext cx="10972800" cy="4882896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2BA7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79008" y="3374135"/>
            <a:ext cx="621792" cy="621792"/>
          </a:xfrm>
          <a:prstGeom prst="ellipse">
            <a:avLst/>
          </a:prstGeom>
          <a:solidFill>
            <a:srgbClr val="E5F5F3"/>
          </a:solidFill>
          <a:ln w="19050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7024" y="3447287"/>
            <a:ext cx="365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BA7A0"/>
                </a:solidFill>
                <a:latin typeface="Poppi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105655"/>
            <a:ext cx="10424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80E66"/>
                </a:solidFill>
                <a:latin typeface="Poppins"/>
              </a:rPr>
              <a:t>INSERT GAZEBO SIMULATION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453127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46E7A"/>
                </a:solidFill>
                <a:latin typeface="Poppins"/>
              </a:rPr>
              <a:t>Embed MP4 in PowerPoint, or use linked thumbnail in Canva</a:t>
            </a:r>
          </a:p>
        </p:txBody>
      </p:sp>
      <p:sp>
        <p:nvSpPr>
          <p:cNvPr id="11" name="Oval 10"/>
          <p:cNvSpPr/>
          <p:nvPr/>
        </p:nvSpPr>
        <p:spPr>
          <a:xfrm>
            <a:off x="5422392" y="2971800"/>
            <a:ext cx="1335024" cy="1335024"/>
          </a:xfrm>
          <a:prstGeom prst="ellipse">
            <a:avLst/>
          </a:prstGeom>
          <a:solidFill>
            <a:srgbClr val="180E66"/>
          </a:solidFill>
          <a:ln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3255264"/>
            <a:ext cx="93268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oppi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2004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BA7A0"/>
                </a:solidFill>
                <a:latin typeface="Poppins"/>
              </a:rPr>
              <a:t>MID-TERM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30936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Poppins"/>
              </a:rPr>
              <a:t>Current Progress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1280160"/>
            <a:ext cx="10981944" cy="0"/>
          </a:xfrm>
          <a:prstGeom prst="line">
            <a:avLst/>
          </a:prstGeom>
          <a:ln w="12700">
            <a:solidFill>
              <a:srgbClr val="D5D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73968" y="3657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6E7A"/>
                </a:solidFill>
                <a:latin typeface="Poppin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27632"/>
            <a:ext cx="3383280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865376"/>
            <a:ext cx="932688" cy="310896"/>
          </a:xfrm>
          <a:prstGeom prst="roundRect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74519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DONE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2578608"/>
            <a:ext cx="128016" cy="128016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496312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9202A"/>
                </a:solidFill>
                <a:latin typeface="Poppins"/>
              </a:rPr>
              <a:t>Scale + system definition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3182112"/>
            <a:ext cx="128016" cy="128016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099816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Initial CAD layout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785615"/>
            <a:ext cx="128016" cy="128016"/>
          </a:xfrm>
          <a:prstGeom prst="ellipse">
            <a:avLst/>
          </a:prstGeom>
          <a:solidFill>
            <a:srgbClr val="357852"/>
          </a:solidFill>
          <a:ln>
            <a:solidFill>
              <a:srgbClr val="357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703320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Circle-detection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627632"/>
            <a:ext cx="3383280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08576" y="1865376"/>
            <a:ext cx="932688" cy="310896"/>
          </a:xfrm>
          <a:prstGeom prst="roundRect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874519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NOW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578608"/>
            <a:ext cx="128016" cy="128016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496312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9202A"/>
                </a:solidFill>
                <a:latin typeface="Poppins"/>
              </a:rPr>
              <a:t>6-DOF arm integration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182112"/>
            <a:ext cx="128016" cy="128016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099816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Camera-on-gripper mount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3785615"/>
            <a:ext cx="128016" cy="128016"/>
          </a:xfrm>
          <a:prstGeom prst="ellipse">
            <a:avLst/>
          </a:prstGeom>
          <a:solidFill>
            <a:srgbClr val="C48723"/>
          </a:solidFill>
          <a:ln>
            <a:solidFill>
              <a:srgbClr val="C4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3703320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Antibiotic code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1627632"/>
            <a:ext cx="3383280" cy="3236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57615" y="1865376"/>
            <a:ext cx="932688" cy="310896"/>
          </a:xfrm>
          <a:prstGeom prst="roundRect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1874519"/>
            <a:ext cx="932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</a:rPr>
              <a:t>NEXT</a:t>
            </a:r>
          </a:p>
        </p:txBody>
      </p:sp>
      <p:sp>
        <p:nvSpPr>
          <p:cNvPr id="27" name="Oval 26"/>
          <p:cNvSpPr/>
          <p:nvPr/>
        </p:nvSpPr>
        <p:spPr>
          <a:xfrm>
            <a:off x="8375904" y="2578608"/>
            <a:ext cx="128016" cy="128016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31936" y="2496312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9202A"/>
                </a:solidFill>
                <a:latin typeface="Poppins"/>
              </a:rPr>
              <a:t>Gazebo validation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375904" y="3182112"/>
            <a:ext cx="128016" cy="128016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3099816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Arm reach modification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375904" y="3785615"/>
            <a:ext cx="128016" cy="128016"/>
          </a:xfrm>
          <a:prstGeom prst="ellipse">
            <a:avLst/>
          </a:prstGeom>
          <a:solidFill>
            <a:srgbClr val="2459D3"/>
          </a:solidFill>
          <a:ln>
            <a:solidFill>
              <a:srgbClr val="245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1936" y="3703320"/>
            <a:ext cx="2505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19202A"/>
                </a:solidFill>
                <a:latin typeface="Poppins"/>
              </a:rPr>
              <a:t>Closed-loop pick-and-place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20240" y="5285232"/>
            <a:ext cx="8339327" cy="694944"/>
          </a:xfrm>
          <a:prstGeom prst="roundRect">
            <a:avLst/>
          </a:prstGeom>
          <a:solidFill>
            <a:srgbClr val="180E66"/>
          </a:solidFill>
          <a:ln w="12700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76272" y="5477256"/>
            <a:ext cx="78272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TARGET  ·  Autonomous vision-guided Petri-dish handling at ~100 dishes/day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6E7A"/>
                </a:solidFill>
                <a:latin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Robotic Manipulator for AMR Sampling — Revised</dc:title>
  <dc:subject>ELD411 Mid-Term Review 2026</dc:subject>
  <dc:creator>Arnav Panjla; Manashvi Garg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
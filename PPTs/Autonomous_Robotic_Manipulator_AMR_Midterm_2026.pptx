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FF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23960" y="-658368"/>
            <a:ext cx="3931920" cy="3931920"/>
          </a:xfrm>
          <a:prstGeom prst="ellipse">
            <a:avLst/>
          </a:prstGeom>
          <a:solidFill>
            <a:srgbClr val="20217A"/>
          </a:solidFill>
          <a:ln>
            <a:solidFill>
              <a:srgbClr val="202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91472" y="45720"/>
            <a:ext cx="2606040" cy="2606040"/>
          </a:xfrm>
          <a:prstGeom prst="ellipse">
            <a:avLst/>
          </a:prstGeom>
          <a:solidFill>
            <a:srgbClr val="173C72"/>
          </a:solidFill>
          <a:ln>
            <a:solidFill>
              <a:srgbClr val="17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76688" y="658368"/>
            <a:ext cx="1353312" cy="135331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585216"/>
            <a:ext cx="4754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FFFC0"/>
                </a:solidFill>
                <a:latin typeface="Poppins"/>
              </a:rPr>
              <a:t>ELD411 · MID-TERM REVIEW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88720"/>
            <a:ext cx="7589520" cy="2148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</a:rPr>
              <a:t>Autonomous Robotic
Manipulator for
AMR 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84448"/>
            <a:ext cx="66751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DCE7FF"/>
                </a:solidFill>
                <a:latin typeface="Poppins"/>
              </a:rPr>
              <a:t>Automated Petri Dish Handling, Imaging and Analysis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242816"/>
            <a:ext cx="5925312" cy="0"/>
          </a:xfrm>
          <a:prstGeom prst="line">
            <a:avLst/>
          </a:prstGeom>
          <a:ln w="12700">
            <a:solidFill>
              <a:srgbClr val="4F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462272"/>
            <a:ext cx="49377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oppins"/>
              </a:rPr>
              <a:t>Arnav Panjla · 2023EE10978
Manashvi Garg · 2023EE1141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0176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9FFFC0"/>
                </a:solidFill>
                <a:latin typeface="Poppins"/>
              </a:rPr>
              <a:t>Indian Institute of Technology Delhi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3858768"/>
            <a:ext cx="1005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5" y="3950207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4242816"/>
            <a:ext cx="78638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180E66"/>
                </a:solidFill>
                <a:latin typeface="Poppins"/>
              </a:rPr>
              <a:t>VILLAGE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3858768"/>
            <a:ext cx="1005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3950207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4242816"/>
            <a:ext cx="78638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180E66"/>
                </a:solidFill>
                <a:latin typeface="Poppins"/>
              </a:rPr>
              <a:t>DISHES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6416" y="3858768"/>
            <a:ext cx="1005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96144" y="3950207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96144" y="4242816"/>
            <a:ext cx="78638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180E66"/>
                </a:solidFill>
                <a:latin typeface="Poppins"/>
              </a:rPr>
              <a:t>ROBOT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4864608"/>
            <a:ext cx="1005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8975" y="495604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5248656"/>
            <a:ext cx="78638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180E66"/>
                </a:solidFill>
                <a:latin typeface="Poppins"/>
              </a:rPr>
              <a:t>VISION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4864608"/>
            <a:ext cx="1005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59" y="495604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5248656"/>
            <a:ext cx="78638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180E66"/>
                </a:solidFill>
                <a:latin typeface="Poppins"/>
              </a:rPr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The Challenge: Scaling AMR Surveillance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50592" y="2011680"/>
            <a:ext cx="29260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6624" y="1975104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" y="1572768"/>
            <a:ext cx="18653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VILLAGES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Distributed sampling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0016" y="2011680"/>
            <a:ext cx="29260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956048" y="1975104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52928" y="1572768"/>
            <a:ext cx="18653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Repeated field visits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49440" y="2011680"/>
            <a:ext cx="29260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205472" y="1975104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2352" y="1572768"/>
            <a:ext cx="18653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LABORATORY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Central processing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98863" y="2011680"/>
            <a:ext cx="292609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454896" y="1975104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51775" y="1572768"/>
            <a:ext cx="18653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PETRI DISHES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Imaging + handling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572768"/>
            <a:ext cx="1865376" cy="98755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47504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BOTTLENECK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Manual repetition</a:t>
            </a:r>
          </a:p>
        </p:txBody>
      </p:sp>
      <p:sp>
        <p:nvSpPr>
          <p:cNvPr id="34" name="Oval 33"/>
          <p:cNvSpPr/>
          <p:nvPr/>
        </p:nvSpPr>
        <p:spPr>
          <a:xfrm>
            <a:off x="694944" y="3182112"/>
            <a:ext cx="164592" cy="16459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127248"/>
            <a:ext cx="6812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Poppins"/>
              </a:rPr>
              <a:t>Large-scale AMR surveillance creates repeated biological sampling.</a:t>
            </a:r>
          </a:p>
        </p:txBody>
      </p:sp>
      <p:sp>
        <p:nvSpPr>
          <p:cNvPr id="36" name="Oval 35"/>
          <p:cNvSpPr/>
          <p:nvPr/>
        </p:nvSpPr>
        <p:spPr>
          <a:xfrm>
            <a:off x="694944" y="3758183"/>
            <a:ext cx="164592" cy="16459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3703320"/>
            <a:ext cx="6812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Poppins"/>
              </a:rPr>
              <a:t>Rural collection feeds a distributed village-to-laboratory workflow.</a:t>
            </a:r>
          </a:p>
        </p:txBody>
      </p:sp>
      <p:sp>
        <p:nvSpPr>
          <p:cNvPr id="38" name="Oval 37"/>
          <p:cNvSpPr/>
          <p:nvPr/>
        </p:nvSpPr>
        <p:spPr>
          <a:xfrm>
            <a:off x="694944" y="4334255"/>
            <a:ext cx="164592" cy="16459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279392"/>
            <a:ext cx="6812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Poppins"/>
              </a:rPr>
              <a:t>Laboratory work adds repetitive dish transport, imaging and logging.</a:t>
            </a:r>
          </a:p>
        </p:txBody>
      </p:sp>
      <p:sp>
        <p:nvSpPr>
          <p:cNvPr id="40" name="Oval 39"/>
          <p:cNvSpPr/>
          <p:nvPr/>
        </p:nvSpPr>
        <p:spPr>
          <a:xfrm>
            <a:off x="694944" y="4910328"/>
            <a:ext cx="164592" cy="16459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855464"/>
            <a:ext cx="6812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9202A"/>
                </a:solidFill>
                <a:latin typeface="Poppins"/>
              </a:rPr>
              <a:t>Automation targets repeatability, traceability and operator workload.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47888" y="3127248"/>
            <a:ext cx="3291840" cy="2212848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2208" y="3429000"/>
            <a:ext cx="2697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FFFC0"/>
                </a:solidFill>
                <a:latin typeface="Poppins"/>
              </a:rPr>
              <a:t>PROJECT OBJECTIVE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3840480"/>
            <a:ext cx="26974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Poppins"/>
              </a:rPr>
              <a:t>Automate repetitive
Petri-dish operations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8" y="4864608"/>
            <a:ext cx="2651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DCE7FF"/>
                </a:solidFill>
                <a:latin typeface="Poppins"/>
              </a:rPr>
              <a:t>robotic handling + controlled imaging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DESIGN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From Village Sampling to Laboratory Load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~100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people / village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7168" y="2176272"/>
            <a:ext cx="18288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633472" y="213969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2–5%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sampling fraction*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26864" y="2176272"/>
            <a:ext cx="18288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773168" y="213969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82896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2–5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samples / village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6560" y="2176272"/>
            <a:ext cx="18288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912864" y="213969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22592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7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4–5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7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field collectors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06256" y="2176272"/>
            <a:ext cx="18288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052560" y="213969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62288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5–6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villages / day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3127248"/>
            <a:ext cx="10972800" cy="2176272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493008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FFFC0"/>
                </a:solidFill>
                <a:latin typeface="Poppins"/>
              </a:rPr>
              <a:t>DESIGN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840480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900" b="1">
                <a:solidFill>
                  <a:srgbClr val="FFFFFF"/>
                </a:solidFill>
                <a:latin typeface="Poppins"/>
              </a:rPr>
              <a:t>~100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4087368"/>
            <a:ext cx="3840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Poppins"/>
              </a:rPr>
              <a:t>PETRI DISHES /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5032" y="4617720"/>
            <a:ext cx="6172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DCE7FF"/>
                </a:solidFill>
                <a:latin typeface="Poppins"/>
              </a:rPr>
              <a:t>Planning value for sizing workflow, storage and robot duty cycle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3547872"/>
            <a:ext cx="1298448" cy="310896"/>
          </a:xfrm>
          <a:prstGeom prst="roundRect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557015"/>
            <a:ext cx="12984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ASSUMPTION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5705856"/>
            <a:ext cx="102412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*2–5% is a project design assumption, not an epidemiological estimate.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CAPACITY 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Why a 600-Dish Processing Pipeline?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46227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5266944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in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2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4832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12848" y="4050791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5266944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in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94176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94176" y="4050791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94176" y="363931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266944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in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7488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75504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75504" y="4050791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75504" y="363931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75504" y="322783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400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5266944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in 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28816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56832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56832" y="4050791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56832" y="363931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56832" y="322783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56832" y="281635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28816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8816" y="5266944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in process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4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10144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38160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38160" y="4050791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38160" y="363931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38160" y="322783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38160" y="281635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38160" y="240487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10144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600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0144" y="5266944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in process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47504" y="1856231"/>
            <a:ext cx="1828800" cy="3575304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85248" y="2212848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5248" y="2779776"/>
            <a:ext cx="13533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DCE7FF"/>
                </a:solidFill>
                <a:latin typeface="Poppins"/>
              </a:rPr>
              <a:t>dishes / day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3200400"/>
            <a:ext cx="548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9FFFC0"/>
                </a:solidFill>
                <a:latin typeface="Poppins"/>
              </a:rPr>
              <a:t>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85248" y="3639312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5–6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85248" y="4206240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DCE7FF"/>
                </a:solidFill>
                <a:latin typeface="Poppins"/>
              </a:rPr>
              <a:t>days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021824" y="4599432"/>
            <a:ext cx="1280160" cy="0"/>
          </a:xfrm>
          <a:prstGeom prst="line">
            <a:avLst/>
          </a:prstGeom>
          <a:ln w="19050">
            <a:solidFill>
              <a:srgbClr val="4F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893808" y="4791456"/>
            <a:ext cx="15361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9FFFC0"/>
                </a:solidFill>
                <a:latin typeface="Poppins"/>
              </a:rPr>
              <a:t>≈ 500–600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" y="5742432"/>
            <a:ext cx="8046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Multiple daily batches remain under observation simultaneously.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Proposed Autonomous Petri-Dish Processing System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84832" y="2542032"/>
            <a:ext cx="365759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414015" y="250545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785615" y="2542032"/>
            <a:ext cx="38404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33087" y="250545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547104" y="2542032"/>
            <a:ext cx="40233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912864" y="250545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961120" y="2542032"/>
            <a:ext cx="40233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326880" y="250545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231136"/>
            <a:ext cx="148132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50008"/>
            <a:ext cx="126187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80E66"/>
                </a:solidFill>
                <a:latin typeface="Poppins"/>
              </a:rPr>
              <a:t>PETRI DISH
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2231136"/>
            <a:ext cx="122529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0048" y="2350008"/>
            <a:ext cx="10058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CAMERA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1975104"/>
            <a:ext cx="2267712" cy="1115568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093976"/>
            <a:ext cx="2048256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RASPBERRY PI 5
CV · LOCALIZATION · PLANNING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1975104"/>
            <a:ext cx="1901952" cy="1115568"/>
          </a:xfrm>
          <a:prstGeom prst="roundRect">
            <a:avLst/>
          </a:prstGeom>
          <a:solidFill>
            <a:srgbClr val="E5F5F3"/>
          </a:solidFill>
          <a:ln w="1270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8896" y="2093976"/>
            <a:ext cx="1682496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80E66"/>
                </a:solidFill>
                <a:latin typeface="Poppins"/>
              </a:rPr>
              <a:t>ESP32
REAL-TIME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73184" y="1975104"/>
            <a:ext cx="2103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1" y="2093976"/>
            <a:ext cx="1883663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80E66"/>
                </a:solidFill>
                <a:latin typeface="Poppins"/>
              </a:rPr>
              <a:t>MANIPULATOR
+ END EFFECTOR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15600" y="3236976"/>
            <a:ext cx="0" cy="603504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479024" y="3803904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30768" y="3913632"/>
            <a:ext cx="3145536" cy="1060704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7072" y="4169663"/>
            <a:ext cx="28529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IMAGING / STORAGE CAROUSEL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3346704"/>
            <a:ext cx="2084831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3355848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HIGH-LEVEL INTELLIGENCE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22592" y="3346704"/>
            <a:ext cx="2029968" cy="310896"/>
          </a:xfrm>
          <a:prstGeom prst="roundRect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3355848"/>
            <a:ext cx="20299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DETERMINISTIC 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3913632"/>
            <a:ext cx="726033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142232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80E66"/>
                </a:solidFill>
                <a:latin typeface="Poppins"/>
              </a:rPr>
              <a:t>Control 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142232"/>
            <a:ext cx="5257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9202A"/>
                </a:solidFill>
                <a:latin typeface="Poppins"/>
              </a:rPr>
              <a:t>Pi estimates what and where. ESP32 executes when and how.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507992"/>
            <a:ext cx="5257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Feedback closes the loop after grip, transfer and release.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THREE-LAYER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Hardware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09344"/>
            <a:ext cx="5669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09344"/>
            <a:ext cx="146304" cy="932688"/>
          </a:xfrm>
          <a:prstGeom prst="rect">
            <a:avLst/>
          </a:prstGeom>
          <a:solidFill>
            <a:srgbClr val="180E66"/>
          </a:solidFill>
          <a:ln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80E66"/>
                </a:solidFill>
                <a:latin typeface="Poppins"/>
              </a:rPr>
              <a:t>COMPUTATION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864" y="1728216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80E66"/>
                </a:solidFill>
                <a:latin typeface="Poppins"/>
              </a:rPr>
              <a:t>Raspberry Pi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864" y="2093976"/>
            <a:ext cx="35478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Computer vision · planning · system logic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19856" y="2560320"/>
            <a:ext cx="0" cy="192024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383280" y="271576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825496"/>
            <a:ext cx="5669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825496"/>
            <a:ext cx="146304" cy="932688"/>
          </a:xfrm>
          <a:prstGeom prst="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962656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459D3"/>
                </a:solidFill>
                <a:latin typeface="Poppins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2944368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80E66"/>
                </a:solidFill>
                <a:latin typeface="Poppins"/>
              </a:rPr>
              <a:t>ESP32 /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0864" y="3310128"/>
            <a:ext cx="35478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Timing · motor commands · feedback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19856" y="3776472"/>
            <a:ext cx="0" cy="192024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3280" y="3931920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" y="4041648"/>
            <a:ext cx="5669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" y="4041648"/>
            <a:ext cx="146304" cy="932688"/>
          </a:xfrm>
          <a:prstGeom prst="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178808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ACTUATION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864" y="4160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80E66"/>
                </a:solidFill>
                <a:latin typeface="Poppins"/>
              </a:rPr>
              <a:t>Drivers + motors + SCARA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864" y="4526280"/>
            <a:ext cx="35478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Dish handling · gripping · positioning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1609344"/>
            <a:ext cx="2139696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755648"/>
            <a:ext cx="365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066543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12 MP CAMERA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04872"/>
            <a:ext cx="1828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Controlled image capture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0576" y="1609344"/>
            <a:ext cx="2139696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7" y="1755648"/>
            <a:ext cx="365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2066543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END EFFECTOR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2404872"/>
            <a:ext cx="1828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Petri-dish gripping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4848" y="3090672"/>
            <a:ext cx="2139696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236976"/>
            <a:ext cx="365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54787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CONTROLLED LIGHT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86200"/>
            <a:ext cx="1828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Repeatable illumination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0576" y="3090672"/>
            <a:ext cx="2139696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5167" y="3236976"/>
            <a:ext cx="365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7" y="354787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CAROUSEL /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7" y="3886200"/>
            <a:ext cx="1828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Dish queue + controlled chamber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84848" y="4663440"/>
            <a:ext cx="4535424" cy="694944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04304" y="4818888"/>
            <a:ext cx="19568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ROUGH POWER ENVELOPE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773168"/>
            <a:ext cx="2212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Poppins"/>
              </a:rPr>
              <a:t>~95 W typical  ·  ~145 W peak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5586984"/>
            <a:ext cx="444398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Estimate only — verify with measured current after hardware integration.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COMPUTE PARTITIONING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Separating Perception from Real-Time Control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09344"/>
            <a:ext cx="4919472" cy="3547872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865376"/>
            <a:ext cx="1280160" cy="310896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1280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4206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oppins"/>
              </a:rPr>
              <a:t>Raspberry Pi 5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80944"/>
            <a:ext cx="118872" cy="118872"/>
          </a:xfrm>
          <a:prstGeom prst="ellipse">
            <a:avLst/>
          </a:prstGeom>
          <a:solidFill>
            <a:srgbClr val="9FFFC0"/>
          </a:solidFill>
          <a:ln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2916936"/>
            <a:ext cx="3200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E9EEFF"/>
                </a:solidFill>
                <a:latin typeface="Poppins"/>
              </a:rPr>
              <a:t>Computer vision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37560"/>
            <a:ext cx="118872" cy="118872"/>
          </a:xfrm>
          <a:prstGeom prst="ellipse">
            <a:avLst/>
          </a:prstGeom>
          <a:solidFill>
            <a:srgbClr val="9FFFC0"/>
          </a:solidFill>
          <a:ln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3273552"/>
            <a:ext cx="3200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E9EEFF"/>
                </a:solidFill>
                <a:latin typeface="Poppins"/>
              </a:rPr>
              <a:t>Image processing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694176"/>
            <a:ext cx="118872" cy="118872"/>
          </a:xfrm>
          <a:prstGeom prst="ellipse">
            <a:avLst/>
          </a:prstGeom>
          <a:solidFill>
            <a:srgbClr val="9FFFC0"/>
          </a:solidFill>
          <a:ln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3630168"/>
            <a:ext cx="3200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E9EEFF"/>
                </a:solidFill>
                <a:latin typeface="Poppins"/>
              </a:rPr>
              <a:t>Position estimation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050791"/>
            <a:ext cx="118872" cy="118872"/>
          </a:xfrm>
          <a:prstGeom prst="ellipse">
            <a:avLst/>
          </a:prstGeom>
          <a:solidFill>
            <a:srgbClr val="9FFFC0"/>
          </a:solidFill>
          <a:ln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3986783"/>
            <a:ext cx="3200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E9EEFF"/>
                </a:solidFill>
                <a:latin typeface="Poppins"/>
              </a:rPr>
              <a:t>High-level planning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407408"/>
            <a:ext cx="118872" cy="118872"/>
          </a:xfrm>
          <a:prstGeom prst="ellipse">
            <a:avLst/>
          </a:prstGeom>
          <a:solidFill>
            <a:srgbClr val="9FFFC0"/>
          </a:solidFill>
          <a:ln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4343400"/>
            <a:ext cx="3200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E9EEFF"/>
                </a:solidFill>
                <a:latin typeface="Poppins"/>
              </a:rPr>
              <a:t>Camera 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609344"/>
            <a:ext cx="4901184" cy="3547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67728" y="1865376"/>
            <a:ext cx="1956816" cy="310896"/>
          </a:xfrm>
          <a:prstGeom prst="roundRect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1874519"/>
            <a:ext cx="195681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DETERMINISTIC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331720"/>
            <a:ext cx="4206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80E66"/>
                </a:solidFill>
                <a:latin typeface="Poppins"/>
              </a:rPr>
              <a:t>ESP32 + RTOS path</a:t>
            </a:r>
          </a:p>
        </p:txBody>
      </p:sp>
      <p:sp>
        <p:nvSpPr>
          <p:cNvPr id="24" name="Oval 23"/>
          <p:cNvSpPr/>
          <p:nvPr/>
        </p:nvSpPr>
        <p:spPr>
          <a:xfrm>
            <a:off x="6986016" y="2980944"/>
            <a:ext cx="118872" cy="11887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2916936"/>
            <a:ext cx="3429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Motor-control timing</a:t>
            </a:r>
          </a:p>
        </p:txBody>
      </p:sp>
      <p:sp>
        <p:nvSpPr>
          <p:cNvPr id="26" name="Oval 25"/>
          <p:cNvSpPr/>
          <p:nvPr/>
        </p:nvSpPr>
        <p:spPr>
          <a:xfrm>
            <a:off x="6986016" y="3337560"/>
            <a:ext cx="118872" cy="11887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3273552"/>
            <a:ext cx="3429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Hardware interfaces</a:t>
            </a:r>
          </a:p>
        </p:txBody>
      </p:sp>
      <p:sp>
        <p:nvSpPr>
          <p:cNvPr id="28" name="Oval 27"/>
          <p:cNvSpPr/>
          <p:nvPr/>
        </p:nvSpPr>
        <p:spPr>
          <a:xfrm>
            <a:off x="6986016" y="3694176"/>
            <a:ext cx="118872" cy="11887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3630168"/>
            <a:ext cx="3429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Command execution</a:t>
            </a:r>
          </a:p>
        </p:txBody>
      </p:sp>
      <p:sp>
        <p:nvSpPr>
          <p:cNvPr id="30" name="Oval 29"/>
          <p:cNvSpPr/>
          <p:nvPr/>
        </p:nvSpPr>
        <p:spPr>
          <a:xfrm>
            <a:off x="6986016" y="4050791"/>
            <a:ext cx="118872" cy="11887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3986783"/>
            <a:ext cx="3429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Limit / feedback inputs</a:t>
            </a:r>
          </a:p>
        </p:txBody>
      </p:sp>
      <p:sp>
        <p:nvSpPr>
          <p:cNvPr id="32" name="Oval 31"/>
          <p:cNvSpPr/>
          <p:nvPr/>
        </p:nvSpPr>
        <p:spPr>
          <a:xfrm>
            <a:off x="6986016" y="4407408"/>
            <a:ext cx="118872" cy="11887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4343400"/>
            <a:ext cx="3429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Zephyr evaluation planned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50992" y="3300984"/>
            <a:ext cx="877824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492240" y="326440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94376" y="2889504"/>
            <a:ext cx="1609344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94376" y="2898648"/>
            <a:ext cx="160934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180E66"/>
                </a:solidFill>
                <a:latin typeface="Poppins"/>
              </a:rPr>
              <a:t>CONTROL COMMANDS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596128"/>
            <a:ext cx="108813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Current repository evidence: ESP32/Arduino prototypes; Zephyr remains an integration target.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MAKE-OR-BUY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Manipulator Selection &amp; Procurement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09344"/>
            <a:ext cx="4956048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3429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46E7A"/>
                </a:solidFill>
                <a:latin typeface="Poppins"/>
              </a:rPr>
              <a:t>BUILD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9152"/>
            <a:ext cx="4114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80E66"/>
                </a:solidFill>
                <a:latin typeface="Poppins"/>
              </a:rPr>
              <a:t>High mechanical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99232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C48723"/>
                </a:solidFill>
                <a:latin typeface="Poppi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944368"/>
            <a:ext cx="3291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CAD + fabrication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10712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C48723"/>
                </a:solidFill>
                <a:latin typeface="Poppi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355848"/>
            <a:ext cx="3291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Joint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22191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C48723"/>
                </a:solidFill>
                <a:latin typeface="Poppi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767328"/>
            <a:ext cx="3291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Structural iteration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233672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C48723"/>
                </a:solidFill>
                <a:latin typeface="Poppin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178808"/>
            <a:ext cx="3291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Longer integration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1609344"/>
            <a:ext cx="5614416" cy="3584448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91072" y="1883664"/>
            <a:ext cx="1499616" cy="310896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892807"/>
            <a:ext cx="149961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EVALUATION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359152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Poppins"/>
              </a:rPr>
              <a:t>Pre-built candidate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3026664"/>
            <a:ext cx="118872" cy="118872"/>
          </a:xfrm>
          <a:prstGeom prst="ellipse">
            <a:avLst/>
          </a:prstGeom>
          <a:solidFill>
            <a:srgbClr val="9FFFC0"/>
          </a:solidFill>
          <a:ln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944368"/>
            <a:ext cx="4114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E9EEFF"/>
                </a:solidFill>
                <a:latin typeface="Poppins"/>
              </a:rPr>
              <a:t>Faster prototype start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3438144"/>
            <a:ext cx="118872" cy="118872"/>
          </a:xfrm>
          <a:prstGeom prst="ellipse">
            <a:avLst/>
          </a:prstGeom>
          <a:solidFill>
            <a:srgbClr val="9FFFC0"/>
          </a:solidFill>
          <a:ln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355848"/>
            <a:ext cx="4114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E9EEFF"/>
                </a:solidFill>
                <a:latin typeface="Poppins"/>
              </a:rPr>
              <a:t>Focus on vision + control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3849624"/>
            <a:ext cx="118872" cy="118872"/>
          </a:xfrm>
          <a:prstGeom prst="ellipse">
            <a:avLst/>
          </a:prstGeom>
          <a:solidFill>
            <a:srgbClr val="9FFFC0"/>
          </a:solidFill>
          <a:ln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767328"/>
            <a:ext cx="4114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E9EEFF"/>
                </a:solidFill>
                <a:latin typeface="Poppins"/>
              </a:rPr>
              <a:t>Known payload / repeatability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4261104"/>
            <a:ext cx="118872" cy="118872"/>
          </a:xfrm>
          <a:prstGeom prst="ellipse">
            <a:avLst/>
          </a:prstGeom>
          <a:solidFill>
            <a:srgbClr val="9FFFC0"/>
          </a:solidFill>
          <a:ln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178808"/>
            <a:ext cx="4114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E9EEFF"/>
                </a:solidFill>
                <a:latin typeface="Poppins"/>
              </a:rPr>
              <a:t>ROS 2 / Gazebo support desirable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12848" y="5449824"/>
            <a:ext cx="7790688" cy="566928"/>
          </a:xfrm>
          <a:prstGeom prst="roundRect">
            <a:avLst/>
          </a:prstGeom>
          <a:solidFill>
            <a:srgbClr val="E5F5F3"/>
          </a:solidFill>
          <a:ln w="12700">
            <a:solidFill>
              <a:srgbClr val="E5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87168" y="5605272"/>
            <a:ext cx="7242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DECISION OPEN  ·  Pre-built speed vs current custom SCARA BOM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CURRENT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Computer Vision for Petri-Dish Analysis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72768"/>
            <a:ext cx="2414016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.png"/>
          <p:cNvPicPr>
            <a:picLocks noChangeAspect="1"/>
          </p:cNvPicPr>
          <p:nvPr/>
        </p:nvPicPr>
        <p:blipFill>
          <a:blip r:embed="rId2"/>
          <a:srcRect t="4879" b="4879"/>
          <a:stretch>
            <a:fillRect/>
          </a:stretch>
        </p:blipFill>
        <p:spPr>
          <a:xfrm>
            <a:off x="731520" y="1700784"/>
            <a:ext cx="2157984" cy="1965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24128" y="3730752"/>
            <a:ext cx="1572768" cy="310896"/>
          </a:xfrm>
          <a:prstGeom prst="roundRect">
            <a:avLst/>
          </a:prstGeom>
          <a:solidFill>
            <a:srgbClr val="180E66"/>
          </a:solidFill>
          <a:ln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739896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01  RAW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1572768"/>
            <a:ext cx="2414016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1.png"/>
          <p:cNvPicPr>
            <a:picLocks noChangeAspect="1"/>
          </p:cNvPicPr>
          <p:nvPr/>
        </p:nvPicPr>
        <p:blipFill>
          <a:blip r:embed="rId2"/>
          <a:srcRect t="4879" b="4879"/>
          <a:stretch>
            <a:fillRect/>
          </a:stretch>
        </p:blipFill>
        <p:spPr>
          <a:xfrm>
            <a:off x="3346704" y="1700784"/>
            <a:ext cx="2157984" cy="196596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529584" y="1865376"/>
            <a:ext cx="1792224" cy="1792224"/>
          </a:xfrm>
          <a:prstGeom prst="ellipse">
            <a:avLst/>
          </a:prstGeom>
          <a:noFill/>
          <a:ln w="2540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2736" y="3730752"/>
            <a:ext cx="1645920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3739896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02  CIRCULAR ROI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33872" y="1572768"/>
            <a:ext cx="2414016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1_detected.png"/>
          <p:cNvPicPr>
            <a:picLocks noChangeAspect="1"/>
          </p:cNvPicPr>
          <p:nvPr/>
        </p:nvPicPr>
        <p:blipFill>
          <a:blip r:embed="rId3"/>
          <a:srcRect t="4879" b="4879"/>
          <a:stretch>
            <a:fillRect/>
          </a:stretch>
        </p:blipFill>
        <p:spPr>
          <a:xfrm>
            <a:off x="5961888" y="1700784"/>
            <a:ext cx="2157984" cy="19659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72784" y="3730752"/>
            <a:ext cx="1536192" cy="310896"/>
          </a:xfrm>
          <a:prstGeom prst="roundRect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3739896"/>
            <a:ext cx="153619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03 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49056" y="1572768"/>
            <a:ext cx="3127248" cy="2395728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23376" y="1874519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FFFC0"/>
                </a:solidFill>
                <a:latin typeface="Poppins"/>
              </a:rP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2322576"/>
            <a:ext cx="2487168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Dish radius
Inhibition-zone radius
Feature 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3529584"/>
            <a:ext cx="2487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DCE7FF"/>
                </a:solidFill>
                <a:latin typeface="Poppins"/>
              </a:rPr>
              <a:t>OpenCV 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4626864"/>
            <a:ext cx="1554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4818888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80E66"/>
                </a:solidFill>
                <a:latin typeface="Poppins"/>
              </a:rPr>
              <a:t>PREPROCESS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76272" y="4946904"/>
            <a:ext cx="20116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340864" y="491032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50592" y="4626864"/>
            <a:ext cx="1554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23744" y="4818888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80E66"/>
                </a:solidFill>
                <a:latin typeface="Poppins"/>
              </a:rPr>
              <a:t>DISH DETECT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23360" y="4946904"/>
            <a:ext cx="20116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187952" y="491032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97680" y="4626864"/>
            <a:ext cx="1554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4818888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80E66"/>
                </a:solidFill>
                <a:latin typeface="Poppins"/>
              </a:rPr>
              <a:t>ROI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70448" y="4946904"/>
            <a:ext cx="20116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035040" y="491032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44768" y="4626864"/>
            <a:ext cx="1554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818888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80E66"/>
                </a:solidFill>
                <a:latin typeface="Poppins"/>
              </a:rPr>
              <a:t>ZONE DETECT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17536" y="4946904"/>
            <a:ext cx="20116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882128" y="491032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91856" y="4626864"/>
            <a:ext cx="1554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4818888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80E66"/>
                </a:solidFill>
                <a:latin typeface="Poppins"/>
              </a:rPr>
              <a:t>MEASURE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564624" y="4946904"/>
            <a:ext cx="20116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729216" y="491032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838944" y="4626864"/>
            <a:ext cx="1554480" cy="64008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12096" y="4818888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80E66"/>
                </a:solidFill>
                <a:latin typeface="Poppins"/>
              </a:rPr>
              <a:t>OCR*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32704"/>
            <a:ext cx="4754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*OCR for handwritten labels remains planned.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CALIBRATION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Controlled Petri-Dish Imaging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09344"/>
            <a:ext cx="5687568" cy="3913632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18653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9FFFC0"/>
                </a:solidFill>
                <a:latin typeface="Poppins"/>
              </a:rPr>
              <a:t>CAMERA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4016" y="2221992"/>
            <a:ext cx="2011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54680" y="2350008"/>
            <a:ext cx="310896" cy="310896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419856" y="2880360"/>
            <a:ext cx="0" cy="1161288"/>
          </a:xfrm>
          <a:prstGeom prst="line">
            <a:avLst/>
          </a:prstGeom>
          <a:ln w="25400">
            <a:solidFill>
              <a:srgbClr val="7BD6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12463" y="3291840"/>
            <a:ext cx="20574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CE7FF"/>
                </a:solidFill>
                <a:latin typeface="Poppins"/>
              </a:rPr>
              <a:t>CONTROLLED DISTANCE</a:t>
            </a:r>
          </a:p>
        </p:txBody>
      </p:sp>
      <p:sp>
        <p:nvSpPr>
          <p:cNvPr id="12" name="Oval 11"/>
          <p:cNvSpPr/>
          <p:nvPr/>
        </p:nvSpPr>
        <p:spPr>
          <a:xfrm>
            <a:off x="2377440" y="4096512"/>
            <a:ext cx="2084831" cy="2084831"/>
          </a:xfrm>
          <a:prstGeom prst="ellipse">
            <a:avLst/>
          </a:prstGeom>
          <a:solidFill>
            <a:srgbClr val="D9E5F4"/>
          </a:solidFill>
          <a:ln w="25400">
            <a:solidFill>
              <a:srgbClr val="9FF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4370832"/>
            <a:ext cx="1536192" cy="1536192"/>
          </a:xfrm>
          <a:prstGeom prst="ellipse">
            <a:avLst/>
          </a:prstGeom>
          <a:solidFill>
            <a:srgbClr val="FFF4D4"/>
          </a:solidFill>
          <a:ln>
            <a:solidFill>
              <a:srgbClr val="FFF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4800600"/>
            <a:ext cx="184708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80E66"/>
                </a:solidFill>
                <a:latin typeface="Poppins"/>
              </a:rPr>
              <a:t>PETRI DISH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34440" y="3675887"/>
            <a:ext cx="923544" cy="621793"/>
          </a:xfrm>
          <a:prstGeom prst="line">
            <a:avLst/>
          </a:prstGeom>
          <a:ln w="25400">
            <a:solidFill>
              <a:srgbClr val="9FF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681728" y="3675887"/>
            <a:ext cx="923544" cy="621793"/>
          </a:xfrm>
          <a:prstGeom prst="line">
            <a:avLst/>
          </a:prstGeom>
          <a:ln w="25400">
            <a:solidFill>
              <a:srgbClr val="9FF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6112" y="3328416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DIFFUSED 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328416"/>
            <a:ext cx="12070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DIFFUSED LIGHT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1609344"/>
            <a:ext cx="4791456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4304" y="1764792"/>
            <a:ext cx="3474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1728216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FIXED 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1728216"/>
            <a:ext cx="2011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Simplifies calibration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84848" y="2395728"/>
            <a:ext cx="4791456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4304" y="2551176"/>
            <a:ext cx="3474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514600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CONTROLLED 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514600"/>
            <a:ext cx="2011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Reduces image variation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84848" y="3182112"/>
            <a:ext cx="4791456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04304" y="3337560"/>
            <a:ext cx="3474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3300984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CENTER + RADIUS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3300984"/>
            <a:ext cx="2011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Localizes dish geometry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84848" y="3968496"/>
            <a:ext cx="4791456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4304" y="4123944"/>
            <a:ext cx="3474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4087368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ZONE RADIUS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4087368"/>
            <a:ext cx="2011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Supports measurement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84848" y="4754880"/>
            <a:ext cx="4791456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04304" y="4910328"/>
            <a:ext cx="3474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4873752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LABEL OCR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4873752"/>
            <a:ext cx="2011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Future identification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5687568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Target object: 90 mm plate · 12 MP Camera Module 3 listed in BOM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PLANNED SIMULATION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From Robot Description to Gazebo Simulation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64208"/>
            <a:ext cx="15361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66543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68296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geometry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57984" y="2157984"/>
            <a:ext cx="21945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40864" y="212140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50592" y="1664208"/>
            <a:ext cx="15361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1810512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066543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URDF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368296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joints + links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05072" y="2157984"/>
            <a:ext cx="21945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187952" y="212140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1664208"/>
            <a:ext cx="15361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810512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066543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ROS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368296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interfaces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52160" y="2157984"/>
            <a:ext cx="21945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035040" y="212140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44768" y="1664208"/>
            <a:ext cx="1536192" cy="1005840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1810512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066543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GAZEBO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368296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DCE7FF"/>
                </a:solidFill>
                <a:latin typeface="Poppins"/>
              </a:rPr>
              <a:t>world + physics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99248" y="2157984"/>
            <a:ext cx="21945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882128" y="212140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91856" y="1664208"/>
            <a:ext cx="15361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1810512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2066543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2368296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sensors + joints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46336" y="2157984"/>
            <a:ext cx="21945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729216" y="212140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38944" y="1664208"/>
            <a:ext cx="15361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1810512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066543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PICK &amp; PLACE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2368296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trajectories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3127248"/>
            <a:ext cx="6894576" cy="2231136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3429000"/>
            <a:ext cx="22128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FFFC0"/>
                </a:solidFill>
                <a:latin typeface="Poppins"/>
              </a:rPr>
              <a:t>SIMULATION VALIDATES</a:t>
            </a:r>
          </a:p>
        </p:txBody>
      </p:sp>
      <p:sp>
        <p:nvSpPr>
          <p:cNvPr id="42" name="Oval 41"/>
          <p:cNvSpPr/>
          <p:nvPr/>
        </p:nvSpPr>
        <p:spPr>
          <a:xfrm>
            <a:off x="896112" y="3941064"/>
            <a:ext cx="146304" cy="146304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32" y="3913632"/>
            <a:ext cx="16093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Workspace reach</a:t>
            </a:r>
          </a:p>
        </p:txBody>
      </p:sp>
      <p:sp>
        <p:nvSpPr>
          <p:cNvPr id="44" name="Oval 43"/>
          <p:cNvSpPr/>
          <p:nvPr/>
        </p:nvSpPr>
        <p:spPr>
          <a:xfrm>
            <a:off x="2980944" y="3941064"/>
            <a:ext cx="146304" cy="146304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5263" y="3913632"/>
            <a:ext cx="16093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Joint limits</a:t>
            </a:r>
          </a:p>
        </p:txBody>
      </p:sp>
      <p:sp>
        <p:nvSpPr>
          <p:cNvPr id="46" name="Oval 45"/>
          <p:cNvSpPr/>
          <p:nvPr/>
        </p:nvSpPr>
        <p:spPr>
          <a:xfrm>
            <a:off x="5065775" y="3941064"/>
            <a:ext cx="146304" cy="146304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0095" y="3913632"/>
            <a:ext cx="16093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Trajectory feasibility</a:t>
            </a:r>
          </a:p>
        </p:txBody>
      </p:sp>
      <p:sp>
        <p:nvSpPr>
          <p:cNvPr id="48" name="Oval 47"/>
          <p:cNvSpPr/>
          <p:nvPr/>
        </p:nvSpPr>
        <p:spPr>
          <a:xfrm>
            <a:off x="896112" y="4544568"/>
            <a:ext cx="146304" cy="146304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0432" y="4517136"/>
            <a:ext cx="16093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Collision behavior</a:t>
            </a:r>
          </a:p>
        </p:txBody>
      </p:sp>
      <p:sp>
        <p:nvSpPr>
          <p:cNvPr id="50" name="Oval 49"/>
          <p:cNvSpPr/>
          <p:nvPr/>
        </p:nvSpPr>
        <p:spPr>
          <a:xfrm>
            <a:off x="2980944" y="4544568"/>
            <a:ext cx="146304" cy="146304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55263" y="4517136"/>
            <a:ext cx="16093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Pick-place sequence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27264" y="3127248"/>
            <a:ext cx="3749039" cy="2231136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138160" y="3438144"/>
            <a:ext cx="1408176" cy="310896"/>
          </a:xfrm>
          <a:prstGeom prst="roundRect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3447287"/>
            <a:ext cx="140817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CURRENT 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3977639"/>
            <a:ext cx="305409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80E66"/>
                </a:solidFill>
                <a:latin typeface="Poppins"/>
              </a:rPr>
              <a:t>Architecture defined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434840"/>
            <a:ext cx="299923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9202A"/>
                </a:solidFill>
                <a:latin typeface="Poppins"/>
              </a:rPr>
              <a:t>No Gazebo model or screenshot exists in repository yet.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5010912"/>
            <a:ext cx="2944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48723"/>
                </a:solidFill>
                <a:latin typeface="Poppins"/>
              </a:rPr>
              <a:t>Next artifact: URDF + workspace 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AUTONOMOUS PICK-AND-PLACE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Vision-to-Manipulation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32304" y="2167128"/>
            <a:ext cx="27432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670048" y="2130552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" y="166420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80136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057400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359152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camera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0" y="2167128"/>
            <a:ext cx="27432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901184" y="2130552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66420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180136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057400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359152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dish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94576" y="2167128"/>
            <a:ext cx="27432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132320" y="2130552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1664208"/>
            <a:ext cx="1828800" cy="1005840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936" y="180136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2057400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LOCALIZE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359152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DCE7FF"/>
                </a:solidFill>
                <a:latin typeface="Poppins"/>
              </a:rPr>
              <a:t>x, y, 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25712" y="2167128"/>
            <a:ext cx="27432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363456" y="2130552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96912" y="166420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2" y="180136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2057400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TRANSFORM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2359152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camera → robot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8048" y="1664208"/>
            <a:ext cx="1828800" cy="1005840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5208" y="180136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5208" y="2057400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2359152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DCE7FF"/>
                </a:solidFill>
                <a:latin typeface="Poppins"/>
              </a:rPr>
              <a:t>collision-aware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9125712" y="3648456"/>
            <a:ext cx="40233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089136" y="3611880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28048" y="3145536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3282696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53872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APPROACH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8" y="3840480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pre-grasp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894576" y="3648456"/>
            <a:ext cx="40233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858000" y="3611880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96912" y="3145536"/>
            <a:ext cx="1828800" cy="1005840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4072" y="3282696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4072" y="353872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GRIP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4072" y="3840480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DCE7FF"/>
                </a:solidFill>
                <a:latin typeface="Poppins"/>
              </a:rPr>
              <a:t>confirm hold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4663440" y="3648456"/>
            <a:ext cx="40233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4626864" y="3611880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65776" y="3145536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02936" y="3282696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02936" y="353872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TRANSFER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02936" y="3840480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target pose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2432304" y="3648456"/>
            <a:ext cx="402336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2395728" y="3611880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834640" y="3145536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71800" y="3282696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353872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RELEASE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71800" y="3840480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place dish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3145536"/>
            <a:ext cx="1828800" cy="1005840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" y="3282696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" y="353872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VERIFY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" y="3840480"/>
            <a:ext cx="15544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DCE7FF"/>
                </a:solidFill>
                <a:latin typeface="Poppins"/>
              </a:rPr>
              <a:t>close loop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863072" y="2670048"/>
            <a:ext cx="0" cy="402336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0826496" y="303580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371600" y="5029200"/>
            <a:ext cx="9436608" cy="621792"/>
          </a:xfrm>
          <a:prstGeom prst="roundRect">
            <a:avLst/>
          </a:prstGeom>
          <a:solidFill>
            <a:srgbClr val="E5F5F3"/>
          </a:solidFill>
          <a:ln w="12700">
            <a:solidFill>
              <a:srgbClr val="E5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91056" y="5230368"/>
            <a:ext cx="899769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PERCEPTION  ·  LOCALIZATION  ·  PLANNING  ·  MANIPULATION  ·  VERIFICATION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5907024"/>
            <a:ext cx="7808975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46E7A"/>
                </a:solidFill>
                <a:latin typeface="Poppins"/>
              </a:rPr>
              <a:t>Verification prevents silent failures and enables retry / operator escalation.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BOM AND PROCUREMENT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Prototype Hardware &amp; Bill of Materials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3529583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6E7A"/>
                </a:solidFill>
                <a:latin typeface="Poppins"/>
              </a:rP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2272" y="1572768"/>
            <a:ext cx="3456431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6E7A"/>
                </a:solidFill>
                <a:latin typeface="Poppins"/>
              </a:rPr>
              <a:t>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1572768"/>
            <a:ext cx="3328415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6E7A"/>
                </a:solidFill>
                <a:latin typeface="Poppins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901952"/>
            <a:ext cx="109728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3383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80E66"/>
                </a:solidFill>
                <a:latin typeface="Poppins"/>
              </a:rPr>
              <a:t>Raspberry Pi 5 · 4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993392"/>
            <a:ext cx="32369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Vision / computation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1956816"/>
            <a:ext cx="2487168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965960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oppins"/>
              </a:rPr>
              <a:t>BOM / SELECTED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2404872"/>
            <a:ext cx="10972800" cy="420624"/>
          </a:xfrm>
          <a:prstGeom prst="rect">
            <a:avLst/>
          </a:prstGeom>
          <a:solidFill>
            <a:srgbClr val="E9F1FA"/>
          </a:solidFill>
          <a:ln>
            <a:solidFill>
              <a:srgbClr val="E9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496312"/>
            <a:ext cx="3383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80E66"/>
                </a:solidFill>
                <a:latin typeface="Poppins"/>
              </a:rPr>
              <a:t>Camera Module 3 · 12 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496312"/>
            <a:ext cx="32369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Petri-dish imaging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2459736"/>
            <a:ext cx="2487168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468879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oppins"/>
              </a:rPr>
              <a:t>BOM / SELECTED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2907792"/>
            <a:ext cx="109728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999232"/>
            <a:ext cx="3383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80E66"/>
                </a:solidFill>
                <a:latin typeface="Poppins"/>
              </a:rPr>
              <a:t>ESP32-CAM / 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999232"/>
            <a:ext cx="32369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QR + control prototypes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2962656"/>
            <a:ext cx="2487168" cy="310896"/>
          </a:xfrm>
          <a:prstGeom prst="roundRect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2971800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oppins"/>
              </a:rPr>
              <a:t>PROTOTYPE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" y="3410712"/>
            <a:ext cx="10972800" cy="420624"/>
          </a:xfrm>
          <a:prstGeom prst="rect">
            <a:avLst/>
          </a:prstGeom>
          <a:solidFill>
            <a:srgbClr val="E9F1FA"/>
          </a:solidFill>
          <a:ln>
            <a:solidFill>
              <a:srgbClr val="E9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502152"/>
            <a:ext cx="3383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80E66"/>
                </a:solidFill>
                <a:latin typeface="Poppins"/>
              </a:rPr>
              <a:t>SCARA manipulator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3502152"/>
            <a:ext cx="32369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Dish handling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9327" y="3465576"/>
            <a:ext cx="2487168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474720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oppins"/>
              </a:rPr>
              <a:t>BOM /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" y="3913632"/>
            <a:ext cx="109728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005072"/>
            <a:ext cx="3383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80E66"/>
                </a:solidFill>
                <a:latin typeface="Poppins"/>
              </a:rPr>
              <a:t>5× NEMA17 + drivers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005072"/>
            <a:ext cx="32369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Joint actuation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9327" y="3968496"/>
            <a:ext cx="2487168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7" y="3977639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oppins"/>
              </a:rPr>
              <a:t>BOM /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" y="4416552"/>
            <a:ext cx="10972800" cy="420624"/>
          </a:xfrm>
          <a:prstGeom prst="rect">
            <a:avLst/>
          </a:prstGeom>
          <a:solidFill>
            <a:srgbClr val="E9F1FA"/>
          </a:solidFill>
          <a:ln>
            <a:solidFill>
              <a:srgbClr val="E9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507992"/>
            <a:ext cx="3383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80E66"/>
                </a:solidFill>
                <a:latin typeface="Poppins"/>
              </a:rPr>
              <a:t>End effector + servo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4507992"/>
            <a:ext cx="32369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Dish gripping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9327" y="4471416"/>
            <a:ext cx="2487168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480559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oppins"/>
              </a:rPr>
              <a:t>BOM / DESIGN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" y="4919472"/>
            <a:ext cx="109728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010912"/>
            <a:ext cx="3383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80E66"/>
                </a:solidFill>
                <a:latin typeface="Poppins"/>
              </a:rPr>
              <a:t>Lighting + fixtures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5010912"/>
            <a:ext cx="32369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Repeatable imaging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39327" y="4974336"/>
            <a:ext cx="2487168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4983480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oppins"/>
              </a:rPr>
              <a:t>BOM / 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" y="5559552"/>
            <a:ext cx="10972800" cy="621792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" y="5751576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POWER ENVELOPE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05456" y="5696712"/>
            <a:ext cx="2779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~95 W typical  ·  ~145 W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715000"/>
            <a:ext cx="4736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>
                <a:solidFill>
                  <a:srgbClr val="DCE7FF"/>
                </a:solidFill>
                <a:latin typeface="Poppins"/>
              </a:rPr>
              <a:t>Prices and supplier commitments are not recorded in repository BOM.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MID-TERM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Current Progress &amp;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72768"/>
            <a:ext cx="226771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773936"/>
            <a:ext cx="1572768" cy="310896"/>
          </a:xfrm>
          <a:prstGeom prst="roundRect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83080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COMPLETED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395728"/>
            <a:ext cx="109728" cy="109728"/>
          </a:xfrm>
          <a:prstGeom prst="ellipse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22576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9202A"/>
                </a:solidFill>
                <a:latin typeface="Poppins"/>
              </a:rPr>
              <a:t>Problem + system definition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2834640"/>
            <a:ext cx="109728" cy="109728"/>
          </a:xfrm>
          <a:prstGeom prst="ellipse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61488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Initial hardware architecture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3273552"/>
            <a:ext cx="109728" cy="109728"/>
          </a:xfrm>
          <a:prstGeom prst="ellipse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200400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Pi camera workflow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712464"/>
            <a:ext cx="109728" cy="109728"/>
          </a:xfrm>
          <a:prstGeom prst="ellipse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639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OpenCV detection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45536" y="1572768"/>
            <a:ext cx="226771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28416" y="1773936"/>
            <a:ext cx="1572768" cy="310896"/>
          </a:xfrm>
          <a:prstGeom prst="roundRect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8416" y="1783080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IN PROGRESS</a:t>
            </a:r>
          </a:p>
        </p:txBody>
      </p:sp>
      <p:sp>
        <p:nvSpPr>
          <p:cNvPr id="20" name="Oval 19"/>
          <p:cNvSpPr/>
          <p:nvPr/>
        </p:nvSpPr>
        <p:spPr>
          <a:xfrm>
            <a:off x="3346704" y="2395728"/>
            <a:ext cx="109728" cy="109728"/>
          </a:xfrm>
          <a:prstGeom prst="ellipse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322576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9202A"/>
                </a:solidFill>
                <a:latin typeface="Poppins"/>
              </a:rPr>
              <a:t>CV robustness + calibration</a:t>
            </a:r>
          </a:p>
        </p:txBody>
      </p:sp>
      <p:sp>
        <p:nvSpPr>
          <p:cNvPr id="22" name="Oval 21"/>
          <p:cNvSpPr/>
          <p:nvPr/>
        </p:nvSpPr>
        <p:spPr>
          <a:xfrm>
            <a:off x="3346704" y="2834640"/>
            <a:ext cx="109728" cy="109728"/>
          </a:xfrm>
          <a:prstGeom prst="ellipse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761488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Manipulator selection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3346704" y="3273552"/>
            <a:ext cx="109728" cy="109728"/>
          </a:xfrm>
          <a:prstGeom prst="ellipse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200400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Control-stack decision</a:t>
            </a:r>
          </a:p>
        </p:txBody>
      </p:sp>
      <p:sp>
        <p:nvSpPr>
          <p:cNvPr id="26" name="Oval 25"/>
          <p:cNvSpPr/>
          <p:nvPr/>
        </p:nvSpPr>
        <p:spPr>
          <a:xfrm>
            <a:off x="3346704" y="3712464"/>
            <a:ext cx="109728" cy="109728"/>
          </a:xfrm>
          <a:prstGeom prst="ellipse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639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BOM finalization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87568" y="1572768"/>
            <a:ext cx="226771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70448" y="1773936"/>
            <a:ext cx="1572768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1783080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UPCOMING</a:t>
            </a:r>
          </a:p>
        </p:txBody>
      </p:sp>
      <p:sp>
        <p:nvSpPr>
          <p:cNvPr id="31" name="Oval 30"/>
          <p:cNvSpPr/>
          <p:nvPr/>
        </p:nvSpPr>
        <p:spPr>
          <a:xfrm>
            <a:off x="5888736" y="2395728"/>
            <a:ext cx="109728" cy="109728"/>
          </a:xfrm>
          <a:prstGeom prst="ellipse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8192" y="2322576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9202A"/>
                </a:solidFill>
                <a:latin typeface="Poppins"/>
              </a:rPr>
              <a:t>URDF + Gazebo validation</a:t>
            </a:r>
          </a:p>
        </p:txBody>
      </p:sp>
      <p:sp>
        <p:nvSpPr>
          <p:cNvPr id="33" name="Oval 32"/>
          <p:cNvSpPr/>
          <p:nvPr/>
        </p:nvSpPr>
        <p:spPr>
          <a:xfrm>
            <a:off x="5888736" y="2834640"/>
            <a:ext cx="109728" cy="109728"/>
          </a:xfrm>
          <a:prstGeom prst="ellipse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2761488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Vision-to-robot transform</a:t>
            </a:r>
          </a:p>
        </p:txBody>
      </p:sp>
      <p:sp>
        <p:nvSpPr>
          <p:cNvPr id="35" name="Oval 34"/>
          <p:cNvSpPr/>
          <p:nvPr/>
        </p:nvSpPr>
        <p:spPr>
          <a:xfrm>
            <a:off x="5888736" y="3273552"/>
            <a:ext cx="109728" cy="109728"/>
          </a:xfrm>
          <a:prstGeom prst="ellipse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3200400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Autonomous pick + place</a:t>
            </a:r>
          </a:p>
        </p:txBody>
      </p:sp>
      <p:sp>
        <p:nvSpPr>
          <p:cNvPr id="37" name="Oval 36"/>
          <p:cNvSpPr/>
          <p:nvPr/>
        </p:nvSpPr>
        <p:spPr>
          <a:xfrm>
            <a:off x="5888736" y="3712464"/>
            <a:ext cx="109728" cy="109728"/>
          </a:xfrm>
          <a:prstGeom prst="ellipse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3639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9202A"/>
                </a:solidFill>
                <a:latin typeface="Poppins"/>
              </a:rPr>
              <a:t>Throughput testing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47888" y="1572768"/>
            <a:ext cx="3328416" cy="4480560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0496" y="1847088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FFFC0"/>
                </a:solidFill>
                <a:latin typeface="Poppins"/>
              </a:rPr>
              <a:t>NEXT PHASE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2304288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4272" y="2286000"/>
            <a:ext cx="19933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Finalize manipulator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705088" y="2542032"/>
            <a:ext cx="0" cy="210312"/>
          </a:xfrm>
          <a:prstGeom prst="line">
            <a:avLst/>
          </a:prstGeom>
          <a:ln w="12700">
            <a:solidFill>
              <a:srgbClr val="4F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540496" y="2816352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2798064"/>
            <a:ext cx="19933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Complete CV calibration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05088" y="3054096"/>
            <a:ext cx="0" cy="210312"/>
          </a:xfrm>
          <a:prstGeom prst="line">
            <a:avLst/>
          </a:prstGeom>
          <a:ln w="12700">
            <a:solidFill>
              <a:srgbClr val="4F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540496" y="3328416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34272" y="3310128"/>
            <a:ext cx="19933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Implement control path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705088" y="3566160"/>
            <a:ext cx="0" cy="210312"/>
          </a:xfrm>
          <a:prstGeom prst="line">
            <a:avLst/>
          </a:prstGeom>
          <a:ln w="12700">
            <a:solidFill>
              <a:srgbClr val="4F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540496" y="3840480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3822192"/>
            <a:ext cx="19933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Validate ROS 2 + Gazebo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705088" y="4078224"/>
            <a:ext cx="0" cy="210312"/>
          </a:xfrm>
          <a:prstGeom prst="line">
            <a:avLst/>
          </a:prstGeom>
          <a:ln w="12700">
            <a:solidFill>
              <a:srgbClr val="4F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40496" y="4352544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34272" y="4334256"/>
            <a:ext cx="19933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Integrate vision + arm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05088" y="4590288"/>
            <a:ext cx="0" cy="210312"/>
          </a:xfrm>
          <a:prstGeom prst="line">
            <a:avLst/>
          </a:prstGeom>
          <a:ln w="12700">
            <a:solidFill>
              <a:srgbClr val="4F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540496" y="4864608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4272" y="4846320"/>
            <a:ext cx="19933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Test throughput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4572000"/>
            <a:ext cx="7242048" cy="1481328"/>
          </a:xfrm>
          <a:prstGeom prst="roundRect">
            <a:avLst/>
          </a:prstGeom>
          <a:solidFill>
            <a:srgbClr val="E5F5F3"/>
          </a:solidFill>
          <a:ln w="12700">
            <a:solidFill>
              <a:srgbClr val="E5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7824" y="4818888"/>
            <a:ext cx="14264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FINAL TARGET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5175504"/>
            <a:ext cx="51389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80E66"/>
                </a:solidFill>
                <a:latin typeface="Poppins"/>
              </a:rPr>
              <a:t>Autonomous vision-guided Petri-dish handling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16752" y="5065776"/>
            <a:ext cx="1481328" cy="310896"/>
          </a:xfrm>
          <a:prstGeom prst="roundRect">
            <a:avLst/>
          </a:prstGeom>
          <a:solidFill>
            <a:srgbClr val="180E66"/>
          </a:solidFill>
          <a:ln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16752" y="5074920"/>
            <a:ext cx="148132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~100 DISHES / DAY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Robotic Manipulator for AMR Sampling</dc:title>
  <dc:subject>ELD411 Mid-Term Review 2026</dc:subject>
  <dc:creator>Arnav Panjla; Manashvi Garg</dc:creator>
  <cp:keywords>AMR, Petri dish, robotics, computer vision, Raspberry Pi, ESP32, Gazebo</cp:keywords>
  <dc:description>Editable 14-slide technical mid-term review generated from PetriOS repository evidence.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
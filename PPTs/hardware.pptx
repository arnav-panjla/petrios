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Inter" charset="1" panose="020B0502030000000004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new arm drawong wil all dimnesion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50000">
              <a:srgbClr val="9FFFC0">
                <a:alpha val="100000"/>
              </a:srgbClr>
            </a:gs>
            <a:gs pos="100000">
              <a:srgbClr val="D5D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68437"/>
            <a:ext cx="18288000" cy="2676937"/>
            <a:chOff x="0" y="0"/>
            <a:chExt cx="4816593" cy="705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5037"/>
            </a:xfrm>
            <a:custGeom>
              <a:avLst/>
              <a:gdLst/>
              <a:ahLst/>
              <a:cxnLst/>
              <a:rect r="r" b="b" t="t" l="l"/>
              <a:pathLst>
                <a:path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2591" y="-988210"/>
            <a:ext cx="5762818" cy="3296724"/>
            <a:chOff x="0" y="0"/>
            <a:chExt cx="1517779" cy="8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779" cy="868273"/>
            </a:xfrm>
            <a:custGeom>
              <a:avLst/>
              <a:gdLst/>
              <a:ahLst/>
              <a:cxnLst/>
              <a:rect r="r" b="b" t="t" l="l"/>
              <a:pathLst>
                <a:path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38940" y="6022293"/>
            <a:ext cx="863203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</a:pPr>
            <a:r>
              <a:rPr lang="en-US" b="true" sz="3600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robotic manipulator for AMR sampling (Petri Dish)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8184" y="3156604"/>
            <a:ext cx="10194102" cy="228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45"/>
              </a:lnSpc>
            </a:pPr>
            <a:r>
              <a:rPr lang="en-US" b="true" sz="126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ELD411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560" y="9156333"/>
            <a:ext cx="473231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Arnav Panjla 2023EE10978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Manashvi Garg 2023EE11104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9719" y="5113890"/>
            <a:ext cx="3971032" cy="4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Mid-Term Review — 2026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187" y="858745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The Challenge: Scaling AMR Surveillance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578454" y="1650977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AutoShape 6" id="6"/>
          <p:cNvSpPr/>
          <p:nvPr/>
        </p:nvSpPr>
        <p:spPr>
          <a:xfrm>
            <a:off x="3659694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55964" y="5314395"/>
            <a:ext cx="124111" cy="124111"/>
            <a:chOff x="0" y="0"/>
            <a:chExt cx="165481" cy="165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96436" y="4708034"/>
            <a:ext cx="2819314" cy="1501550"/>
            <a:chOff x="0" y="0"/>
            <a:chExt cx="3759086" cy="20020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62164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164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2164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Distributed sampling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036468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432738" y="5314395"/>
            <a:ext cx="124111" cy="124111"/>
            <a:chOff x="0" y="0"/>
            <a:chExt cx="165481" cy="1654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273201" y="4708034"/>
            <a:ext cx="2819314" cy="1501550"/>
            <a:chOff x="0" y="0"/>
            <a:chExt cx="3759086" cy="2002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538939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38939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38939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Repeated visits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413243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809513" y="5314395"/>
            <a:ext cx="124111" cy="124111"/>
            <a:chOff x="0" y="0"/>
            <a:chExt cx="165481" cy="1654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649975" y="4708034"/>
            <a:ext cx="2819314" cy="1501550"/>
            <a:chOff x="0" y="0"/>
            <a:chExt cx="3759086" cy="20020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915713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5713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LAB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15713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Central processing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3790017" y="5357384"/>
            <a:ext cx="477387" cy="38133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186287" y="5314395"/>
            <a:ext cx="124111" cy="124111"/>
            <a:chOff x="0" y="0"/>
            <a:chExt cx="165481" cy="1654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026750" y="4708034"/>
            <a:ext cx="2819314" cy="1501550"/>
            <a:chOff x="0" y="0"/>
            <a:chExt cx="3759086" cy="20020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292488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2488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DISHES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292488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Handling + imaging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403524" y="4708034"/>
            <a:ext cx="2819314" cy="1501550"/>
            <a:chOff x="0" y="0"/>
            <a:chExt cx="3759086" cy="20020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59073" cy="2002028"/>
            </a:xfrm>
            <a:custGeom>
              <a:avLst/>
              <a:gdLst/>
              <a:ahLst/>
              <a:cxnLst/>
              <a:rect r="r" b="b" t="t" l="l"/>
              <a:pathLst>
                <a:path h="2002028" w="3759073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425444" y="0"/>
                  </a:lnTo>
                  <a:cubicBezTo>
                    <a:pt x="3609721" y="0"/>
                    <a:pt x="3759073" y="149352"/>
                    <a:pt x="3759073" y="333629"/>
                  </a:cubicBezTo>
                  <a:lnTo>
                    <a:pt x="3759073" y="1668399"/>
                  </a:lnTo>
                  <a:cubicBezTo>
                    <a:pt x="3759073" y="1852676"/>
                    <a:pt x="3609721" y="2002028"/>
                    <a:pt x="3425444" y="2002028"/>
                  </a:cubicBezTo>
                  <a:lnTo>
                    <a:pt x="333629" y="2002028"/>
                  </a:lnTo>
                  <a:cubicBezTo>
                    <a:pt x="149352" y="2002028"/>
                    <a:pt x="0" y="1852676"/>
                    <a:pt x="0" y="16683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69262" y="4940996"/>
            <a:ext cx="393554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69262" y="5293688"/>
            <a:ext cx="2287848" cy="25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BOTTLENECK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69262" y="5682232"/>
            <a:ext cx="228784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Manual repetition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2164" y="7065649"/>
            <a:ext cx="233924" cy="233924"/>
            <a:chOff x="0" y="0"/>
            <a:chExt cx="311899" cy="3118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645148" y="7012166"/>
            <a:ext cx="70234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Repeated sampling creates high laboratory load.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62164" y="7698451"/>
            <a:ext cx="233924" cy="233924"/>
            <a:chOff x="0" y="0"/>
            <a:chExt cx="311899" cy="3118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645148" y="7644969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9202A"/>
                </a:solidFill>
                <a:latin typeface="Poppins"/>
                <a:ea typeface="Poppins"/>
                <a:cs typeface="Poppins"/>
                <a:sym typeface="Poppins"/>
              </a:rPr>
              <a:t>Dish transport, imaging and logging are repetitive.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62164" y="8330740"/>
            <a:ext cx="233924" cy="233924"/>
            <a:chOff x="0" y="0"/>
            <a:chExt cx="311899" cy="3118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1912" cy="311912"/>
            </a:xfrm>
            <a:custGeom>
              <a:avLst/>
              <a:gdLst/>
              <a:ahLst/>
              <a:cxnLst/>
              <a:rect r="r" b="b" t="t" l="l"/>
              <a:pathLst>
                <a:path h="311912" w="311912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cubicBezTo>
                    <a:pt x="242062" y="0"/>
                    <a:pt x="311912" y="69850"/>
                    <a:pt x="311912" y="155956"/>
                  </a:cubicBezTo>
                  <a:cubicBezTo>
                    <a:pt x="311912" y="242062"/>
                    <a:pt x="242062" y="311912"/>
                    <a:pt x="155956" y="311912"/>
                  </a:cubicBezTo>
                  <a:cubicBezTo>
                    <a:pt x="69850" y="311912"/>
                    <a:pt x="0" y="242062"/>
                    <a:pt x="0" y="155956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645148" y="8277257"/>
            <a:ext cx="9810093" cy="39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handling limits throughput and traceability.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188919" y="6523447"/>
            <a:ext cx="4960687" cy="2817859"/>
            <a:chOff x="0" y="0"/>
            <a:chExt cx="6614249" cy="37571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14287" cy="3757102"/>
            </a:xfrm>
            <a:custGeom>
              <a:avLst/>
              <a:gdLst/>
              <a:ahLst/>
              <a:cxnLst/>
              <a:rect r="r" b="b" t="t" l="l"/>
              <a:pathLst>
                <a:path h="3757102" w="6614287">
                  <a:moveTo>
                    <a:pt x="0" y="626202"/>
                  </a:moveTo>
                  <a:cubicBezTo>
                    <a:pt x="0" y="280323"/>
                    <a:pt x="332359" y="0"/>
                    <a:pt x="742442" y="0"/>
                  </a:cubicBezTo>
                  <a:lnTo>
                    <a:pt x="5871845" y="0"/>
                  </a:lnTo>
                  <a:cubicBezTo>
                    <a:pt x="6281928" y="0"/>
                    <a:pt x="6614287" y="280323"/>
                    <a:pt x="6614287" y="626202"/>
                  </a:cubicBezTo>
                  <a:lnTo>
                    <a:pt x="6614287" y="3130901"/>
                  </a:lnTo>
                  <a:cubicBezTo>
                    <a:pt x="6614287" y="3476779"/>
                    <a:pt x="6281928" y="3757102"/>
                    <a:pt x="5871845" y="3757102"/>
                  </a:cubicBezTo>
                  <a:lnTo>
                    <a:pt x="742442" y="3757102"/>
                  </a:lnTo>
                  <a:cubicBezTo>
                    <a:pt x="332359" y="3757102"/>
                    <a:pt x="0" y="3476778"/>
                    <a:pt x="0" y="3130901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2681147" y="6779106"/>
            <a:ext cx="3976230" cy="3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46824" y="7335881"/>
            <a:ext cx="4127230" cy="1450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 Petri-dish</a:t>
            </a:r>
          </a:p>
          <a:p>
            <a:pPr algn="l">
              <a:lnSpc>
                <a:spcPts val="3773"/>
              </a:lnSpc>
            </a:pPr>
            <a:r>
              <a:rPr lang="en-US" sz="314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+ imaging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6436" y="2271989"/>
            <a:ext cx="17130898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Antimicrobial resistance (AMR) requires continuous surveillance.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Rural/village-level sampling can generate many biological samples.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Samples need to be collected, transported, incubated/processed and analyzed.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Petri-dish handling becomes a bottleneck as sample volume increases.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AND SCALE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From Village Sampling to Laboratory Load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6436" y="2433828"/>
            <a:ext cx="2819314" cy="1638814"/>
            <a:chOff x="0" y="0"/>
            <a:chExt cx="3759086" cy="21850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44535" y="2688917"/>
            <a:ext cx="152310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~3000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713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/ village</a:t>
            </a:r>
          </a:p>
        </p:txBody>
      </p:sp>
      <p:sp>
        <p:nvSpPr>
          <p:cNvPr name="AutoShape 10" id="10"/>
          <p:cNvSpPr/>
          <p:nvPr/>
        </p:nvSpPr>
        <p:spPr>
          <a:xfrm rot="417180">
            <a:off x="3713445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946150" y="3204905"/>
            <a:ext cx="124111" cy="124111"/>
            <a:chOff x="0" y="0"/>
            <a:chExt cx="165481" cy="1654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108485" y="2433828"/>
            <a:ext cx="2819314" cy="1638814"/>
            <a:chOff x="0" y="0"/>
            <a:chExt cx="3759086" cy="21850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865238" y="2688917"/>
            <a:ext cx="130581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2–3%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4285" y="3309966"/>
            <a:ext cx="257989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fraction*</a:t>
            </a:r>
          </a:p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(people that get sick and actually need testing)</a:t>
            </a:r>
          </a:p>
        </p:txBody>
      </p:sp>
      <p:sp>
        <p:nvSpPr>
          <p:cNvPr name="AutoShape 17" id="17"/>
          <p:cNvSpPr/>
          <p:nvPr/>
        </p:nvSpPr>
        <p:spPr>
          <a:xfrm rot="417180">
            <a:off x="6925504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158199" y="3204905"/>
            <a:ext cx="124111" cy="124111"/>
            <a:chOff x="0" y="0"/>
            <a:chExt cx="165481" cy="1654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320534" y="2433828"/>
            <a:ext cx="2819314" cy="1638814"/>
            <a:chOff x="0" y="0"/>
            <a:chExt cx="3759086" cy="21850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955694" y="2688917"/>
            <a:ext cx="154900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60–90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8821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samples / village</a:t>
            </a:r>
          </a:p>
        </p:txBody>
      </p:sp>
      <p:sp>
        <p:nvSpPr>
          <p:cNvPr name="AutoShape 24" id="24"/>
          <p:cNvSpPr/>
          <p:nvPr/>
        </p:nvSpPr>
        <p:spPr>
          <a:xfrm rot="417180">
            <a:off x="10137553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370258" y="3204905"/>
            <a:ext cx="124111" cy="124111"/>
            <a:chOff x="0" y="0"/>
            <a:chExt cx="165481" cy="165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532593" y="2433828"/>
            <a:ext cx="2819314" cy="1638814"/>
            <a:chOff x="0" y="0"/>
            <a:chExt cx="3759086" cy="21850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770870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4–5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70870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field collectors</a:t>
            </a:r>
          </a:p>
        </p:txBody>
      </p:sp>
      <p:sp>
        <p:nvSpPr>
          <p:cNvPr name="AutoShape 31" id="31"/>
          <p:cNvSpPr/>
          <p:nvPr/>
        </p:nvSpPr>
        <p:spPr>
          <a:xfrm rot="417180">
            <a:off x="13349602" y="3257436"/>
            <a:ext cx="314982" cy="0"/>
          </a:xfrm>
          <a:prstGeom prst="line">
            <a:avLst/>
          </a:prstGeom>
          <a:ln cap="rnd" w="19050">
            <a:solidFill>
              <a:srgbClr val="2BA7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582307" y="3204905"/>
            <a:ext cx="124111" cy="124111"/>
            <a:chOff x="0" y="0"/>
            <a:chExt cx="165481" cy="1654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5608" cy="165608"/>
            </a:xfrm>
            <a:custGeom>
              <a:avLst/>
              <a:gdLst/>
              <a:ahLst/>
              <a:cxnLst/>
              <a:rect r="r" b="b" t="t" l="l"/>
              <a:pathLst>
                <a:path h="165608" w="165608">
                  <a:moveTo>
                    <a:pt x="0" y="82804"/>
                  </a:moveTo>
                  <a:cubicBezTo>
                    <a:pt x="0" y="37084"/>
                    <a:pt x="37084" y="0"/>
                    <a:pt x="82804" y="0"/>
                  </a:cubicBezTo>
                  <a:cubicBezTo>
                    <a:pt x="128524" y="0"/>
                    <a:pt x="165608" y="37084"/>
                    <a:pt x="165608" y="82804"/>
                  </a:cubicBezTo>
                  <a:cubicBezTo>
                    <a:pt x="165608" y="128524"/>
                    <a:pt x="128524" y="165608"/>
                    <a:pt x="82804" y="165608"/>
                  </a:cubicBezTo>
                  <a:cubicBezTo>
                    <a:pt x="37084" y="165608"/>
                    <a:pt x="0" y="128397"/>
                    <a:pt x="0" y="82804"/>
                  </a:cubicBezTo>
                  <a:close/>
                </a:path>
              </a:pathLst>
            </a:custGeom>
            <a:solidFill>
              <a:srgbClr val="2BA7A0"/>
            </a:solidFill>
            <a:ln w="14299" cap="sq">
              <a:solidFill>
                <a:srgbClr val="2BA7A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44642" y="2433828"/>
            <a:ext cx="2819314" cy="1638814"/>
            <a:chOff x="0" y="0"/>
            <a:chExt cx="3759086" cy="2185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9073" cy="2185162"/>
            </a:xfrm>
            <a:custGeom>
              <a:avLst/>
              <a:gdLst/>
              <a:ahLst/>
              <a:cxnLst/>
              <a:rect r="r" b="b" t="t" l="l"/>
              <a:pathLst>
                <a:path h="2185162" w="3759073">
                  <a:moveTo>
                    <a:pt x="0" y="364236"/>
                  </a:moveTo>
                  <a:cubicBezTo>
                    <a:pt x="0" y="163068"/>
                    <a:pt x="163068" y="0"/>
                    <a:pt x="364236" y="0"/>
                  </a:cubicBezTo>
                  <a:lnTo>
                    <a:pt x="3394837" y="0"/>
                  </a:lnTo>
                  <a:cubicBezTo>
                    <a:pt x="3596005" y="0"/>
                    <a:pt x="3759073" y="163068"/>
                    <a:pt x="3759073" y="364236"/>
                  </a:cubicBezTo>
                  <a:lnTo>
                    <a:pt x="3759073" y="1820926"/>
                  </a:lnTo>
                  <a:cubicBezTo>
                    <a:pt x="3759073" y="2022094"/>
                    <a:pt x="3596005" y="2185162"/>
                    <a:pt x="3394837" y="2185162"/>
                  </a:cubicBezTo>
                  <a:lnTo>
                    <a:pt x="364236" y="2185162"/>
                  </a:lnTo>
                  <a:cubicBezTo>
                    <a:pt x="163068" y="2185035"/>
                    <a:pt x="0" y="2022094"/>
                    <a:pt x="0" y="18209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3982929" y="2688917"/>
            <a:ext cx="2342750" cy="55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5–6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82929" y="3421751"/>
            <a:ext cx="2342750" cy="27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villages / collector / day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7794" y="4715999"/>
            <a:ext cx="16491137" cy="3286030"/>
            <a:chOff x="0" y="0"/>
            <a:chExt cx="21988183" cy="43813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88145" cy="4381373"/>
            </a:xfrm>
            <a:custGeom>
              <a:avLst/>
              <a:gdLst/>
              <a:ahLst/>
              <a:cxnLst/>
              <a:rect r="r" b="b" t="t" l="l"/>
              <a:pathLst>
                <a:path h="4381373" w="21988145">
                  <a:moveTo>
                    <a:pt x="0" y="730250"/>
                  </a:moveTo>
                  <a:cubicBezTo>
                    <a:pt x="0" y="326898"/>
                    <a:pt x="326898" y="0"/>
                    <a:pt x="730250" y="0"/>
                  </a:cubicBezTo>
                  <a:lnTo>
                    <a:pt x="21257895" y="0"/>
                  </a:lnTo>
                  <a:cubicBezTo>
                    <a:pt x="21661247" y="0"/>
                    <a:pt x="21988145" y="326898"/>
                    <a:pt x="21988145" y="730250"/>
                  </a:cubicBezTo>
                  <a:lnTo>
                    <a:pt x="21988145" y="3651123"/>
                  </a:lnTo>
                  <a:cubicBezTo>
                    <a:pt x="21988145" y="4054475"/>
                    <a:pt x="21661247" y="4381373"/>
                    <a:pt x="21257895" y="4381373"/>
                  </a:cubicBezTo>
                  <a:lnTo>
                    <a:pt x="730250" y="4381373"/>
                  </a:lnTo>
                  <a:cubicBezTo>
                    <a:pt x="326898" y="4381373"/>
                    <a:pt x="0" y="4054475"/>
                    <a:pt x="0" y="3651123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09252" y="5270659"/>
            <a:ext cx="3495799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TARGET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9252" y="5725601"/>
            <a:ext cx="2696617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~1200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54713" y="6143844"/>
            <a:ext cx="5692073" cy="61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PETRI DISHES / DAY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68448" y="6949526"/>
            <a:ext cx="9192387" cy="42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Planning value for workflow, storage and robot duty cycle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611807" y="5318817"/>
            <a:ext cx="1963493" cy="481003"/>
            <a:chOff x="0" y="0"/>
            <a:chExt cx="2617991" cy="6413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17978" cy="641350"/>
            </a:xfrm>
            <a:custGeom>
              <a:avLst/>
              <a:gdLst/>
              <a:ahLst/>
              <a:cxnLst/>
              <a:rect r="r" b="b" t="t" l="l"/>
              <a:pathLst>
                <a:path h="641350" w="2617978">
                  <a:moveTo>
                    <a:pt x="0" y="106934"/>
                  </a:moveTo>
                  <a:cubicBezTo>
                    <a:pt x="0" y="47879"/>
                    <a:pt x="47879" y="0"/>
                    <a:pt x="106934" y="0"/>
                  </a:cubicBezTo>
                  <a:lnTo>
                    <a:pt x="2511044" y="0"/>
                  </a:lnTo>
                  <a:cubicBezTo>
                    <a:pt x="2570099" y="0"/>
                    <a:pt x="2617978" y="47879"/>
                    <a:pt x="2617978" y="106934"/>
                  </a:cubicBezTo>
                  <a:lnTo>
                    <a:pt x="2617978" y="534416"/>
                  </a:lnTo>
                  <a:cubicBezTo>
                    <a:pt x="2617978" y="593471"/>
                    <a:pt x="2570099" y="641350"/>
                    <a:pt x="2511044" y="641350"/>
                  </a:cubicBezTo>
                  <a:lnTo>
                    <a:pt x="106934" y="641350"/>
                  </a:lnTo>
                  <a:cubicBezTo>
                    <a:pt x="47879" y="641350"/>
                    <a:pt x="0" y="593471"/>
                    <a:pt x="0" y="53441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618960" y="5339696"/>
            <a:ext cx="1949196" cy="384353"/>
            <a:chOff x="0" y="0"/>
            <a:chExt cx="2598928" cy="5124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98926" cy="512464"/>
            </a:xfrm>
            <a:custGeom>
              <a:avLst/>
              <a:gdLst/>
              <a:ahLst/>
              <a:cxnLst/>
              <a:rect r="r" b="b" t="t" l="l"/>
              <a:pathLst>
                <a:path h="512464" w="2598926">
                  <a:moveTo>
                    <a:pt x="0" y="0"/>
                  </a:moveTo>
                  <a:lnTo>
                    <a:pt x="2598926" y="0"/>
                  </a:lnTo>
                  <a:lnTo>
                    <a:pt x="259892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816" r="0" b="-4881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598928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ASSUMPTION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204338" y="2351465"/>
            <a:ext cx="5183226" cy="1281922"/>
            <a:chOff x="0" y="0"/>
            <a:chExt cx="6910967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1098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910980">
                  <a:moveTo>
                    <a:pt x="0" y="284861"/>
                  </a:moveTo>
                  <a:cubicBezTo>
                    <a:pt x="0" y="127508"/>
                    <a:pt x="159751" y="0"/>
                    <a:pt x="356894" y="0"/>
                  </a:cubicBezTo>
                  <a:lnTo>
                    <a:pt x="6554089" y="0"/>
                  </a:lnTo>
                  <a:cubicBezTo>
                    <a:pt x="6751233" y="0"/>
                    <a:pt x="6910980" y="127508"/>
                    <a:pt x="6910980" y="284861"/>
                  </a:cubicBezTo>
                  <a:lnTo>
                    <a:pt x="6910980" y="1424305"/>
                  </a:lnTo>
                  <a:cubicBezTo>
                    <a:pt x="6910980" y="1581658"/>
                    <a:pt x="6751233" y="1709166"/>
                    <a:pt x="6554089" y="1709166"/>
                  </a:cubicBezTo>
                  <a:lnTo>
                    <a:pt x="356894" y="1709166"/>
                  </a:lnTo>
                  <a:cubicBezTo>
                    <a:pt x="15975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315293" y="3971220"/>
            <a:ext cx="5072271" cy="1281922"/>
            <a:chOff x="0" y="0"/>
            <a:chExt cx="6763028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3040" cy="1709166"/>
            </a:xfrm>
            <a:custGeom>
              <a:avLst/>
              <a:gdLst/>
              <a:ahLst/>
              <a:cxnLst/>
              <a:rect r="r" b="b" t="t" l="l"/>
              <a:pathLst>
                <a:path h="1709166" w="6763040">
                  <a:moveTo>
                    <a:pt x="0" y="284861"/>
                  </a:moveTo>
                  <a:cubicBezTo>
                    <a:pt x="0" y="127508"/>
                    <a:pt x="156331" y="0"/>
                    <a:pt x="349254" y="0"/>
                  </a:cubicBezTo>
                  <a:lnTo>
                    <a:pt x="6413789" y="0"/>
                  </a:lnTo>
                  <a:cubicBezTo>
                    <a:pt x="6606712" y="0"/>
                    <a:pt x="6763040" y="127508"/>
                    <a:pt x="6763040" y="284861"/>
                  </a:cubicBezTo>
                  <a:lnTo>
                    <a:pt x="6763040" y="1424305"/>
                  </a:lnTo>
                  <a:cubicBezTo>
                    <a:pt x="6763040" y="1581658"/>
                    <a:pt x="6606712" y="1709166"/>
                    <a:pt x="6413789" y="1709166"/>
                  </a:cubicBezTo>
                  <a:lnTo>
                    <a:pt x="349254" y="1709166"/>
                  </a:lnTo>
                  <a:cubicBezTo>
                    <a:pt x="156331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42099" y="5590975"/>
            <a:ext cx="4945465" cy="1281922"/>
            <a:chOff x="0" y="0"/>
            <a:chExt cx="6593953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42099" y="7210720"/>
            <a:ext cx="4945465" cy="1281922"/>
            <a:chOff x="0" y="0"/>
            <a:chExt cx="6593953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3966" cy="1709166"/>
            </a:xfrm>
            <a:custGeom>
              <a:avLst/>
              <a:gdLst/>
              <a:ahLst/>
              <a:cxnLst/>
              <a:rect r="r" b="b" t="t" l="l"/>
              <a:pathLst>
                <a:path h="1709166" w="6593966">
                  <a:moveTo>
                    <a:pt x="0" y="284861"/>
                  </a:moveTo>
                  <a:cubicBezTo>
                    <a:pt x="0" y="127508"/>
                    <a:pt x="152423" y="0"/>
                    <a:pt x="340523" y="0"/>
                  </a:cubicBezTo>
                  <a:lnTo>
                    <a:pt x="6253446" y="0"/>
                  </a:lnTo>
                  <a:cubicBezTo>
                    <a:pt x="6441546" y="0"/>
                    <a:pt x="6593966" y="127508"/>
                    <a:pt x="6593966" y="284861"/>
                  </a:cubicBezTo>
                  <a:lnTo>
                    <a:pt x="6593966" y="1424305"/>
                  </a:lnTo>
                  <a:cubicBezTo>
                    <a:pt x="6593966" y="1581658"/>
                    <a:pt x="6441546" y="1709166"/>
                    <a:pt x="6253446" y="1709166"/>
                  </a:cubicBezTo>
                  <a:lnTo>
                    <a:pt x="340523" y="1709166"/>
                  </a:lnTo>
                  <a:cubicBezTo>
                    <a:pt x="152423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42537" y="2269389"/>
            <a:ext cx="10549225" cy="6896868"/>
          </a:xfrm>
          <a:custGeom>
            <a:avLst/>
            <a:gdLst/>
            <a:ahLst/>
            <a:cxnLst/>
            <a:rect r="r" b="b" t="t" l="l"/>
            <a:pathLst>
              <a:path h="6896868" w="10549225">
                <a:moveTo>
                  <a:pt x="0" y="0"/>
                </a:moveTo>
                <a:lnTo>
                  <a:pt x="10549225" y="0"/>
                </a:lnTo>
                <a:lnTo>
                  <a:pt x="10549225" y="6896867"/>
                </a:lnTo>
                <a:lnTo>
                  <a:pt x="0" y="689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40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Iteration - I (3d printer style 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96222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Petri-dish queue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615977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Pi + imaging camera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35732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Manipulator +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55487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Imaging / storage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250485" y="2351465"/>
            <a:ext cx="4137079" cy="1281922"/>
            <a:chOff x="0" y="0"/>
            <a:chExt cx="5516105" cy="17092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250485" y="3971220"/>
            <a:ext cx="4137079" cy="1281922"/>
            <a:chOff x="0" y="0"/>
            <a:chExt cx="5516105" cy="1709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250485" y="5590975"/>
            <a:ext cx="4137079" cy="1281922"/>
            <a:chOff x="0" y="0"/>
            <a:chExt cx="5516105" cy="170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180E66"/>
            </a:solidFill>
            <a:ln w="19065" cap="sq">
              <a:solidFill>
                <a:srgbClr val="180E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250485" y="7210720"/>
            <a:ext cx="4137079" cy="1281922"/>
            <a:chOff x="0" y="0"/>
            <a:chExt cx="5516105" cy="1709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16118" cy="1709166"/>
            </a:xfrm>
            <a:custGeom>
              <a:avLst/>
              <a:gdLst/>
              <a:ahLst/>
              <a:cxnLst/>
              <a:rect r="r" b="b" t="t" l="l"/>
              <a:pathLst>
                <a:path h="1709166" w="551611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5231257" y="0"/>
                  </a:lnTo>
                  <a:cubicBezTo>
                    <a:pt x="5388610" y="0"/>
                    <a:pt x="5516118" y="127508"/>
                    <a:pt x="5516118" y="284861"/>
                  </a:cubicBezTo>
                  <a:lnTo>
                    <a:pt x="5516118" y="1424305"/>
                  </a:lnTo>
                  <a:cubicBezTo>
                    <a:pt x="5516118" y="1581658"/>
                    <a:pt x="5388610" y="1709166"/>
                    <a:pt x="523125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96432" y="2049344"/>
            <a:ext cx="11957118" cy="7285592"/>
          </a:xfrm>
          <a:custGeom>
            <a:avLst/>
            <a:gdLst/>
            <a:ahLst/>
            <a:cxnLst/>
            <a:rect r="r" b="b" t="t" l="l"/>
            <a:pathLst>
              <a:path h="7285592" w="11957118">
                <a:moveTo>
                  <a:pt x="0" y="0"/>
                </a:moveTo>
                <a:lnTo>
                  <a:pt x="11957118" y="0"/>
                </a:lnTo>
                <a:lnTo>
                  <a:pt x="11957118" y="7285592"/>
                </a:lnTo>
                <a:lnTo>
                  <a:pt x="0" y="728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42537" y="94562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 Iteration - II (scara bot)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8576" y="25981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47644" y="2566492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47644" y="2996222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Petri-dish queue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98576" y="42179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7644" y="4186247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47644" y="4615977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Pi + imaging camera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8576" y="5837653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FFFC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47644" y="5806002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47644" y="6235732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DCE7FF"/>
                </a:solidFill>
                <a:latin typeface="Poppins"/>
                <a:ea typeface="Poppins"/>
                <a:cs typeface="Poppins"/>
                <a:sym typeface="Poppins"/>
              </a:rPr>
              <a:t>Manipulator +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8576" y="7457408"/>
            <a:ext cx="393554" cy="19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7644" y="7425757"/>
            <a:ext cx="1436789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44" y="7855487"/>
            <a:ext cx="2740828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Imaging / storage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1569" y="1396570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99857" y="1535269"/>
            <a:ext cx="17072806" cy="8479314"/>
            <a:chOff x="0" y="0"/>
            <a:chExt cx="4496541" cy="22332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6541" cy="2233235"/>
            </a:xfrm>
            <a:custGeom>
              <a:avLst/>
              <a:gdLst/>
              <a:ahLst/>
              <a:cxnLst/>
              <a:rect r="r" b="b" t="t" l="l"/>
              <a:pathLst>
                <a:path h="2233235" w="4496541">
                  <a:moveTo>
                    <a:pt x="0" y="0"/>
                  </a:moveTo>
                  <a:lnTo>
                    <a:pt x="4496541" y="0"/>
                  </a:lnTo>
                  <a:lnTo>
                    <a:pt x="4496541" y="2233235"/>
                  </a:lnTo>
                  <a:lnTo>
                    <a:pt x="0" y="2233235"/>
                  </a:lnTo>
                  <a:close/>
                </a:path>
              </a:pathLst>
            </a:custGeom>
            <a:solidFill>
              <a:srgbClr val="3139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496541" cy="2252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58833" y="1535269"/>
            <a:ext cx="13698749" cy="8479314"/>
          </a:xfrm>
          <a:custGeom>
            <a:avLst/>
            <a:gdLst/>
            <a:ahLst/>
            <a:cxnLst/>
            <a:rect r="r" b="b" t="t" l="l"/>
            <a:pathLst>
              <a:path h="8479314" w="13698749">
                <a:moveTo>
                  <a:pt x="0" y="0"/>
                </a:moveTo>
                <a:lnTo>
                  <a:pt x="13698749" y="0"/>
                </a:lnTo>
                <a:lnTo>
                  <a:pt x="13698749" y="8479315"/>
                </a:lnTo>
                <a:lnTo>
                  <a:pt x="0" y="847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2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3012" y="450332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FULL-PROJECT LAYOUT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382" y="648233"/>
            <a:ext cx="1626165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49" y="10076088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20932" y="1737855"/>
            <a:ext cx="16504861" cy="19012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HARDWARE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 6-DOF Robotic Arm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282" y="9676657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81467" y="2120629"/>
            <a:ext cx="7610928" cy="5722855"/>
          </a:xfrm>
          <a:custGeom>
            <a:avLst/>
            <a:gdLst/>
            <a:ahLst/>
            <a:cxnLst/>
            <a:rect r="r" b="b" t="t" l="l"/>
            <a:pathLst>
              <a:path h="5722855" w="7610928">
                <a:moveTo>
                  <a:pt x="0" y="0"/>
                </a:moveTo>
                <a:lnTo>
                  <a:pt x="7610928" y="0"/>
                </a:lnTo>
                <a:lnTo>
                  <a:pt x="7610928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0932" y="2873238"/>
            <a:ext cx="8959432" cy="6385062"/>
          </a:xfrm>
          <a:custGeom>
            <a:avLst/>
            <a:gdLst/>
            <a:ahLst/>
            <a:cxnLst/>
            <a:rect r="r" b="b" t="t" l="l"/>
            <a:pathLst>
              <a:path h="6385062" w="8959432">
                <a:moveTo>
                  <a:pt x="0" y="0"/>
                </a:moveTo>
                <a:lnTo>
                  <a:pt x="8959432" y="0"/>
                </a:lnTo>
                <a:lnTo>
                  <a:pt x="8959432" y="6385062"/>
                </a:lnTo>
                <a:lnTo>
                  <a:pt x="0" y="63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537" y="497957"/>
            <a:ext cx="7888348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MECHANICAL ADAPTATION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537" y="945623"/>
            <a:ext cx="16261652" cy="8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Modifications for Petri-Dish Reach</a:t>
            </a:r>
          </a:p>
        </p:txBody>
      </p:sp>
      <p:sp>
        <p:nvSpPr>
          <p:cNvPr name="AutoShape 4" id="4"/>
          <p:cNvSpPr/>
          <p:nvPr/>
        </p:nvSpPr>
        <p:spPr>
          <a:xfrm rot="3960">
            <a:off x="896426" y="1916982"/>
            <a:ext cx="16504872" cy="0"/>
          </a:xfrm>
          <a:prstGeom prst="line">
            <a:avLst/>
          </a:prstGeom>
          <a:ln cap="rnd" w="9525">
            <a:solidFill>
              <a:srgbClr val="D5DB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810634" y="566595"/>
            <a:ext cx="544554" cy="33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646E7A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15073" y="2351465"/>
            <a:ext cx="5372491" cy="1281922"/>
            <a:chOff x="0" y="0"/>
            <a:chExt cx="7163321" cy="1709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390625" y="25844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4419" y="2552767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LONGER LINKS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4419" y="296877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Extend selected joints for carousel reach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15073" y="3971220"/>
            <a:ext cx="5372491" cy="1281922"/>
            <a:chOff x="0" y="0"/>
            <a:chExt cx="7163321" cy="1709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390625" y="4204173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4419" y="4172521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MOUNT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04419" y="4588526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Rigid mount above gripper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15073" y="5590975"/>
            <a:ext cx="5372491" cy="1281922"/>
            <a:chOff x="0" y="0"/>
            <a:chExt cx="7163321" cy="17092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3308" cy="1709166"/>
            </a:xfrm>
            <a:custGeom>
              <a:avLst/>
              <a:gdLst/>
              <a:ahLst/>
              <a:cxnLst/>
              <a:rect r="r" b="b" t="t" l="l"/>
              <a:pathLst>
                <a:path h="1709166" w="7163308">
                  <a:moveTo>
                    <a:pt x="0" y="284861"/>
                  </a:moveTo>
                  <a:cubicBezTo>
                    <a:pt x="0" y="127508"/>
                    <a:pt x="127508" y="0"/>
                    <a:pt x="284861" y="0"/>
                  </a:cubicBezTo>
                  <a:lnTo>
                    <a:pt x="6878447" y="0"/>
                  </a:lnTo>
                  <a:cubicBezTo>
                    <a:pt x="7035800" y="0"/>
                    <a:pt x="7163308" y="127508"/>
                    <a:pt x="7163308" y="284861"/>
                  </a:cubicBezTo>
                  <a:lnTo>
                    <a:pt x="7163308" y="1424305"/>
                  </a:lnTo>
                  <a:cubicBezTo>
                    <a:pt x="7163308" y="1581658"/>
                    <a:pt x="7035800" y="1709166"/>
                    <a:pt x="6878447" y="1709166"/>
                  </a:cubicBezTo>
                  <a:lnTo>
                    <a:pt x="284861" y="1709166"/>
                  </a:lnTo>
                  <a:cubicBezTo>
                    <a:pt x="127508" y="1709293"/>
                    <a:pt x="0" y="1581658"/>
                    <a:pt x="0" y="142430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DBE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90625" y="5823928"/>
            <a:ext cx="421015" cy="2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BA7A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04419" y="5792276"/>
            <a:ext cx="363306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CABLE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04419" y="6208281"/>
            <a:ext cx="3633064" cy="3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Protect CSI / power through motion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537" y="9800482"/>
            <a:ext cx="1090823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46E7A"/>
                </a:solidFill>
                <a:latin typeface="Poppins"/>
                <a:ea typeface="Poppins"/>
                <a:cs typeface="Poppins"/>
                <a:sym typeface="Poppins"/>
              </a:rPr>
              <a:t>IIT Delhi · ELD411 · Mid-Term Review 2026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2504875"/>
            <a:ext cx="9029047" cy="6172200"/>
          </a:xfrm>
          <a:custGeom>
            <a:avLst/>
            <a:gdLst/>
            <a:ahLst/>
            <a:cxnLst/>
            <a:rect r="r" b="b" t="t" l="l"/>
            <a:pathLst>
              <a:path h="6172200" w="9029047">
                <a:moveTo>
                  <a:pt x="0" y="0"/>
                </a:moveTo>
                <a:lnTo>
                  <a:pt x="9029047" y="0"/>
                </a:lnTo>
                <a:lnTo>
                  <a:pt x="902904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